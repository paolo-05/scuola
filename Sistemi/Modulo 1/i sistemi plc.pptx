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85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31"/>
      <p:bold r:id="rId32"/>
    </p:embeddedFont>
    <p:embeddedFont>
      <p:font typeface="Source Code Pro" panose="020B0509030403020204" pitchFamily="49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10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0282d8a299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0282d8a299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0446e0da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0446e0da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0446e0da0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0446e0da0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0446e0da0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0446e0da0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0446e0da0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0446e0da0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1619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0446e0da0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0446e0da0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0446e0da05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0446e0da05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0446e0da05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0446e0da05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0446e0da0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0446e0da0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0446e0da0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0446e0da05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0446e0da05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0446e0da05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0446e0da05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0446e0da05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0446e0da0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0446e0da0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0446e0da0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0446e0da0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0446e0da05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0446e0da05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0446e0da05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0446e0da05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446e0da05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446e0da05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0446e0da05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0446e0da05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0446e0da05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0446e0da05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0446e0da0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0446e0da0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0446e0da05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0446e0da05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0446e0da05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0446e0da05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0446e0da05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0446e0da05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446e0da0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0446e0da0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0446e0da05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0446e0da05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0446e0da05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0446e0da05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0446e0da05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0446e0da05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sistemi plc</a:t>
            </a:r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Principali caratteristiche e funzionalità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GENERALITÀ SUI PLC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625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Il termine </a:t>
            </a:r>
            <a:r>
              <a:rPr lang="it" b="1" dirty="0"/>
              <a:t>PLC </a:t>
            </a:r>
            <a:r>
              <a:rPr lang="it" dirty="0"/>
              <a:t>è l'acronimo 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dell'inglese Programmable Logic 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Controller (</a:t>
            </a:r>
            <a:r>
              <a:rPr lang="it" b="1" dirty="0"/>
              <a:t>Controllore logico</a:t>
            </a: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b="1" dirty="0"/>
              <a:t>Programmabile</a:t>
            </a:r>
            <a:r>
              <a:rPr lang="it" dirty="0"/>
              <a:t> ).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" dirty="0"/>
              <a:t>I più evoluti tra essi oramai possono essere paragonati a dei veri e propri Personal Computer, per cui si potrebbe anche chiamarli </a:t>
            </a:r>
            <a:r>
              <a:rPr lang="it" b="1" dirty="0"/>
              <a:t>IPC</a:t>
            </a:r>
            <a:r>
              <a:rPr lang="it" dirty="0"/>
              <a:t> (Personal Computer Industriali).</a:t>
            </a:r>
            <a:endParaRPr dirty="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225" y="-145925"/>
            <a:ext cx="4384774" cy="258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PC VS PLC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525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 dirty="0"/>
              <a:t>PLC</a:t>
            </a:r>
            <a:endParaRPr b="1" dirty="0"/>
          </a:p>
          <a:p>
            <a:pPr marL="285750" indent="-285750">
              <a:spcBef>
                <a:spcPts val="1200"/>
              </a:spcBef>
            </a:pPr>
            <a:r>
              <a:rPr lang="en-GB" sz="1400" dirty="0"/>
              <a:t>Special </a:t>
            </a:r>
            <a:r>
              <a:rPr lang="it-IT" sz="1400" dirty="0"/>
              <a:t>purporse</a:t>
            </a:r>
          </a:p>
          <a:p>
            <a:pPr marL="285750" indent="-285750">
              <a:spcBef>
                <a:spcPts val="1200"/>
              </a:spcBef>
            </a:pPr>
            <a:r>
              <a:rPr lang="en-GB" sz="1400" dirty="0"/>
              <a:t>Alta </a:t>
            </a:r>
            <a:r>
              <a:rPr lang="it-IT" sz="1400" dirty="0"/>
              <a:t>affidabilità</a:t>
            </a:r>
          </a:p>
          <a:p>
            <a:pPr marL="285750" indent="-285750">
              <a:spcBef>
                <a:spcPts val="1200"/>
              </a:spcBef>
            </a:pPr>
            <a:r>
              <a:rPr lang="it-IT" sz="1400" dirty="0"/>
              <a:t>Utilizzo prettamente industriale</a:t>
            </a:r>
          </a:p>
          <a:p>
            <a:pPr marL="285750" indent="-285750">
              <a:spcBef>
                <a:spcPts val="1200"/>
              </a:spcBef>
            </a:pPr>
            <a:r>
              <a:rPr lang="it-IT" sz="1400" dirty="0"/>
              <a:t>Linguaggio di programmazione più semplice</a:t>
            </a:r>
          </a:p>
          <a:p>
            <a:pPr marL="285750" indent="-285750">
              <a:spcBef>
                <a:spcPts val="1200"/>
              </a:spcBef>
            </a:pPr>
            <a:r>
              <a:rPr lang="it-IT" sz="1400" dirty="0"/>
              <a:t>Concepito per risolvere problemi di controllo ed automazione</a:t>
            </a:r>
          </a:p>
          <a:p>
            <a:pPr marL="285750" indent="-285750">
              <a:spcBef>
                <a:spcPts val="1200"/>
              </a:spcBef>
            </a:pPr>
            <a:endParaRPr lang="it-IT" dirty="0"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4572000" y="1228675"/>
            <a:ext cx="3525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 dirty="0"/>
              <a:t>PC</a:t>
            </a:r>
            <a:endParaRPr b="1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r>
              <a:rPr lang="en-GB" dirty="0"/>
              <a:t>General purpose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r>
              <a:rPr lang="en-GB" dirty="0" err="1"/>
              <a:t>Bassa</a:t>
            </a:r>
            <a:r>
              <a:rPr lang="en-GB" dirty="0"/>
              <a:t> </a:t>
            </a:r>
            <a:r>
              <a:rPr lang="en-GB" dirty="0" err="1"/>
              <a:t>affidabiltà</a:t>
            </a:r>
            <a:endParaRPr lang="en-GB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r>
              <a:rPr lang="en-GB" dirty="0" err="1"/>
              <a:t>Utilizzato</a:t>
            </a:r>
            <a:r>
              <a:rPr lang="en-GB" dirty="0"/>
              <a:t> a casa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r>
              <a:rPr lang="en-GB" dirty="0" err="1"/>
              <a:t>Linguaggio</a:t>
            </a:r>
            <a:r>
              <a:rPr lang="en-GB" dirty="0"/>
              <a:t> di </a:t>
            </a:r>
            <a:r>
              <a:rPr lang="en-GB" dirty="0" err="1"/>
              <a:t>programmazione</a:t>
            </a:r>
            <a:r>
              <a:rPr lang="en-GB" dirty="0"/>
              <a:t> </a:t>
            </a:r>
            <a:r>
              <a:rPr lang="en-GB" dirty="0" err="1"/>
              <a:t>complesso</a:t>
            </a:r>
            <a:endParaRPr lang="en-GB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r>
              <a:rPr lang="en-GB" dirty="0" err="1"/>
              <a:t>Concepito</a:t>
            </a:r>
            <a:r>
              <a:rPr lang="en-GB" dirty="0"/>
              <a:t> per </a:t>
            </a:r>
            <a:r>
              <a:rPr lang="en-GB" dirty="0" err="1"/>
              <a:t>risolvere</a:t>
            </a:r>
            <a:r>
              <a:rPr lang="en-GB" dirty="0"/>
              <a:t> </a:t>
            </a:r>
            <a:r>
              <a:rPr lang="en-GB" dirty="0" err="1"/>
              <a:t>problemi</a:t>
            </a:r>
            <a:r>
              <a:rPr lang="en-GB" dirty="0"/>
              <a:t> </a:t>
            </a:r>
            <a:r>
              <a:rPr lang="en-GB" dirty="0" err="1"/>
              <a:t>personali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CAMPO DI UTILIZZO DEL PLC</a:t>
            </a: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 err="1"/>
              <a:t>Industriali</a:t>
            </a:r>
            <a:r>
              <a:rPr lang="en-GB" dirty="0"/>
              <a:t> -&gt; </a:t>
            </a:r>
            <a:r>
              <a:rPr lang="en-GB" dirty="0" err="1"/>
              <a:t>fabbrica</a:t>
            </a:r>
            <a:r>
              <a:rPr lang="en-GB" dirty="0"/>
              <a:t> </a:t>
            </a:r>
            <a:r>
              <a:rPr lang="en-GB" dirty="0" err="1"/>
              <a:t>automazzita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VANTAGGI DELL’USO DEL PLC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-GB" dirty="0"/>
              <a:t>Maggiore </a:t>
            </a:r>
            <a:r>
              <a:rPr lang="en-GB" dirty="0" err="1"/>
              <a:t>economicità</a:t>
            </a:r>
            <a:endParaRPr lang="en-GB" dirty="0"/>
          </a:p>
          <a:p>
            <a:pPr marL="285750" indent="-285750">
              <a:spcAft>
                <a:spcPts val="1200"/>
              </a:spcAft>
            </a:pPr>
            <a:r>
              <a:rPr lang="en-GB" dirty="0" err="1"/>
              <a:t>Capacità</a:t>
            </a:r>
            <a:r>
              <a:rPr lang="en-GB" dirty="0"/>
              <a:t> di </a:t>
            </a:r>
            <a:r>
              <a:rPr lang="en-GB" dirty="0" err="1"/>
              <a:t>modificare</a:t>
            </a:r>
            <a:r>
              <a:rPr lang="en-GB" dirty="0"/>
              <a:t> il </a:t>
            </a:r>
            <a:r>
              <a:rPr lang="en-GB" dirty="0" err="1"/>
              <a:t>ciclo</a:t>
            </a:r>
            <a:r>
              <a:rPr lang="en-GB" dirty="0"/>
              <a:t> di </a:t>
            </a:r>
            <a:r>
              <a:rPr lang="en-GB" dirty="0" err="1"/>
              <a:t>produzione</a:t>
            </a:r>
            <a:r>
              <a:rPr lang="en-GB" dirty="0"/>
              <a:t> </a:t>
            </a:r>
            <a:r>
              <a:rPr lang="en-GB" dirty="0" err="1"/>
              <a:t>tramite</a:t>
            </a:r>
            <a:r>
              <a:rPr lang="en-GB" dirty="0"/>
              <a:t> il </a:t>
            </a:r>
            <a:r>
              <a:rPr lang="en-GB" dirty="0" err="1"/>
              <a:t>codice</a:t>
            </a:r>
            <a:r>
              <a:rPr lang="en-GB" dirty="0"/>
              <a:t> senza </a:t>
            </a:r>
            <a:r>
              <a:rPr lang="en-GB" dirty="0" err="1"/>
              <a:t>cambiare</a:t>
            </a:r>
            <a:r>
              <a:rPr lang="en-GB" dirty="0"/>
              <a:t> </a:t>
            </a:r>
            <a:r>
              <a:rPr lang="en-GB" dirty="0" err="1"/>
              <a:t>collegamenti</a:t>
            </a:r>
            <a:r>
              <a:rPr lang="en-GB" dirty="0"/>
              <a:t> </a:t>
            </a:r>
            <a:r>
              <a:rPr lang="en-GB" dirty="0" err="1"/>
              <a:t>fisici</a:t>
            </a:r>
            <a:endParaRPr lang="en-GB" dirty="0"/>
          </a:p>
          <a:p>
            <a:pPr marL="285750" indent="-285750">
              <a:spcAft>
                <a:spcPts val="1200"/>
              </a:spcAft>
            </a:pPr>
            <a:r>
              <a:rPr lang="en-GB" dirty="0" err="1"/>
              <a:t>Ampliamenti</a:t>
            </a:r>
            <a:endParaRPr lang="en-GB" dirty="0"/>
          </a:p>
          <a:p>
            <a:pPr marL="285750" indent="-285750">
              <a:spcAft>
                <a:spcPts val="1200"/>
              </a:spcAft>
            </a:pPr>
            <a:r>
              <a:rPr lang="en-GB" dirty="0" err="1"/>
              <a:t>Apparecchiature</a:t>
            </a:r>
            <a:r>
              <a:rPr lang="en-GB" dirty="0"/>
              <a:t> standard</a:t>
            </a:r>
          </a:p>
          <a:p>
            <a:pPr marL="285750" indent="-285750">
              <a:spcAft>
                <a:spcPts val="1200"/>
              </a:spcAft>
            </a:pPr>
            <a:r>
              <a:rPr lang="en-GB" dirty="0" err="1"/>
              <a:t>Assenza</a:t>
            </a:r>
            <a:r>
              <a:rPr lang="en-GB" dirty="0"/>
              <a:t> di parti in </a:t>
            </a:r>
            <a:r>
              <a:rPr lang="en-GB" dirty="0" err="1"/>
              <a:t>movimento</a:t>
            </a: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VANTAGGI DELL’USO DEL PLC (2/2)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1800" b="0" i="0" u="none" strike="noStrike" dirty="0">
                <a:solidFill>
                  <a:srgbClr val="666666"/>
                </a:solidFill>
                <a:effectLst/>
                <a:latin typeface="Source Code Pro" panose="020B0509030403020204" pitchFamily="49" charset="0"/>
              </a:rPr>
              <a:t>ingombro ridotto 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1800" b="0" i="0" u="none" strike="noStrike" dirty="0">
                <a:solidFill>
                  <a:srgbClr val="666666"/>
                </a:solidFill>
                <a:effectLst/>
                <a:latin typeface="Source Code Pro" panose="020B0509030403020204" pitchFamily="49" charset="0"/>
              </a:rPr>
              <a:t>minimo consumo e maggior sicurezza poichè nella maggior parte dei casi si hanno tensioni di max 30 V e di conseguenza impossibilità di incidenti folgoranti. 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1800" b="0" i="0" u="none" strike="noStrike" dirty="0">
                <a:solidFill>
                  <a:srgbClr val="666666"/>
                </a:solidFill>
                <a:effectLst/>
                <a:latin typeface="Source Code Pro" panose="020B0509030403020204" pitchFamily="49" charset="0"/>
              </a:rPr>
              <a:t>possibilità di produrre facilmente la stampa dei programmi </a:t>
            </a:r>
          </a:p>
          <a:p>
            <a:pPr rtl="0"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sz="1800" b="0" i="0" u="none" strike="noStrike" dirty="0">
                <a:solidFill>
                  <a:srgbClr val="666666"/>
                </a:solidFill>
                <a:effectLst/>
                <a:latin typeface="Source Code Pro" panose="020B0509030403020204" pitchFamily="49" charset="0"/>
              </a:rPr>
              <a:t>possibilità di autodiagnosi dei guasti 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1800" b="0" i="0" u="none" strike="noStrike" dirty="0">
                <a:solidFill>
                  <a:srgbClr val="666666"/>
                </a:solidFill>
                <a:effectLst/>
                <a:latin typeface="Source Code Pro" panose="020B0509030403020204" pitchFamily="49" charset="0"/>
              </a:rPr>
              <a:t>possibilità di inserimento in reti di controllo centralizzate</a:t>
            </a:r>
          </a:p>
        </p:txBody>
      </p:sp>
    </p:spTree>
    <p:extLst>
      <p:ext uri="{BB962C8B-B14F-4D97-AF65-F5344CB8AC3E}">
        <p14:creationId xmlns:p14="http://schemas.microsoft.com/office/powerpoint/2010/main" val="2737958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controllo di un processo con plc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it-IT" sz="1800" b="0" i="0" u="none" strike="noStrike" dirty="0">
                <a:solidFill>
                  <a:srgbClr val="666666"/>
                </a:solidFill>
                <a:effectLst/>
                <a:latin typeface="Source Code Pro" panose="020B0509030403020204" pitchFamily="49" charset="0"/>
              </a:rPr>
              <a:t>SENSORI</a:t>
            </a:r>
            <a:endParaRPr lang="it-IT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it-IT" sz="1800" b="0" i="0" u="none" strike="noStrike" dirty="0">
                <a:solidFill>
                  <a:srgbClr val="666666"/>
                </a:solidFill>
                <a:effectLst/>
                <a:latin typeface="Source Code Pro" panose="020B0509030403020204" pitchFamily="49" charset="0"/>
              </a:rPr>
              <a:t>pulsanti, finecorsa, fotocellule, interruttori, contatti ausiliari di relè, telerruttori, relè termici, ecc</a:t>
            </a:r>
            <a:endParaRPr lang="it-IT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1200"/>
              </a:spcAft>
            </a:pPr>
            <a:br>
              <a:rPr lang="it-IT" b="0" dirty="0">
                <a:effectLst/>
              </a:rPr>
            </a:br>
            <a:r>
              <a:rPr lang="it-IT" sz="1800" b="0" i="0" u="none" strike="noStrike" dirty="0">
                <a:solidFill>
                  <a:srgbClr val="666666"/>
                </a:solidFill>
                <a:effectLst/>
                <a:latin typeface="Source Code Pro" panose="020B0509030403020204" pitchFamily="49" charset="0"/>
              </a:rPr>
              <a:t>ATTUATORI (apparecchiature atte a realizzare quanto necessario per l’esecuzione del processo)</a:t>
            </a:r>
            <a:endParaRPr lang="it-IT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it-IT" sz="1800" b="0" i="0" u="none" strike="noStrike" dirty="0">
                <a:solidFill>
                  <a:srgbClr val="666666"/>
                </a:solidFill>
                <a:effectLst/>
                <a:latin typeface="Source Code Pro" panose="020B0509030403020204" pitchFamily="49" charset="0"/>
              </a:rPr>
              <a:t>es: relè, telerruttori, elettrovalvole, lampade di segnalazione, suonerie, cilindri pneumatici od oleodinamici, valvole </a:t>
            </a:r>
            <a:r>
              <a:rPr lang="it-IT" sz="1800" b="0" i="0" u="none" strike="noStrike">
                <a:solidFill>
                  <a:srgbClr val="666666"/>
                </a:solidFill>
                <a:effectLst/>
                <a:latin typeface="Source Code Pro" panose="020B0509030403020204" pitchFamily="49" charset="0"/>
              </a:rPr>
              <a:t>elettropneumatiche etc</a:t>
            </a:r>
            <a:endParaRPr lang="it-IT" b="0" dirty="0">
              <a:effectLst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architettura di un sistema plc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625" y="1093851"/>
            <a:ext cx="7039700" cy="315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COMPONENTI PRINCIPALI</a:t>
            </a:r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285750" indent="-285750">
              <a:spcAft>
                <a:spcPts val="1200"/>
              </a:spcAft>
            </a:pPr>
            <a:r>
              <a:rPr lang="en-GB" dirty="0"/>
              <a:t>CPU</a:t>
            </a:r>
          </a:p>
          <a:p>
            <a:pPr marL="285750" indent="-285750">
              <a:spcAft>
                <a:spcPts val="1200"/>
              </a:spcAft>
            </a:pPr>
            <a:r>
              <a:rPr lang="en-GB" dirty="0"/>
              <a:t>Memoria</a:t>
            </a:r>
          </a:p>
          <a:p>
            <a:pPr marL="285750" indent="-285750">
              <a:spcAft>
                <a:spcPts val="1200"/>
              </a:spcAft>
            </a:pPr>
            <a:r>
              <a:rPr lang="en-GB" dirty="0"/>
              <a:t>Input</a:t>
            </a:r>
          </a:p>
          <a:p>
            <a:pPr marL="285750" indent="-285750">
              <a:spcAft>
                <a:spcPts val="1200"/>
              </a:spcAft>
            </a:pPr>
            <a:r>
              <a:rPr lang="en-GB" dirty="0"/>
              <a:t>Output</a:t>
            </a:r>
          </a:p>
          <a:p>
            <a:pPr marL="285750" indent="-285750">
              <a:spcAft>
                <a:spcPts val="1200"/>
              </a:spcAft>
            </a:pPr>
            <a:r>
              <a:rPr lang="en-GB" dirty="0" err="1"/>
              <a:t>Impianto</a:t>
            </a:r>
            <a:endParaRPr lang="en-GB" dirty="0"/>
          </a:p>
          <a:p>
            <a:pPr marL="285750" indent="-285750">
              <a:spcAft>
                <a:spcPts val="1200"/>
              </a:spcAft>
            </a:pPr>
            <a:r>
              <a:rPr lang="en-GB" dirty="0" err="1"/>
              <a:t>Alimentatore</a:t>
            </a:r>
            <a:endParaRPr lang="en-GB" dirty="0"/>
          </a:p>
          <a:p>
            <a:pPr marL="285750" indent="-285750">
              <a:spcAft>
                <a:spcPts val="1200"/>
              </a:spcAft>
            </a:pPr>
            <a:r>
              <a:rPr lang="en-GB" dirty="0" err="1"/>
              <a:t>Unità</a:t>
            </a:r>
            <a:r>
              <a:rPr lang="en-GB" dirty="0"/>
              <a:t> di </a:t>
            </a:r>
            <a:r>
              <a:rPr lang="en-GB" dirty="0" err="1"/>
              <a:t>programmazione</a:t>
            </a:r>
            <a:endParaRPr lang="en-GB" dirty="0"/>
          </a:p>
          <a:p>
            <a:pPr marL="285750" indent="-285750">
              <a:spcAft>
                <a:spcPts val="1200"/>
              </a:spcAft>
            </a:pPr>
            <a:r>
              <a:rPr lang="en-GB" dirty="0" err="1"/>
              <a:t>Stampante</a:t>
            </a:r>
            <a:endParaRPr lang="en-GB" dirty="0"/>
          </a:p>
          <a:p>
            <a:pPr marL="285750" indent="-285750">
              <a:spcAft>
                <a:spcPts val="1200"/>
              </a:spcAft>
            </a:pPr>
            <a:r>
              <a:rPr lang="en-GB" dirty="0" err="1"/>
              <a:t>Interfaccia</a:t>
            </a:r>
            <a:r>
              <a:rPr lang="en-GB" dirty="0"/>
              <a:t> per il </a:t>
            </a:r>
            <a:r>
              <a:rPr lang="en-GB" dirty="0" err="1"/>
              <a:t>collegamento</a:t>
            </a:r>
            <a:r>
              <a:rPr lang="en-GB" dirty="0"/>
              <a:t> di </a:t>
            </a:r>
            <a:r>
              <a:rPr lang="en-GB" dirty="0" err="1"/>
              <a:t>altri</a:t>
            </a:r>
            <a:r>
              <a:rPr lang="en-GB" dirty="0"/>
              <a:t> PLC</a:t>
            </a:r>
          </a:p>
          <a:p>
            <a:pPr marL="285750" indent="-285750">
              <a:spcAft>
                <a:spcPts val="1200"/>
              </a:spcAft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ALIMENTATORE</a:t>
            </a:r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 err="1"/>
              <a:t>Composto</a:t>
            </a:r>
            <a:r>
              <a:rPr lang="en-GB" dirty="0"/>
              <a:t> da: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- </a:t>
            </a:r>
            <a:r>
              <a:rPr lang="it-IT" dirty="0"/>
              <a:t>TRASFORMATORI ;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-IT" dirty="0"/>
              <a:t>− RADDRIZZATORI (Convertitori C.A./C.C.)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-IT" dirty="0"/>
              <a:t>− STABILIZZATORI.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-IT" dirty="0"/>
              <a:t>Garantisce la sicurezza elettrica fornendo un’alimentazione sempre continua da 10 o 24V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CPU</a:t>
            </a:r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 err="1"/>
              <a:t>Costituisce</a:t>
            </a:r>
            <a:r>
              <a:rPr lang="en-GB" dirty="0"/>
              <a:t> l’“</a:t>
            </a:r>
            <a:r>
              <a:rPr lang="en-GB" dirty="0" err="1"/>
              <a:t>intelligenza</a:t>
            </a:r>
            <a:r>
              <a:rPr lang="en-GB" dirty="0"/>
              <a:t>” del PLC, </a:t>
            </a:r>
            <a:r>
              <a:rPr lang="en-GB" dirty="0" err="1"/>
              <a:t>chiamato</a:t>
            </a:r>
            <a:r>
              <a:rPr lang="en-GB" dirty="0"/>
              <a:t> </a:t>
            </a:r>
            <a:r>
              <a:rPr lang="en-GB" dirty="0" err="1"/>
              <a:t>anche</a:t>
            </a:r>
            <a:r>
              <a:rPr lang="en-GB" dirty="0"/>
              <a:t> </a:t>
            </a:r>
            <a:r>
              <a:rPr lang="en-GB" dirty="0" err="1"/>
              <a:t>microprocessore</a:t>
            </a:r>
            <a:r>
              <a:rPr lang="en-GB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-IT" dirty="0"/>
              <a:t>Si hanno PLC con livelli di potenza diversificati, partendo da quelli che utilizzano microprocessori ad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-IT" dirty="0"/>
              <a:t>8 bit (8080 , Z80), a quelli ad 8/16 bit (8086 , 8088), fino ai più moderni e potenti che utilizzano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-IT" dirty="0"/>
              <a:t>microprocessori a 16/32 bit (68000 , 68020 , 80286, 80386).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BUS</a:t>
            </a:r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Il Sistema bus è </a:t>
            </a:r>
            <a:r>
              <a:rPr lang="en-GB" dirty="0" err="1"/>
              <a:t>diviso</a:t>
            </a:r>
            <a:r>
              <a:rPr lang="en-GB" dirty="0"/>
              <a:t> in </a:t>
            </a:r>
            <a:r>
              <a:rPr lang="en-GB" dirty="0" err="1"/>
              <a:t>tre</a:t>
            </a:r>
            <a:r>
              <a:rPr lang="en-GB" dirty="0"/>
              <a:t> macro-</a:t>
            </a:r>
            <a:r>
              <a:rPr lang="en-GB" dirty="0" err="1"/>
              <a:t>sistemi</a:t>
            </a:r>
            <a:endParaRPr lang="en-GB" dirty="0"/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GB" dirty="0"/>
              <a:t>Bus </a:t>
            </a:r>
            <a:r>
              <a:rPr lang="en-GB" dirty="0" err="1"/>
              <a:t>dati</a:t>
            </a:r>
            <a:endParaRPr lang="en-GB" dirty="0"/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GB" dirty="0"/>
              <a:t>Bus </a:t>
            </a:r>
            <a:r>
              <a:rPr lang="en-GB" dirty="0" err="1"/>
              <a:t>indirizzi</a:t>
            </a:r>
            <a:endParaRPr lang="en-GB" dirty="0"/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GB" dirty="0"/>
              <a:t>Bus di commando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 err="1"/>
              <a:t>Collegamento</a:t>
            </a:r>
            <a:r>
              <a:rPr lang="en-GB" dirty="0"/>
              <a:t> </a:t>
            </a:r>
            <a:r>
              <a:rPr lang="en-GB" dirty="0" err="1"/>
              <a:t>diretto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memoria</a:t>
            </a:r>
            <a:r>
              <a:rPr lang="en-GB" dirty="0"/>
              <a:t> e I/O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MEMORIA</a:t>
            </a:r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GB" dirty="0"/>
              <a:t>Memoria di Sistema: SO del PLC </a:t>
            </a:r>
            <a:r>
              <a:rPr lang="en-GB" dirty="0" err="1"/>
              <a:t>su</a:t>
            </a:r>
            <a:r>
              <a:rPr lang="en-GB" dirty="0"/>
              <a:t> ROM/PROM/EPROM non </a:t>
            </a:r>
            <a:r>
              <a:rPr lang="en-GB" dirty="0" err="1"/>
              <a:t>accessibile</a:t>
            </a:r>
            <a:r>
              <a:rPr lang="en-GB" dirty="0"/>
              <a:t> </a:t>
            </a:r>
            <a:r>
              <a:rPr lang="en-GB" dirty="0" err="1"/>
              <a:t>all’utente</a:t>
            </a:r>
            <a:r>
              <a:rPr lang="en-GB" dirty="0"/>
              <a:t>;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GB" dirty="0"/>
              <a:t>Memoria di </a:t>
            </a:r>
            <a:r>
              <a:rPr lang="en-GB" dirty="0" err="1"/>
              <a:t>programma</a:t>
            </a:r>
            <a:r>
              <a:rPr lang="en-GB" dirty="0"/>
              <a:t>: dove ci </a:t>
            </a:r>
            <a:r>
              <a:rPr lang="en-GB" dirty="0" err="1"/>
              <a:t>sono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programmi</a:t>
            </a:r>
            <a:r>
              <a:rPr lang="en-GB" dirty="0"/>
              <a:t> RAM </a:t>
            </a:r>
            <a:r>
              <a:rPr lang="en-GB" dirty="0" err="1"/>
              <a:t>accessibile</a:t>
            </a:r>
            <a:r>
              <a:rPr lang="en-GB" dirty="0"/>
              <a:t> </a:t>
            </a:r>
            <a:r>
              <a:rPr lang="en-GB" dirty="0" err="1"/>
              <a:t>all’utente</a:t>
            </a:r>
            <a:r>
              <a:rPr lang="en-GB" dirty="0"/>
              <a:t>;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GB" dirty="0"/>
              <a:t>Memoria </a:t>
            </a:r>
            <a:r>
              <a:rPr lang="en-GB" dirty="0" err="1"/>
              <a:t>dati</a:t>
            </a:r>
            <a:r>
              <a:rPr lang="en-GB" dirty="0"/>
              <a:t>: </a:t>
            </a:r>
            <a:r>
              <a:rPr lang="en-GB" dirty="0" err="1"/>
              <a:t>memoria</a:t>
            </a:r>
            <a:r>
              <a:rPr lang="en-GB" dirty="0"/>
              <a:t> di </a:t>
            </a:r>
            <a:r>
              <a:rPr lang="en-GB" dirty="0" err="1"/>
              <a:t>lavoro</a:t>
            </a:r>
            <a:r>
              <a:rPr lang="en-GB" dirty="0"/>
              <a:t> Flag e </a:t>
            </a:r>
            <a:r>
              <a:rPr lang="en-GB" dirty="0" err="1"/>
              <a:t>Registri</a:t>
            </a:r>
            <a:r>
              <a:rPr lang="en-GB" dirty="0"/>
              <a:t>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LA SEZIONE di I/O di un plc</a:t>
            </a:r>
            <a:endParaRPr dirty="0"/>
          </a:p>
        </p:txBody>
      </p:sp>
      <p:sp>
        <p:nvSpPr>
          <p:cNvPr id="137" name="Google Shape;137;p26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-IT" dirty="0"/>
              <a:t>La sezione di I/O di un PLC riveste particolare importanza per quanto concerne la valutazione delle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-IT" dirty="0"/>
              <a:t>prestazioni dello stesso, è usuale accennare innanzitutto alla quantità di punti di ingresso e di uscita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-IT" dirty="0"/>
              <a:t>quando si parla delle caratteristiche di un PLC.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-IT" dirty="0"/>
              <a:t>Questo comunque non è l'unico parametro di riferimento per la scelta di un PLC, infatti bisognerà tenere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-IT" dirty="0"/>
              <a:t>conto di altre caratteristiche come ad es. la velocità di esecuzione di un ciclo di programma, la possibilità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-IT" dirty="0"/>
              <a:t>di eseguire calcoli, la dimensione della RAM utente, ecc.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-IT" dirty="0"/>
              <a:t>Non esistono quindi dei parametri di riferimento assoluti per valutare la scelta di un PLC rispetto ad un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-IT" dirty="0"/>
              <a:t>altro, ma ciò dovrà essere fatto di volta in volta in funzione ovviamente del rapporto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-IT" dirty="0"/>
              <a:t>PRESTAZIONI/PREZZO in riferimento alle specifiche dell'impianto da gestire.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unità di ingresso</a:t>
            </a:r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-IT" dirty="0"/>
              <a:t>Le informazioni provenienti dal processo controllato possono essere semplicemente definite come "segnali in ingresso". Questi segnali sono ovviamente di tipo elettrico e dovranno essere trattati in modo che siano riconoscibili dalla CPU. Il compito delle schede d'ingresso (come poi, in senso inverso, faranno anche le schede d'uscita) è quello di consentire il dialogo tra il PLC ed il gruppo di potenza, o , per essere più precisi, per permettere al PLC di acquisire i comandi e lo stato degli attuatori del suddetto gruppo. Tali segnali possono essere sia segnali di tipo binario, caratterizzati dalla possibilità di assumere due soli valori (" 1 logico" e " 0 logico"), a prescindere dalla natura iniziale del segnale, che potrebbe essere anche di tipo analogico o comunque un segnale instabile nel tempo, ma lo si vuole trattare come segnale "digitale binario", caratterizzato quindi da due soli stati possibili : assenza di tensione o presenza di tensione. I segnali possono essere anche di tipo analogico, quindi variabili nel tempo dentro un prefissato intervallo di valori, in questo caso devono preventivamente essere trattati da appositi convertitori A/D prima di essere elaborati dalla CPU.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schede d’ingresso digitali</a:t>
            </a:r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schede di ingresso analogiche</a:t>
            </a:r>
            <a:endParaRPr/>
          </a:p>
        </p:txBody>
      </p:sp>
      <p:sp>
        <p:nvSpPr>
          <p:cNvPr id="161" name="Google Shape;161;p30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 err="1"/>
              <a:t>Ricevo</a:t>
            </a:r>
            <a:r>
              <a:rPr lang="en-GB" dirty="0"/>
              <a:t> in input un </a:t>
            </a:r>
            <a:r>
              <a:rPr lang="en-GB" dirty="0" err="1"/>
              <a:t>segnale</a:t>
            </a:r>
            <a:r>
              <a:rPr lang="en-GB" dirty="0"/>
              <a:t> in V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 err="1"/>
              <a:t>Sono</a:t>
            </a:r>
            <a:r>
              <a:rPr lang="en-GB" dirty="0"/>
              <a:t> </a:t>
            </a:r>
            <a:r>
              <a:rPr lang="en-GB" dirty="0" err="1"/>
              <a:t>sensibili</a:t>
            </a:r>
            <a:r>
              <a:rPr lang="en-GB" dirty="0"/>
              <a:t> ai V e </a:t>
            </a:r>
            <a:r>
              <a:rPr lang="en-GB" dirty="0" err="1"/>
              <a:t>agli</a:t>
            </a:r>
            <a:r>
              <a:rPr lang="en-GB" dirty="0"/>
              <a:t> A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8 bit = 256 </a:t>
            </a:r>
            <a:r>
              <a:rPr lang="en-GB" dirty="0" err="1"/>
              <a:t>diversi</a:t>
            </a:r>
            <a:r>
              <a:rPr lang="en-GB" dirty="0"/>
              <a:t> </a:t>
            </a:r>
            <a:r>
              <a:rPr lang="en-GB" dirty="0" err="1"/>
              <a:t>valori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La </a:t>
            </a:r>
            <a:r>
              <a:rPr lang="en-GB" dirty="0" err="1"/>
              <a:t>risoluzione</a:t>
            </a:r>
            <a:r>
              <a:rPr lang="en-GB" dirty="0"/>
              <a:t> del </a:t>
            </a:r>
            <a:r>
              <a:rPr lang="en-GB" dirty="0" err="1"/>
              <a:t>convertitore</a:t>
            </a:r>
            <a:r>
              <a:rPr lang="en-GB" dirty="0"/>
              <a:t> è data da (T2-T1)/2^n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Dove n è il </a:t>
            </a:r>
            <a:r>
              <a:rPr lang="en-GB" dirty="0" err="1"/>
              <a:t>numero</a:t>
            </a:r>
            <a:r>
              <a:rPr lang="en-GB" dirty="0"/>
              <a:t> di </a:t>
            </a:r>
            <a:r>
              <a:rPr lang="en-GB" dirty="0" err="1"/>
              <a:t>uscite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schede di uscita digitali</a:t>
            </a:r>
            <a:endParaRPr/>
          </a:p>
        </p:txBody>
      </p:sp>
      <p:sp>
        <p:nvSpPr>
          <p:cNvPr id="167" name="Google Shape;167;p3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schede di uscita analogiche</a:t>
            </a:r>
            <a:endParaRPr/>
          </a:p>
        </p:txBody>
      </p:sp>
      <p:sp>
        <p:nvSpPr>
          <p:cNvPr id="173" name="Google Shape;173;p32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PERIFERICHE</a:t>
            </a:r>
            <a:endParaRPr/>
          </a:p>
        </p:txBody>
      </p:sp>
      <p:sp>
        <p:nvSpPr>
          <p:cNvPr id="179" name="Google Shape;179;p33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DISPOSITIVI DI PROGRAMMAZIONE</a:t>
            </a:r>
            <a:endParaRPr/>
          </a:p>
        </p:txBody>
      </p:sp>
      <p:sp>
        <p:nvSpPr>
          <p:cNvPr id="185" name="Google Shape;185;p3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FUNZIONAMENTO BASE DEL PLC</a:t>
            </a:r>
            <a:endParaRPr/>
          </a:p>
        </p:txBody>
      </p:sp>
      <p:sp>
        <p:nvSpPr>
          <p:cNvPr id="191" name="Google Shape;191;p3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LINGUAGGI DI PROGRAMMAZIONE DEI PLC</a:t>
            </a:r>
            <a:endParaRPr/>
          </a:p>
        </p:txBody>
      </p:sp>
      <p:sp>
        <p:nvSpPr>
          <p:cNvPr id="197" name="Google Shape;197;p36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LADDER</a:t>
            </a:r>
            <a:endParaRPr/>
          </a:p>
        </p:txBody>
      </p:sp>
      <p:sp>
        <p:nvSpPr>
          <p:cNvPr id="203" name="Google Shape;203;p3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COME PROGRAMMIAMO IN PLC?</a:t>
            </a:r>
            <a:endParaRPr/>
          </a:p>
        </p:txBody>
      </p:sp>
      <p:sp>
        <p:nvSpPr>
          <p:cNvPr id="209" name="Google Shape;209;p38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E SIMULAZIONE</a:t>
            </a:r>
            <a:endParaRPr/>
          </a:p>
        </p:txBody>
      </p:sp>
      <p:sp>
        <p:nvSpPr>
          <p:cNvPr id="215" name="Google Shape;215;p39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AFFIDABILITà E DISTRIBUZIONE DEI GUASTI</a:t>
            </a:r>
            <a:endParaRPr/>
          </a:p>
        </p:txBody>
      </p:sp>
      <p:sp>
        <p:nvSpPr>
          <p:cNvPr id="221" name="Google Shape;221;p40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CONSIDERAZIONI SULLA SICUREZZA NEL CAMPO DEI PLC</a:t>
            </a:r>
            <a:endParaRPr/>
          </a:p>
        </p:txBody>
      </p:sp>
      <p:sp>
        <p:nvSpPr>
          <p:cNvPr id="227" name="Google Shape;227;p4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890</Words>
  <Application>Microsoft Office PowerPoint</Application>
  <PresentationFormat>On-screen Show (16:9)</PresentationFormat>
  <Paragraphs>104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Amatic SC</vt:lpstr>
      <vt:lpstr>Source Code Pro</vt:lpstr>
      <vt:lpstr>Beach Day</vt:lpstr>
      <vt:lpstr>i sistemi plc</vt:lpstr>
      <vt:lpstr>GENERALITÀ SUI PLC</vt:lpstr>
      <vt:lpstr>PC VS PLC</vt:lpstr>
      <vt:lpstr>CAMPO DI UTILIZZO DEL PLC</vt:lpstr>
      <vt:lpstr>VANTAGGI DELL’USO DEL PLC</vt:lpstr>
      <vt:lpstr>VANTAGGI DELL’USO DEL PLC (2/2)</vt:lpstr>
      <vt:lpstr>controllo di un processo con plc</vt:lpstr>
      <vt:lpstr>architettura di un sistema plc</vt:lpstr>
      <vt:lpstr>COMPONENTI PRINCIPALI</vt:lpstr>
      <vt:lpstr>ALIMENTATORE</vt:lpstr>
      <vt:lpstr>CPU</vt:lpstr>
      <vt:lpstr>BUS</vt:lpstr>
      <vt:lpstr>LA MEMORIA</vt:lpstr>
      <vt:lpstr>LA SEZIONE di I/O di un plc</vt:lpstr>
      <vt:lpstr>unità di ingresso</vt:lpstr>
      <vt:lpstr>schede d’ingresso digitali</vt:lpstr>
      <vt:lpstr>schede di ingresso analogiche</vt:lpstr>
      <vt:lpstr>schede di uscita digitali</vt:lpstr>
      <vt:lpstr>schede di uscita analogiche</vt:lpstr>
      <vt:lpstr>PERIFERICHE</vt:lpstr>
      <vt:lpstr>DISPOSITIVI DI PROGRAMMAZIONE</vt:lpstr>
      <vt:lpstr>FUNZIONAMENTO BASE DEL PLC</vt:lpstr>
      <vt:lpstr>LINGUAGGI DI PROGRAMMAZIONE DEI PLC</vt:lpstr>
      <vt:lpstr>LADDER</vt:lpstr>
      <vt:lpstr>COME PROGRAMMIAMO IN PLC?</vt:lpstr>
      <vt:lpstr>TEST E SIMULAZIONE</vt:lpstr>
      <vt:lpstr>AFFIDABILITà E DISTRIBUZIONE DEI GUASTI</vt:lpstr>
      <vt:lpstr>CONSIDERAZIONI SULLA SICUREZZA NEL CAMPO DEI PLC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sistemi plc</dc:title>
  <cp:lastModifiedBy>Paolo Bianchessi</cp:lastModifiedBy>
  <cp:revision>29</cp:revision>
  <dcterms:modified xsi:type="dcterms:W3CDTF">2021-12-03T10:50:43Z</dcterms:modified>
</cp:coreProperties>
</file>