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141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125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30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124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09.xml"/>
  <Override ContentType="application/vnd.openxmlformats-officedocument.presentationml.slide+xml" PartName="/ppt/slides/slide134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143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32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</p:sldIdLst>
  <p:sldSz cy="5143500" cx="9144000"/>
  <p:notesSz cx="6858000" cy="9144000"/>
  <p:embeddedFontLst>
    <p:embeddedFont>
      <p:font typeface="Source Code Pro"/>
      <p:regular r:id="rId152"/>
      <p:bold r:id="rId153"/>
      <p:italic r:id="rId154"/>
      <p:boldItalic r:id="rId155"/>
    </p:embeddedFont>
    <p:embeddedFont>
      <p:font typeface="Oswald"/>
      <p:regular r:id="rId156"/>
      <p:bold r:id="rId1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2D7FCA-CA57-4DA9-A025-1DB4B803B285}">
  <a:tblStyle styleId="{482D7FCA-CA57-4DA9-A025-1DB4B803B2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CE65D0C-E713-4B5A-9F62-234670E506D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slide" Target="slides/slide120.xml"/><Relationship Id="rId29" Type="http://schemas.openxmlformats.org/officeDocument/2006/relationships/slide" Target="slides/slide24.xml"/><Relationship Id="rId124" Type="http://schemas.openxmlformats.org/officeDocument/2006/relationships/slide" Target="slides/slide119.xml"/><Relationship Id="rId123" Type="http://schemas.openxmlformats.org/officeDocument/2006/relationships/slide" Target="slides/slide118.xml"/><Relationship Id="rId122" Type="http://schemas.openxmlformats.org/officeDocument/2006/relationships/slide" Target="slides/slide117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154" Type="http://schemas.openxmlformats.org/officeDocument/2006/relationships/font" Target="fonts/SourceCodePro-italic.fntdata"/><Relationship Id="rId58" Type="http://schemas.openxmlformats.org/officeDocument/2006/relationships/slide" Target="slides/slide53.xml"/><Relationship Id="rId153" Type="http://schemas.openxmlformats.org/officeDocument/2006/relationships/font" Target="fonts/SourceCodePro-bold.fntdata"/><Relationship Id="rId152" Type="http://schemas.openxmlformats.org/officeDocument/2006/relationships/font" Target="fonts/SourceCodePro-regular.fntdata"/><Relationship Id="rId151" Type="http://schemas.openxmlformats.org/officeDocument/2006/relationships/slide" Target="slides/slide146.xml"/><Relationship Id="rId157" Type="http://schemas.openxmlformats.org/officeDocument/2006/relationships/font" Target="fonts/Oswald-bold.fntdata"/><Relationship Id="rId156" Type="http://schemas.openxmlformats.org/officeDocument/2006/relationships/font" Target="fonts/Oswald-regular.fntdata"/><Relationship Id="rId155" Type="http://schemas.openxmlformats.org/officeDocument/2006/relationships/font" Target="fonts/SourceCodePr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6d7c04b3c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6d7c04b3c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fe9d4d4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fe9d4d4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1e672b983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1e672b983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e672b98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e672b98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1e672b98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1e672b98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1e672b98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1e672b98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1e672b98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1e672b98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e672b98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1e672b98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1e672b98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1e672b98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1fe9d4d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1fe9d4d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de2b4a69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de2b4a69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e672b983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1e672b983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1e672b98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1e672b98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1e672b983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1e672b983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1e672b983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1e672b983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1e672b983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1e672b983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1fe9d4d4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1fe9d4d4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1e672b98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1e672b98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1e672b98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1e672b98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1f8dc5cf0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1f8dc5cf0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21e672b983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21e672b983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1e672b98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1e672b98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e672b983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1e672b983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1e672b98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1e672b98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21f8dc5cf0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21f8dc5cf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a527eaace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a527eaace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a527eaace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a527eaace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1fe9d4d4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21fe9d4d4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1f8dc5cf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1f8dc5cf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1f8dc5cf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1f8dc5cf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1f8dc5cf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1f8dc5cf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df1fd5e0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df1fd5e0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df1fd5e01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df1fd5e01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df1fd5e0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df1fd5e0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1f8dc5cf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21f8dc5cf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1f8dc5cf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1f8dc5cf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1f8dc5cf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1f8dc5cf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1f8dc5cf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1f8dc5cf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df1fd5e0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df1fd5e0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1f8dc5cf0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1f8dc5cf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245be1d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245be1d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deb7247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1deb7247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1deb72479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1deb72479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deb7247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deb7247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1deb72479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1deb72479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21f8dc5cf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21f8dc5cf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21f8dc5cf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21f8dc5cf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208e15c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2208e15c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208e15ce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208e15ce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2166cebc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2166cebc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166cebc2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5" name="Google Shape;585;g2166cebc2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166cebc2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166cebc2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2166cebc2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2166cebc2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166cebc2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166cebc2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1f8dc5cf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1f8dc5cf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166cebc2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166cebc2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208e15ce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2208e15ce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166cebc2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166cebc2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208e15ce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208e15ce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166cebc27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2166cebc27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2166cebc2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2166cebc2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208e15c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1" name="Google Shape;721;g2208e15c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166cebc27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166cebc27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2166cebc27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2166cebc27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166cebc2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166cebc2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2166cebc2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2166cebc2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2166cebc27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0" name="Google Shape;800;g2166cebc27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166cebc2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6" name="Google Shape;806;g2166cebc2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7726c0c3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7726c0c3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6571ffd6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6571ffd6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7726c0c3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g27726c0c3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726c0c3a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726c0c3a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2783af0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2783af0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65717a01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65717a01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208e15ce4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208e15ce4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208e15ce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208e15ce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7726c0c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7726c0c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65717a010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65717a010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56817455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56817455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256817455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25681745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27726c0c3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27726c0c3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g706b86e8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3" name="Google Shape;913;g706b86e8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706b86e8fb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5" name="Google Shape;925;g706b86e8fb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g27726c0c3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3" name="Google Shape;933;g27726c0c3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7726c0c3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7726c0c3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g27726c0c3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9" name="Google Shape;949;g27726c0c3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27726c0c3a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27726c0c3a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7726c0c3a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7726c0c3a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643b33d4a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643b33d4a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g706b86e8fb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1" name="Google Shape;991;g706b86e8fb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6cdf6f075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6cdf6f075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7726c0c3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7726c0c3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7d666c93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7d666c93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26cdf6f07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26cdf6f07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643b33d4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643b33d4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27d666c93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27d666c93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7d666c93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27d666c93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643b33d4a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643b33d4a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6cdf6f07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6cdf6f07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26cdf6f07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26cdf6f07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27dda6436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27dda6436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27dda6436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27dda6436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27f5c6d3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27f5c6d3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7f5c6d37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7f5c6d37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7f5c6d3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7f5c6d3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6f83b403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6f83b403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7f5c6d37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7f5c6d37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27044390bb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2" name="Google Shape;1142;g27044390bb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7044390b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7044390b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g27f5c6d37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8" name="Google Shape;1158;g27f5c6d37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6f83b403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6f83b403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6f83b403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6f83b403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26f83b403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26f83b403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26f83b403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26f83b403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26f83b4035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26f83b4035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7044390b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4" name="Google Shape;1214;g27044390b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26f83b4035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1" name="Google Shape;1231;g26f83b4035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g26f83b4035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9" name="Google Shape;1239;g26f83b4035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g27f5c6d37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7" name="Google Shape;1247;g27f5c6d37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g27044390bb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6" name="Google Shape;1256;g27044390bb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6ba814555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6ba814555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7044390bb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7044390bb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7044390b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7044390b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g27044390bb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7" name="Google Shape;1287;g27044390bb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7044390b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7044390b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271018aaaf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271018aaaf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7dda643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7dda643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7dda643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7dda643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7dda6436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7dda6436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27dda6436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27dda6436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g27dda64363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5" name="Google Shape;1345;g27dda64363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7dda64363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7dda6436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g27dda6436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8" name="Google Shape;1358;g27dda6436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4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7044390b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7044390b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g27044390bb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4" name="Google Shape;1374;g27044390bb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7044390bb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7044390bb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271018aaa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271018aaa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5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271018aaa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271018aaa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" name="Google Shape;1402;g271018aaa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3" name="Google Shape;1403;g271018aaa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71018aaa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71018aaa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g271018aaa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9" name="Google Shape;1419;g271018aaa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g271018aaaf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7" name="Google Shape;1427;g271018aaaf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7044390bb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7044390bb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9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271018aaa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271018aaa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27473624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2747362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28.xml"/><Relationship Id="rId10" Type="http://schemas.openxmlformats.org/officeDocument/2006/relationships/slide" Target="/ppt/slides/slide102.xml"/><Relationship Id="rId13" Type="http://schemas.openxmlformats.org/officeDocument/2006/relationships/slide" Target="/ppt/slides/slide139.xml"/><Relationship Id="rId12" Type="http://schemas.openxmlformats.org/officeDocument/2006/relationships/slide" Target="/ppt/slides/slide134.xml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18.xml"/><Relationship Id="rId9" Type="http://schemas.openxmlformats.org/officeDocument/2006/relationships/slide" Target="/ppt/slides/slide80.xml"/><Relationship Id="rId14" Type="http://schemas.openxmlformats.org/officeDocument/2006/relationships/slide" Target="/ppt/slides/slide143.xml"/><Relationship Id="rId5" Type="http://schemas.openxmlformats.org/officeDocument/2006/relationships/slide" Target="/ppt/slides/slide29.xml"/><Relationship Id="rId6" Type="http://schemas.openxmlformats.org/officeDocument/2006/relationships/slide" Target="/ppt/slides/slide35.xml"/><Relationship Id="rId7" Type="http://schemas.openxmlformats.org/officeDocument/2006/relationships/slide" Target="/ppt/slides/slide47.xml"/><Relationship Id="rId8" Type="http://schemas.openxmlformats.org/officeDocument/2006/relationships/slide" Target="/ppt/slides/slide68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drive.google.com/drive/folders/0B9w_bl9kYrwcVnNTQWtPbVF3QUE" TargetMode="External"/><Relationship Id="rId4" Type="http://schemas.openxmlformats.org/officeDocument/2006/relationships/image" Target="../media/image13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6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7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5.jp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4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3.jp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9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4.jp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1.jp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7.jpg"/><Relationship Id="rId4" Type="http://schemas.openxmlformats.org/officeDocument/2006/relationships/image" Target="../media/image22.jpg"/><Relationship Id="rId5" Type="http://schemas.openxmlformats.org/officeDocument/2006/relationships/image" Target="../media/image25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0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3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31.jp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31.jp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9.jp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9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29.jp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4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29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9.jp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30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2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32.jp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4.jp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3.jpg"/><Relationship Id="rId4" Type="http://schemas.openxmlformats.org/officeDocument/2006/relationships/image" Target="../media/image45.jp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36.jp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35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40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37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41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38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48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42.png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4.xml"/><Relationship Id="rId3" Type="http://schemas.openxmlformats.org/officeDocument/2006/relationships/image" Target="../media/image39.jpg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61.png"/><Relationship Id="rId6" Type="http://schemas.openxmlformats.org/officeDocument/2006/relationships/image" Target="../media/image47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6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44.png"/><Relationship Id="rId4" Type="http://schemas.openxmlformats.org/officeDocument/2006/relationships/image" Target="../media/image43.png"/><Relationship Id="rId5" Type="http://schemas.openxmlformats.org/officeDocument/2006/relationships/image" Target="../media/image61.png"/><Relationship Id="rId6" Type="http://schemas.openxmlformats.org/officeDocument/2006/relationships/image" Target="../media/image47.pn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8.xml"/><Relationship Id="rId3" Type="http://schemas.openxmlformats.org/officeDocument/2006/relationships/image" Target="../media/image52.jpg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9.xml"/><Relationship Id="rId3" Type="http://schemas.openxmlformats.org/officeDocument/2006/relationships/image" Target="../media/image50.gif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0.xml"/><Relationship Id="rId3" Type="http://schemas.openxmlformats.org/officeDocument/2006/relationships/image" Target="../media/image53.jpg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1.xml"/><Relationship Id="rId3" Type="http://schemas.openxmlformats.org/officeDocument/2006/relationships/image" Target="../media/image54.png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2.xml"/><Relationship Id="rId3" Type="http://schemas.openxmlformats.org/officeDocument/2006/relationships/hyperlink" Target="https://aladdin.di.unimi.it/sw/grigliata_di_immagini/index.html" TargetMode="Externa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57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62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58.pn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55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63.jpg"/><Relationship Id="rId4" Type="http://schemas.openxmlformats.org/officeDocument/2006/relationships/image" Target="../media/image51.jpg"/><Relationship Id="rId5" Type="http://schemas.openxmlformats.org/officeDocument/2006/relationships/image" Target="../media/image49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9.xml"/><Relationship Id="rId3" Type="http://schemas.openxmlformats.org/officeDocument/2006/relationships/image" Target="../media/image56.gif"/><Relationship Id="rId4" Type="http://schemas.openxmlformats.org/officeDocument/2006/relationships/image" Target="../media/image59.png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60.png"/><Relationship Id="rId4" Type="http://schemas.openxmlformats.org/officeDocument/2006/relationships/image" Target="../media/image66.png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1.xml"/><Relationship Id="rId3" Type="http://schemas.openxmlformats.org/officeDocument/2006/relationships/image" Target="../media/image64.png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2.xml"/><Relationship Id="rId3" Type="http://schemas.openxmlformats.org/officeDocument/2006/relationships/image" Target="../media/image76.gif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65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5.xml"/><Relationship Id="rId3" Type="http://schemas.openxmlformats.org/officeDocument/2006/relationships/image" Target="../media/image67.png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6.xml"/><Relationship Id="rId3" Type="http://schemas.openxmlformats.org/officeDocument/2006/relationships/image" Target="../media/image73.png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7.xml"/><Relationship Id="rId3" Type="http://schemas.openxmlformats.org/officeDocument/2006/relationships/image" Target="../media/image70.jpg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75.jp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74.jp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1.xml"/><Relationship Id="rId3" Type="http://schemas.openxmlformats.org/officeDocument/2006/relationships/image" Target="../media/image71.jpg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2.xml"/><Relationship Id="rId3" Type="http://schemas.openxmlformats.org/officeDocument/2006/relationships/image" Target="../media/image69.jpg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4.xml"/><Relationship Id="rId3" Type="http://schemas.openxmlformats.org/officeDocument/2006/relationships/image" Target="../media/image72.png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68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6.xml"/><Relationship Id="rId3" Type="http://schemas.openxmlformats.org/officeDocument/2006/relationships/hyperlink" Target="http://aladdin.unimi.it/sw/grigliata_di_immagini/index.html" TargetMode="External"/><Relationship Id="rId4" Type="http://schemas.openxmlformats.org/officeDocument/2006/relationships/hyperlink" Target="http://lonati.di.unimi.it/TFA1415/grigliata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3975" y="3163125"/>
            <a:ext cx="2387750" cy="1908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Teoria e codifica delle informazioni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11175" y="3398250"/>
            <a:ext cx="39333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>
                <a:solidFill>
                  <a:srgbClr val="424242"/>
                </a:solidFill>
                <a:latin typeface="Oswald"/>
                <a:ea typeface="Oswald"/>
                <a:cs typeface="Oswald"/>
                <a:sym typeface="Oswald"/>
              </a:rPr>
              <a:t>Prof.ssa Manuela Mileo</a:t>
            </a:r>
            <a:endParaRPr sz="3600">
              <a:solidFill>
                <a:srgbClr val="42424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Sommario</a:t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dell’informazione</a:t>
            </a:r>
            <a:endParaRPr/>
          </a:p>
        </p:txBody>
      </p:sp>
      <p:sp>
        <p:nvSpPr>
          <p:cNvPr id="71" name="Google Shape;71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3"/>
              </a:rPr>
              <a:t>Introduzione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4"/>
              </a:rPr>
              <a:t>Codice binario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5"/>
              </a:rPr>
              <a:t>Conversioni dal decimale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6"/>
              </a:rPr>
              <a:t>Conversioni al decimale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7"/>
              </a:rPr>
              <a:t>Operazioni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8"/>
              </a:rPr>
              <a:t>Numeri interi con segno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9"/>
              </a:rPr>
              <a:t>Numeri razionali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10"/>
              </a:rPr>
              <a:t>Codifica delle immagini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11"/>
              </a:rPr>
              <a:t>Dall’analogico al digitale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12"/>
              </a:rPr>
              <a:t>Codifica del suono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13"/>
              </a:rPr>
              <a:t>Codifica video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 u="sng">
                <a:solidFill>
                  <a:schemeClr val="hlink"/>
                </a:solidFill>
                <a:hlinkClick action="ppaction://hlinksldjump" r:id="rId14"/>
              </a:rPr>
              <a:t>Approfondimento</a:t>
            </a:r>
            <a:endParaRPr sz="1400"/>
          </a:p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Definizioni</a:t>
            </a:r>
            <a:endParaRPr/>
          </a:p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dato?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</a:t>
            </a:r>
            <a:r>
              <a:rPr b="1" lang="it" sz="1400"/>
              <a:t>dato </a:t>
            </a:r>
            <a:r>
              <a:rPr lang="it" sz="1400"/>
              <a:t>(dal latino datum, fatto), è la descrizione (misura) di un fenomeno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 </a:t>
            </a:r>
            <a:r>
              <a:rPr b="1" lang="it" sz="1400"/>
              <a:t>dati </a:t>
            </a:r>
            <a:r>
              <a:rPr lang="it" sz="1400"/>
              <a:t>possono essere di diversa natura: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numeri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lettere dell'alfabeto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immagini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suoni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 dati possono essere archiviati: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carta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supporti magnetici/ottici</a:t>
            </a:r>
            <a:endParaRPr sz="14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2375" y="3245000"/>
            <a:ext cx="3469925" cy="13879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un’informazione?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468825"/>
            <a:ext cx="8520600" cy="67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L’</a:t>
            </a:r>
            <a:r>
              <a:rPr b="1" lang="it" sz="1400"/>
              <a:t>informazione</a:t>
            </a:r>
            <a:r>
              <a:rPr lang="it" sz="1400"/>
              <a:t> è il significato che viene attribuito ad un dato, si ottiene elaborando un insieme di dati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2100" y="1858125"/>
            <a:ext cx="3099900" cy="3099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320900" y="2154975"/>
            <a:ext cx="5191200" cy="25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L’</a:t>
            </a:r>
            <a:r>
              <a:rPr b="1"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informazione</a:t>
            </a: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può essere di diversa natura: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linguistica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musicale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pittorica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etc.</a:t>
            </a:r>
            <a:endParaRPr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400"/>
              <a:buFont typeface="Source Code Pro"/>
              <a:buChar char="●"/>
            </a:pP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L’</a:t>
            </a:r>
            <a:r>
              <a:rPr b="1"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informazione</a:t>
            </a:r>
            <a:r>
              <a:rPr lang="it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può essere rappresentata attraverso </a:t>
            </a:r>
            <a:r>
              <a:rPr b="1" lang="it" u="sng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simboli</a:t>
            </a:r>
            <a:endParaRPr u="sng"/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Cos’è un simbolo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11700" y="1392625"/>
            <a:ext cx="6595800" cy="355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</a:t>
            </a:r>
            <a:r>
              <a:rPr lang="it" sz="1400"/>
              <a:t>n </a:t>
            </a:r>
            <a:r>
              <a:rPr b="1" lang="it" sz="1400"/>
              <a:t>simbolo </a:t>
            </a:r>
            <a:r>
              <a:rPr lang="it" sz="1400"/>
              <a:t>veicola un’informazione, ma il suo significato dipende dal contesto in cui viene adoperato: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Esempio: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 sz="2400"/>
              <a:t>✌ </a:t>
            </a:r>
            <a:r>
              <a:rPr lang="it"/>
              <a:t>questo simbolo può essere interpretato come 2 oppure come segno di vittoria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 sz="1800"/>
              <a:t>Ⅲ </a:t>
            </a:r>
            <a:r>
              <a:rPr lang="it"/>
              <a:t>questo simbolo può essere interpretato come 3 oppure coma una scala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it"/>
              <a:t>la parola </a:t>
            </a:r>
            <a:r>
              <a:rPr b="1" lang="it"/>
              <a:t>FARE </a:t>
            </a:r>
            <a:r>
              <a:rPr lang="it"/>
              <a:t>assume significati diversi a seconda della lingua utilizzata (Italiano: realizzare - Inglese: tariffa)</a:t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8700" y="1994901"/>
            <a:ext cx="2133075" cy="2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Una frase rappresentata con dei simboli</a:t>
            </a:r>
            <a:endParaRPr/>
          </a:p>
        </p:txBody>
      </p:sp>
      <p:pic>
        <p:nvPicPr>
          <p:cNvPr id="109" name="Google Shape;109;p19"/>
          <p:cNvPicPr preferRelativeResize="0"/>
          <p:nvPr/>
        </p:nvPicPr>
        <p:blipFill rotWithShape="1">
          <a:blip r:embed="rId3">
            <a:alphaModFix/>
          </a:blip>
          <a:srcRect b="0" l="0" r="0" t="6006"/>
          <a:stretch/>
        </p:blipFill>
        <p:spPr>
          <a:xfrm>
            <a:off x="1782500" y="1541275"/>
            <a:ext cx="5579000" cy="3283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Simboli e alfabeto 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Una </a:t>
            </a:r>
            <a:r>
              <a:rPr b="1" lang="it" sz="1200"/>
              <a:t>successione </a:t>
            </a:r>
            <a:r>
              <a:rPr lang="it" sz="1200"/>
              <a:t>di simboli permette di formalizzare dati (che ricordiamo sono: numeri, lettere dell’alfabeto, immagini,suoni, …)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 simboli che compongono la successione devono appartenere ad uno ed un solo </a:t>
            </a:r>
            <a:r>
              <a:rPr b="1" lang="it" sz="1200"/>
              <a:t>alfabeto </a:t>
            </a:r>
            <a:r>
              <a:rPr lang="it" sz="1200"/>
              <a:t>(insieme finito di elementi)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Esempio: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Alfabeto: {A,B,C,…,Z}, Simboli: A, B, … (lettere dell’alfabeto)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Alfabeto: {0,1,2,…,9}, Simboli: 0, 1, … (numeri del </a:t>
            </a:r>
            <a:r>
              <a:rPr b="1" lang="it" sz="1200"/>
              <a:t>sistema decimale</a:t>
            </a:r>
            <a:r>
              <a:rPr lang="it" sz="1200"/>
              <a:t>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Alfabeto: {0,1}, Simboli: 0, 1 (numeri del </a:t>
            </a:r>
            <a:r>
              <a:rPr b="1" lang="it" sz="1200"/>
              <a:t>sistema binario</a:t>
            </a:r>
            <a:r>
              <a:rPr lang="it" sz="1200"/>
              <a:t>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Alfabeto: {0,1,2,…,7}, Simboli: 0, 1, …, 7 (numeri del </a:t>
            </a:r>
            <a:r>
              <a:rPr b="1" lang="it" sz="1200"/>
              <a:t>sistema ottale</a:t>
            </a:r>
            <a:r>
              <a:rPr lang="it" sz="1200"/>
              <a:t>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Alfabeto: {0,1,2,…,9,A,B,…,F}, Simboli: 0, 1, …, 9, A, … F (simboli del </a:t>
            </a:r>
            <a:r>
              <a:rPr b="1" lang="it" sz="1200"/>
              <a:t>sistema esadecimale</a:t>
            </a:r>
            <a:r>
              <a:rPr lang="it" sz="1200"/>
              <a:t>)</a:t>
            </a:r>
            <a:endParaRPr sz="1200"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8" name="Google Shape;11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7216" y="193550"/>
            <a:ext cx="3486358" cy="13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Codice</a:t>
            </a:r>
            <a:endParaRPr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Mediante l’utilizzo dei simboli di un alfabeto è possibile costruire delle </a:t>
            </a:r>
            <a:r>
              <a:rPr b="1" lang="it" sz="1400"/>
              <a:t>sequenze </a:t>
            </a:r>
            <a:r>
              <a:rPr lang="it" sz="1400"/>
              <a:t>che rispettino le regole di composizione (esempio: le parole costruite mediante l’alfabeto italiano) e che prendono il nome di </a:t>
            </a:r>
            <a:r>
              <a:rPr b="1" lang="it" sz="1400"/>
              <a:t>parole</a:t>
            </a:r>
            <a:r>
              <a:rPr lang="it" sz="1400"/>
              <a:t> o </a:t>
            </a:r>
            <a:r>
              <a:rPr b="1" lang="it" sz="1400"/>
              <a:t>word</a:t>
            </a:r>
            <a:endParaRPr b="1"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</a:t>
            </a:r>
            <a:r>
              <a:rPr b="1" lang="it" sz="1400"/>
              <a:t>codice </a:t>
            </a:r>
            <a:r>
              <a:rPr lang="it" sz="1400"/>
              <a:t>è un insieme di regole che stabilisce una corrispondenza biunivoca tra un insieme di parole dell’alfabeto ed un altro (in altre parole, associa elementi di due insiemi)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Dati due alfabeti qualunque A di m simboli e B di n simboli è sempre possibile </a:t>
            </a:r>
            <a:r>
              <a:rPr b="1" lang="it" sz="1400"/>
              <a:t>codificare </a:t>
            </a:r>
            <a:r>
              <a:rPr lang="it" sz="1400"/>
              <a:t>l’insieme delle parole di A nell’alfabeto B e viceversa</a:t>
            </a:r>
            <a:endParaRPr sz="1400"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126" name="Google Shape;126;p21"/>
          <p:cNvGrpSpPr/>
          <p:nvPr/>
        </p:nvGrpSpPr>
        <p:grpSpPr>
          <a:xfrm>
            <a:off x="5554400" y="164225"/>
            <a:ext cx="3517900" cy="1193790"/>
            <a:chOff x="5554400" y="164225"/>
            <a:chExt cx="3517900" cy="1193790"/>
          </a:xfrm>
        </p:grpSpPr>
        <p:grpSp>
          <p:nvGrpSpPr>
            <p:cNvPr id="127" name="Google Shape;127;p21"/>
            <p:cNvGrpSpPr/>
            <p:nvPr/>
          </p:nvGrpSpPr>
          <p:grpSpPr>
            <a:xfrm>
              <a:off x="5717576" y="301155"/>
              <a:ext cx="3159318" cy="1056860"/>
              <a:chOff x="5154975" y="390350"/>
              <a:chExt cx="3493275" cy="1274400"/>
            </a:xfrm>
          </p:grpSpPr>
          <p:sp>
            <p:nvSpPr>
              <p:cNvPr id="128" name="Google Shape;128;p21"/>
              <p:cNvSpPr/>
              <p:nvPr/>
            </p:nvSpPr>
            <p:spPr>
              <a:xfrm>
                <a:off x="5154975" y="390350"/>
                <a:ext cx="1377600" cy="1274400"/>
              </a:xfrm>
              <a:prstGeom prst="ellipse">
                <a:avLst/>
              </a:prstGeom>
              <a:noFill/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21"/>
              <p:cNvSpPr/>
              <p:nvPr/>
            </p:nvSpPr>
            <p:spPr>
              <a:xfrm>
                <a:off x="5718600" y="549800"/>
                <a:ext cx="137700" cy="1263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21"/>
              <p:cNvSpPr/>
              <p:nvPr/>
            </p:nvSpPr>
            <p:spPr>
              <a:xfrm>
                <a:off x="5443200" y="964400"/>
                <a:ext cx="137700" cy="1263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21"/>
              <p:cNvSpPr/>
              <p:nvPr/>
            </p:nvSpPr>
            <p:spPr>
              <a:xfrm>
                <a:off x="6025450" y="749975"/>
                <a:ext cx="137700" cy="1263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21"/>
              <p:cNvSpPr/>
              <p:nvPr/>
            </p:nvSpPr>
            <p:spPr>
              <a:xfrm>
                <a:off x="5968100" y="1100150"/>
                <a:ext cx="137700" cy="1263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21"/>
              <p:cNvSpPr/>
              <p:nvPr/>
            </p:nvSpPr>
            <p:spPr>
              <a:xfrm>
                <a:off x="5580900" y="1342525"/>
                <a:ext cx="137700" cy="126300"/>
              </a:xfrm>
              <a:prstGeom prst="ellipse">
                <a:avLst/>
              </a:prstGeom>
              <a:solidFill>
                <a:srgbClr val="FF9900"/>
              </a:solidFill>
              <a:ln cap="flat" cmpd="sng" w="952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21"/>
              <p:cNvSpPr/>
              <p:nvPr/>
            </p:nvSpPr>
            <p:spPr>
              <a:xfrm>
                <a:off x="7270650" y="390350"/>
                <a:ext cx="1377600" cy="1274400"/>
              </a:xfrm>
              <a:prstGeom prst="ellipse">
                <a:avLst/>
              </a:prstGeom>
              <a:noFill/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21"/>
              <p:cNvSpPr/>
              <p:nvPr/>
            </p:nvSpPr>
            <p:spPr>
              <a:xfrm>
                <a:off x="7834275" y="549800"/>
                <a:ext cx="137700" cy="126300"/>
              </a:xfrm>
              <a:prstGeom prst="ellipse">
                <a:avLst/>
              </a:prstGeom>
              <a:solidFill>
                <a:srgbClr val="00FFFF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21"/>
              <p:cNvSpPr/>
              <p:nvPr/>
            </p:nvSpPr>
            <p:spPr>
              <a:xfrm>
                <a:off x="7558875" y="964400"/>
                <a:ext cx="137700" cy="126300"/>
              </a:xfrm>
              <a:prstGeom prst="ellipse">
                <a:avLst/>
              </a:prstGeom>
              <a:solidFill>
                <a:srgbClr val="00FFFF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21"/>
              <p:cNvSpPr/>
              <p:nvPr/>
            </p:nvSpPr>
            <p:spPr>
              <a:xfrm>
                <a:off x="8221475" y="676100"/>
                <a:ext cx="137700" cy="126300"/>
              </a:xfrm>
              <a:prstGeom prst="ellipse">
                <a:avLst/>
              </a:prstGeom>
              <a:solidFill>
                <a:srgbClr val="00FFFF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21"/>
              <p:cNvSpPr/>
              <p:nvPr/>
            </p:nvSpPr>
            <p:spPr>
              <a:xfrm>
                <a:off x="8083775" y="1100150"/>
                <a:ext cx="137700" cy="126300"/>
              </a:xfrm>
              <a:prstGeom prst="ellipse">
                <a:avLst/>
              </a:prstGeom>
              <a:solidFill>
                <a:srgbClr val="00FFFF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21"/>
              <p:cNvSpPr/>
              <p:nvPr/>
            </p:nvSpPr>
            <p:spPr>
              <a:xfrm>
                <a:off x="7696575" y="1342525"/>
                <a:ext cx="137700" cy="126300"/>
              </a:xfrm>
              <a:prstGeom prst="ellipse">
                <a:avLst/>
              </a:prstGeom>
              <a:solidFill>
                <a:srgbClr val="00FFFF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40" name="Google Shape;140;p21"/>
              <p:cNvCxnSpPr>
                <a:stCxn id="133" idx="5"/>
                <a:endCxn id="139" idx="4"/>
              </p:cNvCxnSpPr>
              <p:nvPr/>
            </p:nvCxnSpPr>
            <p:spPr>
              <a:xfrm flipH="1" rot="-5400000">
                <a:off x="6722634" y="426129"/>
                <a:ext cx="18600" cy="2067000"/>
              </a:xfrm>
              <a:prstGeom prst="curvedConnector3">
                <a:avLst>
                  <a:gd fmla="val 1670142" name="adj1"/>
                </a:avLst>
              </a:prstGeom>
              <a:noFill/>
              <a:ln cap="flat" cmpd="sng" w="9525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1" name="Google Shape;141;p21"/>
              <p:cNvCxnSpPr>
                <a:stCxn id="132" idx="7"/>
                <a:endCxn id="138" idx="1"/>
              </p:cNvCxnSpPr>
              <p:nvPr/>
            </p:nvCxnSpPr>
            <p:spPr>
              <a:xfrm flipH="1" rot="-5400000">
                <a:off x="7094534" y="109746"/>
                <a:ext cx="600" cy="2018400"/>
              </a:xfrm>
              <a:prstGeom prst="curvedConnector3">
                <a:avLst>
                  <a:gd fmla="val -50939327" name="adj1"/>
                </a:avLst>
              </a:prstGeom>
              <a:noFill/>
              <a:ln cap="flat" cmpd="sng" w="9525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2" name="Google Shape;142;p21"/>
              <p:cNvCxnSpPr>
                <a:stCxn id="130" idx="5"/>
                <a:endCxn id="136" idx="3"/>
              </p:cNvCxnSpPr>
              <p:nvPr/>
            </p:nvCxnSpPr>
            <p:spPr>
              <a:xfrm flipH="1" rot="-5400000">
                <a:off x="6569634" y="63304"/>
                <a:ext cx="600" cy="2018400"/>
              </a:xfrm>
              <a:prstGeom prst="curvedConnector3">
                <a:avLst>
                  <a:gd fmla="val 50939327" name="adj1"/>
                </a:avLst>
              </a:prstGeom>
              <a:noFill/>
              <a:ln cap="flat" cmpd="sng" w="9525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3" name="Google Shape;143;p21"/>
              <p:cNvCxnSpPr>
                <a:stCxn id="131" idx="6"/>
                <a:endCxn id="137" idx="0"/>
              </p:cNvCxnSpPr>
              <p:nvPr/>
            </p:nvCxnSpPr>
            <p:spPr>
              <a:xfrm flipH="1" rot="10800000">
                <a:off x="6163150" y="676025"/>
                <a:ext cx="2127300" cy="137100"/>
              </a:xfrm>
              <a:prstGeom prst="curvedConnector4">
                <a:avLst>
                  <a:gd fmla="val 48379" name="adj1"/>
                  <a:gd fmla="val 309383" name="adj2"/>
                </a:avLst>
              </a:prstGeom>
              <a:noFill/>
              <a:ln cap="flat" cmpd="sng" w="9525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44" name="Google Shape;144;p21"/>
              <p:cNvCxnSpPr>
                <a:stCxn id="129" idx="7"/>
                <a:endCxn id="135" idx="1"/>
              </p:cNvCxnSpPr>
              <p:nvPr/>
            </p:nvCxnSpPr>
            <p:spPr>
              <a:xfrm flipH="1" rot="-5400000">
                <a:off x="6845034" y="-440604"/>
                <a:ext cx="600" cy="2018400"/>
              </a:xfrm>
              <a:prstGeom prst="curvedConnector3">
                <a:avLst>
                  <a:gd fmla="val -50939327" name="adj1"/>
                </a:avLst>
              </a:prstGeom>
              <a:noFill/>
              <a:ln cap="flat" cmpd="sng" w="9525">
                <a:solidFill>
                  <a:srgbClr val="9900FF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</p:grpSp>
        <p:sp>
          <p:nvSpPr>
            <p:cNvPr id="145" name="Google Shape;145;p21"/>
            <p:cNvSpPr txBox="1"/>
            <p:nvPr/>
          </p:nvSpPr>
          <p:spPr>
            <a:xfrm>
              <a:off x="5554400" y="164225"/>
              <a:ext cx="3417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0000"/>
                  </a:solidFill>
                </a:rPr>
                <a:t>A</a:t>
              </a:r>
              <a:endParaRPr b="1">
                <a:solidFill>
                  <a:srgbClr val="FF0000"/>
                </a:solidFill>
              </a:endParaRPr>
            </a:p>
          </p:txBody>
        </p:sp>
        <p:sp>
          <p:nvSpPr>
            <p:cNvPr id="146" name="Google Shape;146;p21"/>
            <p:cNvSpPr txBox="1"/>
            <p:nvPr/>
          </p:nvSpPr>
          <p:spPr>
            <a:xfrm>
              <a:off x="8730600" y="164225"/>
              <a:ext cx="341700" cy="33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B</a:t>
              </a:r>
              <a:endParaRPr b="1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</a:t>
            </a:r>
            <a:r>
              <a:rPr lang="it"/>
              <a:t> codificare un’informazione</a:t>
            </a:r>
            <a:endParaRPr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475" y="1949375"/>
            <a:ext cx="2518825" cy="266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2490900" y="1377000"/>
            <a:ext cx="2055000" cy="793500"/>
          </a:xfrm>
          <a:prstGeom prst="cloudCallout">
            <a:avLst>
              <a:gd fmla="val -56158" name="adj1"/>
              <a:gd fmla="val 5724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</a:t>
            </a:r>
            <a:r>
              <a:rPr lang="it" sz="1100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Bla bla bla”</a:t>
            </a:r>
            <a:endParaRPr sz="1100"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5" name="Google Shape;155;p22"/>
          <p:cNvSpPr txBox="1"/>
          <p:nvPr/>
        </p:nvSpPr>
        <p:spPr>
          <a:xfrm>
            <a:off x="311700" y="1424550"/>
            <a:ext cx="201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0000FF"/>
                </a:solidFill>
              </a:rPr>
              <a:t>Insieme di simboli, parole</a:t>
            </a:r>
            <a:endParaRPr b="1" sz="1100">
              <a:solidFill>
                <a:srgbClr val="0000FF"/>
              </a:solidFill>
            </a:endParaRPr>
          </a:p>
        </p:txBody>
      </p:sp>
      <p:sp>
        <p:nvSpPr>
          <p:cNvPr id="156" name="Google Shape;156;p22"/>
          <p:cNvSpPr txBox="1"/>
          <p:nvPr/>
        </p:nvSpPr>
        <p:spPr>
          <a:xfrm>
            <a:off x="801138" y="4528600"/>
            <a:ext cx="2125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Informazione umana</a:t>
            </a:r>
            <a:endParaRPr b="1" sz="110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83600" y="2847750"/>
            <a:ext cx="2571750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2"/>
          <p:cNvSpPr txBox="1"/>
          <p:nvPr/>
        </p:nvSpPr>
        <p:spPr>
          <a:xfrm>
            <a:off x="6406713" y="4528600"/>
            <a:ext cx="2125500" cy="4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Informazione digitale</a:t>
            </a:r>
            <a:endParaRPr b="1" sz="110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59" name="Google Shape;159;p22"/>
          <p:cNvSpPr/>
          <p:nvPr/>
        </p:nvSpPr>
        <p:spPr>
          <a:xfrm>
            <a:off x="6070325" y="1698000"/>
            <a:ext cx="2055000" cy="793500"/>
          </a:xfrm>
          <a:prstGeom prst="cloudCallout">
            <a:avLst>
              <a:gd fmla="val -19721" name="adj1"/>
              <a:gd fmla="val 92902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99999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“00110101100”</a:t>
            </a:r>
            <a:endParaRPr sz="1100">
              <a:solidFill>
                <a:srgbClr val="999999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7330000" y="2374950"/>
            <a:ext cx="174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0000FF"/>
                </a:solidFill>
              </a:rPr>
              <a:t>Sequenza di bit</a:t>
            </a:r>
            <a:endParaRPr b="1" sz="1100">
              <a:solidFill>
                <a:srgbClr val="0000FF"/>
              </a:solidFill>
            </a:endParaRPr>
          </a:p>
        </p:txBody>
      </p:sp>
      <p:cxnSp>
        <p:nvCxnSpPr>
          <p:cNvPr id="161" name="Google Shape;161;p22"/>
          <p:cNvCxnSpPr>
            <a:stCxn id="154" idx="3"/>
            <a:endCxn id="159" idx="3"/>
          </p:cNvCxnSpPr>
          <p:nvPr/>
        </p:nvCxnSpPr>
        <p:spPr>
          <a:xfrm flipH="1" rot="-5400000">
            <a:off x="5147550" y="-206781"/>
            <a:ext cx="321000" cy="3579300"/>
          </a:xfrm>
          <a:prstGeom prst="curvedConnector3">
            <a:avLst>
              <a:gd fmla="val -87513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2"/>
          <p:cNvCxnSpPr>
            <a:stCxn id="154" idx="1"/>
            <a:endCxn id="159" idx="1"/>
          </p:cNvCxnSpPr>
          <p:nvPr/>
        </p:nvCxnSpPr>
        <p:spPr>
          <a:xfrm flipH="1" rot="-5400000">
            <a:off x="5147550" y="540505"/>
            <a:ext cx="321000" cy="3579300"/>
          </a:xfrm>
          <a:prstGeom prst="curvedConnector3">
            <a:avLst>
              <a:gd fmla="val 140466" name="adj1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63" name="Google Shape;163;p22"/>
          <p:cNvSpPr txBox="1"/>
          <p:nvPr/>
        </p:nvSpPr>
        <p:spPr>
          <a:xfrm>
            <a:off x="5279525" y="1135775"/>
            <a:ext cx="79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FF0000"/>
                </a:solidFill>
              </a:rPr>
              <a:t>Codifica</a:t>
            </a:r>
            <a:endParaRPr b="1" sz="1100">
              <a:solidFill>
                <a:srgbClr val="FF0000"/>
              </a:solidFill>
            </a:endParaRPr>
          </a:p>
        </p:txBody>
      </p:sp>
      <p:sp>
        <p:nvSpPr>
          <p:cNvPr id="164" name="Google Shape;164;p22"/>
          <p:cNvSpPr txBox="1"/>
          <p:nvPr/>
        </p:nvSpPr>
        <p:spPr>
          <a:xfrm>
            <a:off x="4687075" y="2235825"/>
            <a:ext cx="958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00FF00"/>
                </a:solidFill>
              </a:rPr>
              <a:t>Dec</a:t>
            </a:r>
            <a:r>
              <a:rPr b="1" lang="it" sz="1100">
                <a:solidFill>
                  <a:srgbClr val="00FF00"/>
                </a:solidFill>
              </a:rPr>
              <a:t>odifica</a:t>
            </a:r>
            <a:endParaRPr b="1" sz="1100">
              <a:solidFill>
                <a:srgbClr val="00FF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Attività in classe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Perché è importante codificare?</a:t>
            </a:r>
            <a:endParaRPr/>
          </a:p>
        </p:txBody>
      </p:sp>
      <p:sp>
        <p:nvSpPr>
          <p:cNvPr id="170" name="Google Shape;17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Attività in classe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311700" y="1468825"/>
            <a:ext cx="65463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Avendo a disposizione </a:t>
            </a:r>
            <a:r>
              <a:rPr lang="it" sz="1400" u="sng"/>
              <a:t>solo</a:t>
            </a:r>
            <a:r>
              <a:rPr lang="it" sz="1400"/>
              <a:t> cartoncini di colore </a:t>
            </a:r>
            <a:r>
              <a:rPr lang="it" sz="1400">
                <a:solidFill>
                  <a:srgbClr val="0000FF"/>
                </a:solidFill>
              </a:rPr>
              <a:t>celeste </a:t>
            </a:r>
            <a:r>
              <a:rPr lang="it" sz="1400"/>
              <a:t>e </a:t>
            </a:r>
            <a:r>
              <a:rPr lang="it" sz="1400">
                <a:solidFill>
                  <a:srgbClr val="FF00FF"/>
                </a:solidFill>
              </a:rPr>
              <a:t>fuxia</a:t>
            </a:r>
            <a:r>
              <a:rPr lang="it" sz="1400"/>
              <a:t> (uniformi in dimensione), descrivere in modo </a:t>
            </a:r>
            <a:r>
              <a:rPr b="1" lang="it" sz="1400"/>
              <a:t>univoco </a:t>
            </a:r>
            <a:r>
              <a:rPr lang="it" sz="1400"/>
              <a:t>i componenti di una squadra che indossano esclusivamenta maglie di colore bianco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Le squadre sono composte da: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2 giocatori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4 giocatori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8 giocatori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Completare la tabella riportata di seguito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Stabilire quale sia la regola matematica che mette in relazione la prima e l’ultima colonna della tabella</a:t>
            </a:r>
            <a:endParaRPr sz="1400"/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78" name="Google Shape;17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9538" y="2137625"/>
            <a:ext cx="2377475" cy="1762312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4"/>
          <p:cNvSpPr/>
          <p:nvPr/>
        </p:nvSpPr>
        <p:spPr>
          <a:xfrm>
            <a:off x="7351877" y="2317476"/>
            <a:ext cx="575400" cy="5952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4"/>
          <p:cNvSpPr/>
          <p:nvPr/>
        </p:nvSpPr>
        <p:spPr>
          <a:xfrm>
            <a:off x="8021874" y="2395944"/>
            <a:ext cx="575400" cy="5952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4"/>
          <p:cNvSpPr/>
          <p:nvPr/>
        </p:nvSpPr>
        <p:spPr>
          <a:xfrm>
            <a:off x="7510563" y="3183670"/>
            <a:ext cx="575400" cy="595200"/>
          </a:xfrm>
          <a:prstGeom prst="mathMultiply">
            <a:avLst>
              <a:gd fmla="val 23520" name="adj1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Tabella attività</a:t>
            </a:r>
            <a:endParaRPr/>
          </a:p>
        </p:txBody>
      </p:sp>
      <p:sp>
        <p:nvSpPr>
          <p:cNvPr id="187" name="Google Shape;18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88" name="Google Shape;188;p25"/>
          <p:cNvGraphicFramePr/>
          <p:nvPr/>
        </p:nvGraphicFramePr>
        <p:xfrm>
          <a:off x="570888" y="15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207750"/>
                <a:gridCol w="2607725"/>
                <a:gridCol w="2607725"/>
                <a:gridCol w="1579025"/>
              </a:tblGrid>
              <a:tr h="6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Componenti della squadra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Cartoncini ai singoli giocatori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cartoncini pro capite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endParaRPr b="1" sz="12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endParaRPr b="1" sz="1200"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G5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G6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G7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G8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Tabella attività</a:t>
            </a:r>
            <a:endParaRPr/>
          </a:p>
        </p:txBody>
      </p:sp>
      <p:sp>
        <p:nvSpPr>
          <p:cNvPr id="194" name="Google Shape;194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95" name="Google Shape;195;p26"/>
          <p:cNvGraphicFramePr/>
          <p:nvPr/>
        </p:nvGraphicFramePr>
        <p:xfrm>
          <a:off x="570888" y="15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207750"/>
                <a:gridCol w="2607725"/>
                <a:gridCol w="2607725"/>
                <a:gridCol w="1579025"/>
              </a:tblGrid>
              <a:tr h="6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Componenti della squadra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Distribuzione dei c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artoncini ai singoli giocatori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cartoncini 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pro capite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</a:t>
                      </a:r>
                      <a:endParaRPr b="1" sz="12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</a:t>
                      </a:r>
                      <a:endParaRPr b="1" sz="1200"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Celeste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 Fucsia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Celeste Celeste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Celeste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 Fucsia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G5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Celeste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G6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G7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Fucsia 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Celeste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G8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Fucsia Fucsia  Fucsia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relazione matematica</a:t>
            </a:r>
            <a:endParaRPr/>
          </a:p>
        </p:txBody>
      </p:sp>
      <p:sp>
        <p:nvSpPr>
          <p:cNvPr id="201" name="Google Shape;201;p2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2</a:t>
            </a:r>
            <a:r>
              <a:rPr b="1" baseline="30000" lang="it">
                <a:solidFill>
                  <a:srgbClr val="0000FF"/>
                </a:solidFill>
              </a:rPr>
              <a:t>numero di cartoncini pro capite</a:t>
            </a:r>
            <a:r>
              <a:rPr lang="it"/>
              <a:t> = </a:t>
            </a:r>
            <a:r>
              <a:rPr b="1" lang="it">
                <a:solidFill>
                  <a:srgbClr val="38761D"/>
                </a:solidFill>
              </a:rPr>
              <a:t>numero com</a:t>
            </a:r>
            <a:r>
              <a:rPr b="1" lang="it">
                <a:solidFill>
                  <a:srgbClr val="38761D"/>
                </a:solidFill>
              </a:rPr>
              <a:t>ponenti della </a:t>
            </a:r>
            <a:r>
              <a:rPr b="1" lang="it">
                <a:solidFill>
                  <a:srgbClr val="38761D"/>
                </a:solidFill>
              </a:rPr>
              <a:t>squadra</a:t>
            </a:r>
            <a:endParaRPr b="1">
              <a:solidFill>
                <a:srgbClr val="38761D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it" sz="1400">
                <a:solidFill>
                  <a:srgbClr val="000000"/>
                </a:solidFill>
              </a:rPr>
              <a:t>Se i componenti di una squadra sono 2 quanti sarà il numero di cartoncini pro capite?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it">
                <a:solidFill>
                  <a:srgbClr val="000000"/>
                </a:solidFill>
              </a:rPr>
              <a:t>2</a:t>
            </a:r>
            <a:r>
              <a:rPr b="1" baseline="30000" lang="it">
                <a:solidFill>
                  <a:srgbClr val="0000FF"/>
                </a:solidFill>
              </a:rPr>
              <a:t>numero di cartoncini pro capite</a:t>
            </a:r>
            <a:r>
              <a:rPr lang="it">
                <a:solidFill>
                  <a:srgbClr val="000000"/>
                </a:solidFill>
              </a:rPr>
              <a:t> = </a:t>
            </a:r>
            <a:r>
              <a:rPr b="1" lang="it">
                <a:solidFill>
                  <a:srgbClr val="38761D"/>
                </a:solidFill>
              </a:rPr>
              <a:t>2</a:t>
            </a:r>
            <a:r>
              <a:rPr lang="it">
                <a:solidFill>
                  <a:srgbClr val="000000"/>
                </a:solidFill>
              </a:rPr>
              <a:t> ⇒ </a:t>
            </a:r>
            <a:r>
              <a:rPr b="1" lang="it" sz="1200">
                <a:solidFill>
                  <a:srgbClr val="0000FF"/>
                </a:solidFill>
              </a:rPr>
              <a:t>numero di cartoncini pro capite</a:t>
            </a:r>
            <a:r>
              <a:rPr lang="it" sz="1200">
                <a:solidFill>
                  <a:srgbClr val="000000"/>
                </a:solidFill>
              </a:rPr>
              <a:t> = </a:t>
            </a:r>
            <a:r>
              <a:rPr b="1" lang="it" sz="1200">
                <a:solidFill>
                  <a:srgbClr val="FF0000"/>
                </a:solidFill>
              </a:rPr>
              <a:t>1</a:t>
            </a:r>
            <a:endParaRPr b="1">
              <a:solidFill>
                <a:srgbClr val="FF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it" sz="1400">
                <a:solidFill>
                  <a:srgbClr val="000000"/>
                </a:solidFill>
              </a:rPr>
              <a:t>Se i componenti di una squadra sono 4 quanti sarà il numero di cartoncini pro capite?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it">
                <a:solidFill>
                  <a:srgbClr val="000000"/>
                </a:solidFill>
              </a:rPr>
              <a:t>2</a:t>
            </a:r>
            <a:r>
              <a:rPr b="1" baseline="30000" lang="it">
                <a:solidFill>
                  <a:srgbClr val="0000FF"/>
                </a:solidFill>
              </a:rPr>
              <a:t>numero di cartoncini pro capite</a:t>
            </a:r>
            <a:r>
              <a:rPr lang="it">
                <a:solidFill>
                  <a:srgbClr val="000000"/>
                </a:solidFill>
              </a:rPr>
              <a:t> = </a:t>
            </a:r>
            <a:r>
              <a:rPr b="1" lang="it">
                <a:solidFill>
                  <a:srgbClr val="38761D"/>
                </a:solidFill>
              </a:rPr>
              <a:t>4</a:t>
            </a:r>
            <a:r>
              <a:rPr lang="it">
                <a:solidFill>
                  <a:srgbClr val="000000"/>
                </a:solidFill>
              </a:rPr>
              <a:t> ⇒ </a:t>
            </a:r>
            <a:r>
              <a:rPr b="1" lang="it" sz="1200">
                <a:solidFill>
                  <a:srgbClr val="0000FF"/>
                </a:solidFill>
              </a:rPr>
              <a:t>numero di cartoncini pro capite</a:t>
            </a:r>
            <a:r>
              <a:rPr lang="it" sz="1200">
                <a:solidFill>
                  <a:srgbClr val="000000"/>
                </a:solidFill>
              </a:rPr>
              <a:t> = </a:t>
            </a:r>
            <a:r>
              <a:rPr b="1" lang="it" sz="1200">
                <a:solidFill>
                  <a:srgbClr val="FF0000"/>
                </a:solidFill>
              </a:rPr>
              <a:t>2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it" sz="1400">
                <a:solidFill>
                  <a:srgbClr val="000000"/>
                </a:solidFill>
              </a:rPr>
              <a:t>Se i componenti di una squadra sono 8 quanti sarà il numero di cartoncini pro capite?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it">
                <a:solidFill>
                  <a:srgbClr val="000000"/>
                </a:solidFill>
              </a:rPr>
              <a:t>2</a:t>
            </a:r>
            <a:r>
              <a:rPr b="1" baseline="30000" lang="it">
                <a:solidFill>
                  <a:srgbClr val="0000FF"/>
                </a:solidFill>
              </a:rPr>
              <a:t>numero di cartoncini pro capite</a:t>
            </a:r>
            <a:r>
              <a:rPr lang="it">
                <a:solidFill>
                  <a:srgbClr val="000000"/>
                </a:solidFill>
              </a:rPr>
              <a:t> = </a:t>
            </a:r>
            <a:r>
              <a:rPr b="1" lang="it">
                <a:solidFill>
                  <a:srgbClr val="38761D"/>
                </a:solidFill>
              </a:rPr>
              <a:t>8</a:t>
            </a:r>
            <a:r>
              <a:rPr lang="it">
                <a:solidFill>
                  <a:srgbClr val="000000"/>
                </a:solidFill>
              </a:rPr>
              <a:t> ⇒ </a:t>
            </a:r>
            <a:r>
              <a:rPr b="1" lang="it" sz="1200">
                <a:solidFill>
                  <a:srgbClr val="0000FF"/>
                </a:solidFill>
              </a:rPr>
              <a:t>numero di cartoncini pro capite</a:t>
            </a:r>
            <a:r>
              <a:rPr lang="it" sz="1200">
                <a:solidFill>
                  <a:srgbClr val="000000"/>
                </a:solidFill>
              </a:rPr>
              <a:t> = </a:t>
            </a:r>
            <a:r>
              <a:rPr b="1" lang="it" sz="1200">
                <a:solidFill>
                  <a:srgbClr val="FF0000"/>
                </a:solidFill>
              </a:rPr>
              <a:t>3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Passando</a:t>
            </a:r>
            <a:r>
              <a:rPr lang="it"/>
              <a:t> al binario ...</a:t>
            </a:r>
            <a:endParaRPr/>
          </a:p>
        </p:txBody>
      </p:sp>
      <p:sp>
        <p:nvSpPr>
          <p:cNvPr id="208" name="Google Shape;208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09" name="Google Shape;209;p28"/>
          <p:cNvGraphicFramePr/>
          <p:nvPr/>
        </p:nvGraphicFramePr>
        <p:xfrm>
          <a:off x="570888" y="157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207750"/>
                <a:gridCol w="2607725"/>
                <a:gridCol w="2607725"/>
                <a:gridCol w="1579025"/>
              </a:tblGrid>
              <a:tr h="64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Componenti della squadra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 u="sng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Codifica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dei giocatori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cartoncini pro capite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b="1" sz="12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b="1" sz="1200"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  <a:tr h="525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0 0 0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G2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0 0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G3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G4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G5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G6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G7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1 1 </a:t>
                      </a:r>
                      <a:r>
                        <a:rPr b="1" lang="it" sz="12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G8 </a:t>
                      </a:r>
                      <a:r>
                        <a:rPr b="1" lang="it" sz="1200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1 1 1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Nella rappresentazione insiemistica … </a:t>
            </a:r>
            <a:endParaRPr/>
          </a:p>
        </p:txBody>
      </p:sp>
      <p:sp>
        <p:nvSpPr>
          <p:cNvPr id="215" name="Google Shape;215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216" name="Google Shape;216;p29"/>
          <p:cNvGrpSpPr/>
          <p:nvPr/>
        </p:nvGrpSpPr>
        <p:grpSpPr>
          <a:xfrm>
            <a:off x="1134200" y="1252375"/>
            <a:ext cx="7338247" cy="3666075"/>
            <a:chOff x="1134200" y="1252375"/>
            <a:chExt cx="7338247" cy="3666075"/>
          </a:xfrm>
        </p:grpSpPr>
        <p:sp>
          <p:nvSpPr>
            <p:cNvPr id="217" name="Google Shape;217;p29"/>
            <p:cNvSpPr txBox="1"/>
            <p:nvPr/>
          </p:nvSpPr>
          <p:spPr>
            <a:xfrm>
              <a:off x="1134200" y="1861975"/>
              <a:ext cx="985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Giocatori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18" name="Google Shape;218;p29"/>
            <p:cNvSpPr txBox="1"/>
            <p:nvPr/>
          </p:nvSpPr>
          <p:spPr>
            <a:xfrm>
              <a:off x="7024047" y="1942325"/>
              <a:ext cx="1448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Codice binario</a:t>
              </a:r>
              <a:endParaRPr b="1">
                <a:solidFill>
                  <a:srgbClr val="0000FF"/>
                </a:solidFill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2672925" y="2770500"/>
              <a:ext cx="729600" cy="266700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G2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2120000" y="3184100"/>
              <a:ext cx="729600" cy="266700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G3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2672925" y="3597700"/>
              <a:ext cx="729600" cy="266700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G4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1706016" y="2113718"/>
              <a:ext cx="2155800" cy="19434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5121624" y="2113743"/>
              <a:ext cx="2155668" cy="1943333"/>
            </a:xfrm>
            <a:prstGeom prst="ellipse">
              <a:avLst/>
            </a:prstGeom>
            <a:noFill/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2178975" y="2356900"/>
              <a:ext cx="729510" cy="266705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G1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25" name="Google Shape;225;p29"/>
            <p:cNvSpPr/>
            <p:nvPr/>
          </p:nvSpPr>
          <p:spPr>
            <a:xfrm>
              <a:off x="6127225" y="2356900"/>
              <a:ext cx="729600" cy="2667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00</a:t>
              </a:r>
              <a:endParaRPr b="1">
                <a:solidFill>
                  <a:srgbClr val="0000FF"/>
                </a:solidFill>
              </a:endParaRPr>
            </a:p>
          </p:txBody>
        </p:sp>
        <p:sp>
          <p:nvSpPr>
            <p:cNvPr id="226" name="Google Shape;226;p29"/>
            <p:cNvSpPr/>
            <p:nvPr/>
          </p:nvSpPr>
          <p:spPr>
            <a:xfrm>
              <a:off x="5621500" y="2770488"/>
              <a:ext cx="729600" cy="2667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01</a:t>
              </a:r>
              <a:endParaRPr b="1">
                <a:solidFill>
                  <a:srgbClr val="0000FF"/>
                </a:solidFill>
              </a:endParaRPr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6127225" y="3184100"/>
              <a:ext cx="729600" cy="2667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1</a:t>
              </a:r>
              <a:r>
                <a:rPr b="1" lang="it">
                  <a:solidFill>
                    <a:srgbClr val="0000FF"/>
                  </a:solidFill>
                </a:rPr>
                <a:t>0</a:t>
              </a:r>
              <a:endParaRPr b="1">
                <a:solidFill>
                  <a:srgbClr val="0000FF"/>
                </a:solidFill>
              </a:endParaRPr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5621500" y="3597700"/>
              <a:ext cx="729600" cy="266700"/>
            </a:xfrm>
            <a:prstGeom prst="ellipse">
              <a:avLst/>
            </a:prstGeom>
            <a:solidFill>
              <a:srgbClr val="C9DAF8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0000FF"/>
                  </a:solidFill>
                </a:rPr>
                <a:t>11</a:t>
              </a:r>
              <a:endParaRPr b="1">
                <a:solidFill>
                  <a:srgbClr val="0000FF"/>
                </a:solidFill>
              </a:endParaRPr>
            </a:p>
          </p:txBody>
        </p:sp>
        <p:cxnSp>
          <p:nvCxnSpPr>
            <p:cNvPr id="229" name="Google Shape;229;p29"/>
            <p:cNvCxnSpPr>
              <a:stCxn id="224" idx="6"/>
              <a:endCxn id="225" idx="2"/>
            </p:cNvCxnSpPr>
            <p:nvPr/>
          </p:nvCxnSpPr>
          <p:spPr>
            <a:xfrm>
              <a:off x="2908484" y="2490253"/>
              <a:ext cx="3218700" cy="0"/>
            </a:xfrm>
            <a:prstGeom prst="straightConnector1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0" name="Google Shape;230;p29"/>
            <p:cNvCxnSpPr>
              <a:stCxn id="219" idx="6"/>
              <a:endCxn id="226" idx="2"/>
            </p:cNvCxnSpPr>
            <p:nvPr/>
          </p:nvCxnSpPr>
          <p:spPr>
            <a:xfrm>
              <a:off x="3402525" y="2903850"/>
              <a:ext cx="2219100" cy="0"/>
            </a:xfrm>
            <a:prstGeom prst="straightConnector1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1" name="Google Shape;231;p29"/>
            <p:cNvCxnSpPr>
              <a:stCxn id="220" idx="6"/>
              <a:endCxn id="227" idx="2"/>
            </p:cNvCxnSpPr>
            <p:nvPr/>
          </p:nvCxnSpPr>
          <p:spPr>
            <a:xfrm>
              <a:off x="2849600" y="3317450"/>
              <a:ext cx="3277500" cy="0"/>
            </a:xfrm>
            <a:prstGeom prst="straightConnector1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2" name="Google Shape;232;p29"/>
            <p:cNvCxnSpPr>
              <a:stCxn id="221" idx="6"/>
              <a:endCxn id="228" idx="2"/>
            </p:cNvCxnSpPr>
            <p:nvPr/>
          </p:nvCxnSpPr>
          <p:spPr>
            <a:xfrm>
              <a:off x="3402525" y="3731050"/>
              <a:ext cx="2219100" cy="0"/>
            </a:xfrm>
            <a:prstGeom prst="straightConnector1">
              <a:avLst/>
            </a:prstGeom>
            <a:noFill/>
            <a:ln cap="flat" cmpd="sng" w="9525">
              <a:solidFill>
                <a:srgbClr val="99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233" name="Google Shape;233;p29"/>
            <p:cNvCxnSpPr>
              <a:stCxn id="222" idx="0"/>
              <a:endCxn id="223" idx="0"/>
            </p:cNvCxnSpPr>
            <p:nvPr/>
          </p:nvCxnSpPr>
          <p:spPr>
            <a:xfrm flipH="1" rot="-5400000">
              <a:off x="4491366" y="406268"/>
              <a:ext cx="600" cy="3415500"/>
            </a:xfrm>
            <a:prstGeom prst="curvedConnector3">
              <a:avLst>
                <a:gd fmla="val -80465493" name="adj1"/>
              </a:avLst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4" name="Google Shape;234;p29"/>
            <p:cNvSpPr txBox="1"/>
            <p:nvPr/>
          </p:nvSpPr>
          <p:spPr>
            <a:xfrm>
              <a:off x="5475260" y="1252375"/>
              <a:ext cx="1448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0000"/>
                  </a:solidFill>
                </a:rPr>
                <a:t>Codifica</a:t>
              </a:r>
              <a:endParaRPr b="1">
                <a:solidFill>
                  <a:srgbClr val="FF0000"/>
                </a:solidFill>
              </a:endParaRPr>
            </a:p>
          </p:txBody>
        </p:sp>
        <p:cxnSp>
          <p:nvCxnSpPr>
            <p:cNvPr id="235" name="Google Shape;235;p29"/>
            <p:cNvCxnSpPr>
              <a:stCxn id="223" idx="4"/>
              <a:endCxn id="222" idx="4"/>
            </p:cNvCxnSpPr>
            <p:nvPr/>
          </p:nvCxnSpPr>
          <p:spPr>
            <a:xfrm rot="5400000">
              <a:off x="4491408" y="2349626"/>
              <a:ext cx="600" cy="3415500"/>
            </a:xfrm>
            <a:prstGeom prst="curvedConnector3">
              <a:avLst>
                <a:gd fmla="val 87891580" name="adj1"/>
              </a:avLst>
            </a:prstGeom>
            <a:noFill/>
            <a:ln cap="flat" cmpd="sng" w="9525">
              <a:solidFill>
                <a:srgbClr val="6AA84F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36" name="Google Shape;236;p29"/>
            <p:cNvSpPr txBox="1"/>
            <p:nvPr/>
          </p:nvSpPr>
          <p:spPr>
            <a:xfrm>
              <a:off x="5408435" y="4308850"/>
              <a:ext cx="1448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Dec</a:t>
              </a:r>
              <a:r>
                <a:rPr b="1" lang="it">
                  <a:solidFill>
                    <a:srgbClr val="6AA84F"/>
                  </a:solidFill>
                </a:rPr>
                <a:t>odifica</a:t>
              </a:r>
              <a:endParaRPr b="1">
                <a:solidFill>
                  <a:srgbClr val="6AA84F"/>
                </a:solidFill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0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codice binario</a:t>
            </a:r>
            <a:endParaRPr/>
          </a:p>
        </p:txBody>
      </p:sp>
      <p:sp>
        <p:nvSpPr>
          <p:cNvPr id="242" name="Google Shape;24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binaria</a:t>
            </a:r>
            <a:endParaRPr/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311700" y="14386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Attraverso l’alfabeto binario {0,1}, i cui simboli sono 0, 1 è possibile rappresentare soltanto </a:t>
            </a:r>
            <a:r>
              <a:rPr b="1" lang="it" sz="1400"/>
              <a:t>due </a:t>
            </a:r>
            <a:r>
              <a:rPr lang="it" sz="1400"/>
              <a:t>informazioni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{0,1}	{off, on}	{😁, 😞}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Per poter rappresentare un numero maggiore di informazioni è necessario utilizzare sequenze di bit ovvero </a:t>
            </a:r>
            <a:r>
              <a:rPr b="1" lang="it" sz="1400"/>
              <a:t>parole </a:t>
            </a:r>
            <a:r>
              <a:rPr lang="it" sz="1400"/>
              <a:t>dell’alfabeto; 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1 bit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(0, 1)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2 informazioni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2 bit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(00, 01, 10, 11)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4 informazioni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3 bit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(000, 001, 010, …, 111)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8 informazioni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n bit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/>
              <a:t>(...)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</a:t>
            </a:r>
            <a:r>
              <a:rPr b="1" lang="it">
                <a:solidFill>
                  <a:srgbClr val="FF0000"/>
                </a:solidFill>
              </a:rPr>
              <a:t>2</a:t>
            </a:r>
            <a:r>
              <a:rPr b="1" baseline="30000" lang="it">
                <a:solidFill>
                  <a:srgbClr val="FF0000"/>
                </a:solidFill>
              </a:rPr>
              <a:t>n</a:t>
            </a:r>
            <a:r>
              <a:rPr lang="it"/>
              <a:t> informazioni 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L’associazione informazione/parola è </a:t>
            </a:r>
            <a:r>
              <a:rPr b="1" lang="it" sz="1400"/>
              <a:t>convenzionale</a:t>
            </a:r>
            <a:endParaRPr sz="1400"/>
          </a:p>
        </p:txBody>
      </p:sp>
      <p:sp>
        <p:nvSpPr>
          <p:cNvPr id="249" name="Google Shape;249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Quanti bit servono per codificare N informazioni?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311700" y="1448750"/>
            <a:ext cx="8520600" cy="1406400"/>
          </a:xfrm>
          <a:prstGeom prst="rect">
            <a:avLst/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2</a:t>
            </a:r>
            <a:r>
              <a:rPr baseline="30000" lang="it" sz="1200">
                <a:solidFill>
                  <a:srgbClr val="FF0000"/>
                </a:solidFill>
              </a:rPr>
              <a:t>n</a:t>
            </a:r>
            <a:r>
              <a:rPr lang="it" sz="1200"/>
              <a:t> ≥ </a:t>
            </a:r>
            <a:r>
              <a:rPr lang="it" sz="1200">
                <a:solidFill>
                  <a:srgbClr val="0000FF"/>
                </a:solidFill>
              </a:rPr>
              <a:t>N</a:t>
            </a:r>
            <a:r>
              <a:rPr lang="it" sz="1200"/>
              <a:t> 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dove: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F0000"/>
                </a:solidFill>
              </a:rPr>
              <a:t>n numero di bit necessari per codifica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FF"/>
                </a:solidFill>
              </a:rPr>
              <a:t>N numero di informazioni da codificare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256" name="Google Shape;2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57" name="Google Shape;257;p32"/>
          <p:cNvSpPr txBox="1"/>
          <p:nvPr>
            <p:ph idx="1" type="body"/>
          </p:nvPr>
        </p:nvSpPr>
        <p:spPr>
          <a:xfrm>
            <a:off x="311700" y="2950750"/>
            <a:ext cx="8520600" cy="1785900"/>
          </a:xfrm>
          <a:prstGeom prst="rect">
            <a:avLst/>
          </a:prstGeom>
          <a:solidFill>
            <a:srgbClr val="FCE5CD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00"/>
                </a:solidFill>
              </a:rPr>
              <a:t>Generalizzando per un </a:t>
            </a:r>
            <a:r>
              <a:rPr b="1" lang="it" sz="1200">
                <a:solidFill>
                  <a:srgbClr val="000000"/>
                </a:solidFill>
              </a:rPr>
              <a:t>qualunque alfabeto</a:t>
            </a:r>
            <a:endParaRPr b="1" sz="12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b</a:t>
            </a:r>
            <a:r>
              <a:rPr baseline="30000" lang="it" sz="1200">
                <a:solidFill>
                  <a:srgbClr val="FF0000"/>
                </a:solidFill>
              </a:rPr>
              <a:t>n</a:t>
            </a:r>
            <a:r>
              <a:rPr lang="it" sz="1200"/>
              <a:t> ≥ </a:t>
            </a:r>
            <a:r>
              <a:rPr lang="it" sz="1200">
                <a:solidFill>
                  <a:srgbClr val="0000FF"/>
                </a:solidFill>
              </a:rPr>
              <a:t>N</a:t>
            </a:r>
            <a:r>
              <a:rPr lang="it" sz="1200"/>
              <a:t>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dove: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b numero di simboli dell’alfabeto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F0000"/>
                </a:solidFill>
              </a:rPr>
              <a:t>n numero di bit necessari per codifica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FF"/>
                </a:solidFill>
              </a:rPr>
              <a:t>N numero di informazioni da codificare</a:t>
            </a:r>
            <a:endParaRPr sz="1200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Sequenze di bit e codifica binaria</a:t>
            </a:r>
            <a:endParaRPr/>
          </a:p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264" name="Google Shape;264;p33"/>
          <p:cNvGraphicFramePr/>
          <p:nvPr/>
        </p:nvGraphicFramePr>
        <p:xfrm>
          <a:off x="907125" y="139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</a:t>
                      </a: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umero di bit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Informazioni rappresentabili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6B26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128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256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Esempio: Codifica delle dita di una mano</a:t>
            </a:r>
            <a:endParaRPr/>
          </a:p>
        </p:txBody>
      </p:sp>
      <p:sp>
        <p:nvSpPr>
          <p:cNvPr id="270" name="Google Shape;27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pSp>
        <p:nvGrpSpPr>
          <p:cNvPr id="271" name="Google Shape;271;p34"/>
          <p:cNvGrpSpPr/>
          <p:nvPr/>
        </p:nvGrpSpPr>
        <p:grpSpPr>
          <a:xfrm>
            <a:off x="83099" y="1795375"/>
            <a:ext cx="8749202" cy="2735237"/>
            <a:chOff x="83099" y="1795375"/>
            <a:chExt cx="8749202" cy="2735237"/>
          </a:xfrm>
        </p:grpSpPr>
        <p:sp>
          <p:nvSpPr>
            <p:cNvPr id="272" name="Google Shape;272;p34"/>
            <p:cNvSpPr/>
            <p:nvPr/>
          </p:nvSpPr>
          <p:spPr>
            <a:xfrm>
              <a:off x="302460" y="2075847"/>
              <a:ext cx="1815466" cy="157149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4"/>
            <p:cNvSpPr txBox="1"/>
            <p:nvPr/>
          </p:nvSpPr>
          <p:spPr>
            <a:xfrm>
              <a:off x="83099" y="1890761"/>
              <a:ext cx="735407" cy="448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Mano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74" name="Google Shape;274;p34"/>
            <p:cNvSpPr/>
            <p:nvPr/>
          </p:nvSpPr>
          <p:spPr>
            <a:xfrm>
              <a:off x="745491" y="2254630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Pollice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75" name="Google Shape;275;p34"/>
            <p:cNvSpPr/>
            <p:nvPr/>
          </p:nvSpPr>
          <p:spPr>
            <a:xfrm>
              <a:off x="745491" y="2514670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Indice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76" name="Google Shape;276;p34"/>
            <p:cNvSpPr/>
            <p:nvPr/>
          </p:nvSpPr>
          <p:spPr>
            <a:xfrm>
              <a:off x="745491" y="2774710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Medio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77" name="Google Shape;277;p34"/>
            <p:cNvSpPr/>
            <p:nvPr/>
          </p:nvSpPr>
          <p:spPr>
            <a:xfrm>
              <a:off x="745491" y="3034750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Anulare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78" name="Google Shape;278;p34"/>
            <p:cNvSpPr/>
            <p:nvPr/>
          </p:nvSpPr>
          <p:spPr>
            <a:xfrm>
              <a:off x="745491" y="3294791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Mignolo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79" name="Google Shape;279;p34"/>
            <p:cNvSpPr txBox="1"/>
            <p:nvPr/>
          </p:nvSpPr>
          <p:spPr>
            <a:xfrm>
              <a:off x="453700" y="3773725"/>
              <a:ext cx="15555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1 bit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 informazioni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</a:t>
              </a:r>
              <a:r>
                <a:rPr b="1" baseline="30000" lang="it">
                  <a:solidFill>
                    <a:srgbClr val="6AA84F"/>
                  </a:solidFill>
                </a:rPr>
                <a:t>1</a:t>
              </a:r>
              <a:r>
                <a:rPr b="1" lang="it">
                  <a:solidFill>
                    <a:srgbClr val="6AA84F"/>
                  </a:solidFill>
                </a:rPr>
                <a:t>=2</a:t>
              </a:r>
              <a:endParaRPr b="1">
                <a:solidFill>
                  <a:srgbClr val="6AA84F"/>
                </a:solidFill>
              </a:endParaRPr>
            </a:p>
          </p:txBody>
        </p:sp>
        <p:cxnSp>
          <p:nvCxnSpPr>
            <p:cNvPr id="280" name="Google Shape;280;p34"/>
            <p:cNvCxnSpPr/>
            <p:nvPr/>
          </p:nvCxnSpPr>
          <p:spPr>
            <a:xfrm>
              <a:off x="232747" y="3004460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sp>
          <p:nvSpPr>
            <p:cNvPr id="281" name="Google Shape;281;p34"/>
            <p:cNvSpPr/>
            <p:nvPr/>
          </p:nvSpPr>
          <p:spPr>
            <a:xfrm>
              <a:off x="2495570" y="2083521"/>
              <a:ext cx="1815466" cy="157149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34"/>
            <p:cNvSpPr txBox="1"/>
            <p:nvPr/>
          </p:nvSpPr>
          <p:spPr>
            <a:xfrm>
              <a:off x="2276209" y="1898435"/>
              <a:ext cx="735407" cy="448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Mano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83" name="Google Shape;283;p34"/>
            <p:cNvSpPr/>
            <p:nvPr/>
          </p:nvSpPr>
          <p:spPr>
            <a:xfrm>
              <a:off x="2938601" y="2262303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Pollice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84" name="Google Shape;284;p34"/>
            <p:cNvSpPr/>
            <p:nvPr/>
          </p:nvSpPr>
          <p:spPr>
            <a:xfrm>
              <a:off x="2938601" y="252234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Indice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85" name="Google Shape;285;p34"/>
            <p:cNvSpPr/>
            <p:nvPr/>
          </p:nvSpPr>
          <p:spPr>
            <a:xfrm>
              <a:off x="2938601" y="278238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Medio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86" name="Google Shape;286;p34"/>
            <p:cNvSpPr/>
            <p:nvPr/>
          </p:nvSpPr>
          <p:spPr>
            <a:xfrm>
              <a:off x="2938601" y="304242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Anulare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87" name="Google Shape;287;p34"/>
            <p:cNvSpPr/>
            <p:nvPr/>
          </p:nvSpPr>
          <p:spPr>
            <a:xfrm>
              <a:off x="2938601" y="330246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Mignolo</a:t>
              </a:r>
              <a:endParaRPr b="1" sz="900">
                <a:solidFill>
                  <a:srgbClr val="FF9900"/>
                </a:solidFill>
              </a:endParaRPr>
            </a:p>
          </p:txBody>
        </p:sp>
        <p:cxnSp>
          <p:nvCxnSpPr>
            <p:cNvPr id="288" name="Google Shape;288;p34"/>
            <p:cNvCxnSpPr/>
            <p:nvPr/>
          </p:nvCxnSpPr>
          <p:spPr>
            <a:xfrm>
              <a:off x="2409202" y="2746653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289" name="Google Shape;289;p34"/>
            <p:cNvCxnSpPr/>
            <p:nvPr/>
          </p:nvCxnSpPr>
          <p:spPr>
            <a:xfrm>
              <a:off x="2404595" y="3266734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sp>
          <p:nvSpPr>
            <p:cNvPr id="290" name="Google Shape;290;p34"/>
            <p:cNvSpPr/>
            <p:nvPr/>
          </p:nvSpPr>
          <p:spPr>
            <a:xfrm>
              <a:off x="4688679" y="2089072"/>
              <a:ext cx="1815466" cy="157149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4"/>
            <p:cNvSpPr txBox="1"/>
            <p:nvPr/>
          </p:nvSpPr>
          <p:spPr>
            <a:xfrm>
              <a:off x="4469318" y="1903985"/>
              <a:ext cx="735407" cy="448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FF9900"/>
                  </a:solidFill>
                </a:rPr>
                <a:t>Mano</a:t>
              </a:r>
              <a:endParaRPr b="1">
                <a:solidFill>
                  <a:srgbClr val="FF9900"/>
                </a:solidFill>
              </a:endParaRPr>
            </a:p>
          </p:txBody>
        </p:sp>
        <p:sp>
          <p:nvSpPr>
            <p:cNvPr id="292" name="Google Shape;292;p34"/>
            <p:cNvSpPr/>
            <p:nvPr/>
          </p:nvSpPr>
          <p:spPr>
            <a:xfrm>
              <a:off x="5131710" y="226785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Pollice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93" name="Google Shape;293;p34"/>
            <p:cNvSpPr/>
            <p:nvPr/>
          </p:nvSpPr>
          <p:spPr>
            <a:xfrm>
              <a:off x="5131710" y="2527894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Indice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94" name="Google Shape;294;p34"/>
            <p:cNvSpPr/>
            <p:nvPr/>
          </p:nvSpPr>
          <p:spPr>
            <a:xfrm>
              <a:off x="5131710" y="2787935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Medio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95" name="Google Shape;295;p34"/>
            <p:cNvSpPr/>
            <p:nvPr/>
          </p:nvSpPr>
          <p:spPr>
            <a:xfrm>
              <a:off x="5131710" y="3047975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Anulare</a:t>
              </a:r>
              <a:endParaRPr b="1" sz="900">
                <a:solidFill>
                  <a:srgbClr val="FF9900"/>
                </a:solidFill>
              </a:endParaRPr>
            </a:p>
          </p:txBody>
        </p:sp>
        <p:sp>
          <p:nvSpPr>
            <p:cNvPr id="296" name="Google Shape;296;p34"/>
            <p:cNvSpPr/>
            <p:nvPr/>
          </p:nvSpPr>
          <p:spPr>
            <a:xfrm>
              <a:off x="5131710" y="3308015"/>
              <a:ext cx="938617" cy="196078"/>
            </a:xfrm>
            <a:prstGeom prst="ellipse">
              <a:avLst/>
            </a:prstGeom>
            <a:solidFill>
              <a:srgbClr val="FCE5CD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 sz="900">
                  <a:solidFill>
                    <a:srgbClr val="FF9900"/>
                  </a:solidFill>
                </a:rPr>
                <a:t>Mignolo</a:t>
              </a:r>
              <a:endParaRPr b="1" sz="900">
                <a:solidFill>
                  <a:srgbClr val="FF9900"/>
                </a:solidFill>
              </a:endParaRPr>
            </a:p>
          </p:txBody>
        </p:sp>
        <p:cxnSp>
          <p:nvCxnSpPr>
            <p:cNvPr id="297" name="Google Shape;297;p34"/>
            <p:cNvCxnSpPr/>
            <p:nvPr/>
          </p:nvCxnSpPr>
          <p:spPr>
            <a:xfrm>
              <a:off x="4602311" y="2752204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298" name="Google Shape;298;p34"/>
            <p:cNvCxnSpPr/>
            <p:nvPr/>
          </p:nvCxnSpPr>
          <p:spPr>
            <a:xfrm>
              <a:off x="4597705" y="3272284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34"/>
            <p:cNvCxnSpPr/>
            <p:nvPr/>
          </p:nvCxnSpPr>
          <p:spPr>
            <a:xfrm>
              <a:off x="4597705" y="2492164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34"/>
            <p:cNvCxnSpPr/>
            <p:nvPr/>
          </p:nvCxnSpPr>
          <p:spPr>
            <a:xfrm>
              <a:off x="4576444" y="3012244"/>
              <a:ext cx="1997415" cy="7499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  <p:grpSp>
          <p:nvGrpSpPr>
            <p:cNvPr id="301" name="Google Shape;301;p34"/>
            <p:cNvGrpSpPr/>
            <p:nvPr/>
          </p:nvGrpSpPr>
          <p:grpSpPr>
            <a:xfrm>
              <a:off x="6701904" y="1795375"/>
              <a:ext cx="2130397" cy="1869137"/>
              <a:chOff x="5962764" y="1755711"/>
              <a:chExt cx="2855761" cy="2542352"/>
            </a:xfrm>
          </p:grpSpPr>
          <p:sp>
            <p:nvSpPr>
              <p:cNvPr id="302" name="Google Shape;302;p34"/>
              <p:cNvSpPr/>
              <p:nvPr/>
            </p:nvSpPr>
            <p:spPr>
              <a:xfrm>
                <a:off x="6256800" y="2160562"/>
                <a:ext cx="2433600" cy="2137500"/>
              </a:xfrm>
              <a:prstGeom prst="ellipse">
                <a:avLst/>
              </a:prstGeom>
              <a:noFill/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34"/>
              <p:cNvSpPr txBox="1"/>
              <p:nvPr/>
            </p:nvSpPr>
            <p:spPr>
              <a:xfrm>
                <a:off x="5962764" y="1755711"/>
                <a:ext cx="15054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>
                    <a:solidFill>
                      <a:srgbClr val="0000FF"/>
                    </a:solidFill>
                  </a:rPr>
                  <a:t>Codice binario</a:t>
                </a:r>
                <a:endParaRPr b="1">
                  <a:solidFill>
                    <a:srgbClr val="0000FF"/>
                  </a:solidFill>
                </a:endParaRPr>
              </a:p>
            </p:txBody>
          </p:sp>
          <p:sp>
            <p:nvSpPr>
              <p:cNvPr id="304" name="Google Shape;304;p34"/>
              <p:cNvSpPr/>
              <p:nvPr/>
            </p:nvSpPr>
            <p:spPr>
              <a:xfrm>
                <a:off x="6850675" y="2403738"/>
                <a:ext cx="1258200" cy="266700"/>
              </a:xfrm>
              <a:prstGeom prst="ellipse">
                <a:avLst/>
              </a:prstGeom>
              <a:solidFill>
                <a:srgbClr val="C9DAF8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0000FF"/>
                    </a:solidFill>
                  </a:rPr>
                  <a:t>000</a:t>
                </a:r>
                <a:endParaRPr b="1" sz="900">
                  <a:solidFill>
                    <a:srgbClr val="0000FF"/>
                  </a:solidFill>
                </a:endParaRPr>
              </a:p>
            </p:txBody>
          </p:sp>
          <p:sp>
            <p:nvSpPr>
              <p:cNvPr id="305" name="Google Shape;305;p34"/>
              <p:cNvSpPr/>
              <p:nvPr/>
            </p:nvSpPr>
            <p:spPr>
              <a:xfrm>
                <a:off x="6850675" y="2757438"/>
                <a:ext cx="1258200" cy="266700"/>
              </a:xfrm>
              <a:prstGeom prst="ellipse">
                <a:avLst/>
              </a:prstGeom>
              <a:solidFill>
                <a:srgbClr val="C9DAF8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0000FF"/>
                    </a:solidFill>
                  </a:rPr>
                  <a:t>001</a:t>
                </a:r>
                <a:endParaRPr b="1" sz="900">
                  <a:solidFill>
                    <a:srgbClr val="0000FF"/>
                  </a:solidFill>
                </a:endParaRPr>
              </a:p>
            </p:txBody>
          </p:sp>
          <p:sp>
            <p:nvSpPr>
              <p:cNvPr id="306" name="Google Shape;306;p34"/>
              <p:cNvSpPr/>
              <p:nvPr/>
            </p:nvSpPr>
            <p:spPr>
              <a:xfrm>
                <a:off x="6850675" y="3111138"/>
                <a:ext cx="1258200" cy="266700"/>
              </a:xfrm>
              <a:prstGeom prst="ellipse">
                <a:avLst/>
              </a:prstGeom>
              <a:solidFill>
                <a:srgbClr val="C9DAF8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0000FF"/>
                    </a:solidFill>
                  </a:rPr>
                  <a:t>010</a:t>
                </a:r>
                <a:endParaRPr b="1" sz="900">
                  <a:solidFill>
                    <a:srgbClr val="0000FF"/>
                  </a:solidFill>
                </a:endParaRPr>
              </a:p>
            </p:txBody>
          </p:sp>
          <p:sp>
            <p:nvSpPr>
              <p:cNvPr id="307" name="Google Shape;307;p34"/>
              <p:cNvSpPr/>
              <p:nvPr/>
            </p:nvSpPr>
            <p:spPr>
              <a:xfrm>
                <a:off x="6850675" y="3464838"/>
                <a:ext cx="1258200" cy="266700"/>
              </a:xfrm>
              <a:prstGeom prst="ellipse">
                <a:avLst/>
              </a:prstGeom>
              <a:solidFill>
                <a:srgbClr val="C9DAF8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0000FF"/>
                    </a:solidFill>
                  </a:rPr>
                  <a:t>011</a:t>
                </a:r>
                <a:endParaRPr b="1" sz="900">
                  <a:solidFill>
                    <a:srgbClr val="0000FF"/>
                  </a:solidFill>
                </a:endParaRPr>
              </a:p>
            </p:txBody>
          </p:sp>
          <p:sp>
            <p:nvSpPr>
              <p:cNvPr id="308" name="Google Shape;308;p34"/>
              <p:cNvSpPr/>
              <p:nvPr/>
            </p:nvSpPr>
            <p:spPr>
              <a:xfrm>
                <a:off x="6850675" y="3818538"/>
                <a:ext cx="1258200" cy="266700"/>
              </a:xfrm>
              <a:prstGeom prst="ellipse">
                <a:avLst/>
              </a:prstGeom>
              <a:solidFill>
                <a:srgbClr val="C9DAF8"/>
              </a:solidFill>
              <a:ln cap="flat" cmpd="sng" w="9525">
                <a:solidFill>
                  <a:srgbClr val="0000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it" sz="900">
                    <a:solidFill>
                      <a:srgbClr val="0000FF"/>
                    </a:solidFill>
                  </a:rPr>
                  <a:t>100</a:t>
                </a:r>
                <a:endParaRPr b="1" sz="90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309" name="Google Shape;309;p34"/>
              <p:cNvCxnSpPr/>
              <p:nvPr/>
            </p:nvCxnSpPr>
            <p:spPr>
              <a:xfrm>
                <a:off x="6141025" y="3062538"/>
                <a:ext cx="2677500" cy="10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AA84F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0" name="Google Shape;310;p34"/>
              <p:cNvCxnSpPr/>
              <p:nvPr/>
            </p:nvCxnSpPr>
            <p:spPr>
              <a:xfrm>
                <a:off x="6134850" y="3769938"/>
                <a:ext cx="2677500" cy="10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AA84F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1" name="Google Shape;311;p34"/>
              <p:cNvCxnSpPr/>
              <p:nvPr/>
            </p:nvCxnSpPr>
            <p:spPr>
              <a:xfrm>
                <a:off x="6134850" y="2708838"/>
                <a:ext cx="2677500" cy="10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AA84F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312" name="Google Shape;312;p34"/>
              <p:cNvCxnSpPr/>
              <p:nvPr/>
            </p:nvCxnSpPr>
            <p:spPr>
              <a:xfrm>
                <a:off x="6106350" y="3416238"/>
                <a:ext cx="2677500" cy="102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AA84F"/>
                </a:solidFill>
                <a:prstDash val="lgDash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313" name="Google Shape;313;p34"/>
            <p:cNvSpPr txBox="1"/>
            <p:nvPr/>
          </p:nvSpPr>
          <p:spPr>
            <a:xfrm>
              <a:off x="2602450" y="3786825"/>
              <a:ext cx="16017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</a:t>
              </a:r>
              <a:r>
                <a:rPr b="1" lang="it">
                  <a:solidFill>
                    <a:srgbClr val="6AA84F"/>
                  </a:solidFill>
                </a:rPr>
                <a:t> bit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4 </a:t>
              </a:r>
              <a:r>
                <a:rPr b="1" lang="it">
                  <a:solidFill>
                    <a:srgbClr val="6AA84F"/>
                  </a:solidFill>
                </a:rPr>
                <a:t>informazioni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</a:t>
              </a:r>
              <a:r>
                <a:rPr b="1" baseline="30000" lang="it">
                  <a:solidFill>
                    <a:srgbClr val="6AA84F"/>
                  </a:solidFill>
                </a:rPr>
                <a:t>2</a:t>
              </a:r>
              <a:r>
                <a:rPr b="1" lang="it">
                  <a:solidFill>
                    <a:srgbClr val="6AA84F"/>
                  </a:solidFill>
                </a:rPr>
                <a:t>=4</a:t>
              </a:r>
              <a:endParaRPr b="1">
                <a:solidFill>
                  <a:srgbClr val="6AA84F"/>
                </a:solidFill>
              </a:endParaRPr>
            </a:p>
          </p:txBody>
        </p:sp>
        <p:sp>
          <p:nvSpPr>
            <p:cNvPr id="314" name="Google Shape;314;p34"/>
            <p:cNvSpPr txBox="1"/>
            <p:nvPr/>
          </p:nvSpPr>
          <p:spPr>
            <a:xfrm>
              <a:off x="4823263" y="3792375"/>
              <a:ext cx="15555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3</a:t>
              </a:r>
              <a:r>
                <a:rPr b="1" lang="it">
                  <a:solidFill>
                    <a:srgbClr val="6AA84F"/>
                  </a:solidFill>
                </a:rPr>
                <a:t> bit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8 </a:t>
              </a:r>
              <a:r>
                <a:rPr b="1" lang="it">
                  <a:solidFill>
                    <a:srgbClr val="6AA84F"/>
                  </a:solidFill>
                </a:rPr>
                <a:t>informazioni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</a:t>
              </a:r>
              <a:r>
                <a:rPr b="1" baseline="30000" lang="it">
                  <a:solidFill>
                    <a:srgbClr val="6AA84F"/>
                  </a:solidFill>
                </a:rPr>
                <a:t>3</a:t>
              </a:r>
              <a:r>
                <a:rPr b="1" lang="it">
                  <a:solidFill>
                    <a:srgbClr val="6AA84F"/>
                  </a:solidFill>
                </a:rPr>
                <a:t>=8</a:t>
              </a:r>
              <a:endParaRPr b="1">
                <a:solidFill>
                  <a:srgbClr val="6AA84F"/>
                </a:solidFill>
              </a:endParaRPr>
            </a:p>
          </p:txBody>
        </p:sp>
        <p:sp>
          <p:nvSpPr>
            <p:cNvPr id="315" name="Google Shape;315;p34"/>
            <p:cNvSpPr txBox="1"/>
            <p:nvPr/>
          </p:nvSpPr>
          <p:spPr>
            <a:xfrm>
              <a:off x="7092138" y="3797113"/>
              <a:ext cx="1482900" cy="7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3</a:t>
              </a:r>
              <a:r>
                <a:rPr b="1" lang="it">
                  <a:solidFill>
                    <a:srgbClr val="6AA84F"/>
                  </a:solidFill>
                </a:rPr>
                <a:t> bit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8 </a:t>
              </a:r>
              <a:r>
                <a:rPr b="1" lang="it">
                  <a:solidFill>
                    <a:srgbClr val="6AA84F"/>
                  </a:solidFill>
                </a:rPr>
                <a:t>informazioni</a:t>
              </a:r>
              <a:endParaRPr b="1">
                <a:solidFill>
                  <a:srgbClr val="6AA84F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it">
                  <a:solidFill>
                    <a:srgbClr val="6AA84F"/>
                  </a:solidFill>
                </a:rPr>
                <a:t>2</a:t>
              </a:r>
              <a:r>
                <a:rPr b="1" baseline="30000" lang="it">
                  <a:solidFill>
                    <a:srgbClr val="6AA84F"/>
                  </a:solidFill>
                </a:rPr>
                <a:t>3</a:t>
              </a:r>
              <a:r>
                <a:rPr b="1" lang="it">
                  <a:solidFill>
                    <a:srgbClr val="6AA84F"/>
                  </a:solidFill>
                </a:rPr>
                <a:t>=8</a:t>
              </a:r>
              <a:endParaRPr b="1">
                <a:solidFill>
                  <a:srgbClr val="6AA84F"/>
                </a:solidFill>
              </a:endParaRPr>
            </a:p>
          </p:txBody>
        </p:sp>
        <p:cxnSp>
          <p:nvCxnSpPr>
            <p:cNvPr id="316" name="Google Shape;316;p34"/>
            <p:cNvCxnSpPr/>
            <p:nvPr/>
          </p:nvCxnSpPr>
          <p:spPr>
            <a:xfrm>
              <a:off x="2404602" y="3006691"/>
              <a:ext cx="1997400" cy="7500"/>
            </a:xfrm>
            <a:prstGeom prst="straightConnector1">
              <a:avLst/>
            </a:prstGeom>
            <a:noFill/>
            <a:ln cap="flat" cmpd="sng" w="19050">
              <a:solidFill>
                <a:srgbClr val="6AA84F"/>
              </a:solidFill>
              <a:prstDash val="lgDash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tavola ASCII su 7 bit - 128 caratteri</a:t>
            </a:r>
            <a:endParaRPr/>
          </a:p>
        </p:txBody>
      </p:sp>
      <p:sp>
        <p:nvSpPr>
          <p:cNvPr id="322" name="Google Shape;322;p35"/>
          <p:cNvSpPr txBox="1"/>
          <p:nvPr>
            <p:ph idx="1" type="body"/>
          </p:nvPr>
        </p:nvSpPr>
        <p:spPr>
          <a:xfrm>
            <a:off x="353950" y="1437150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Quanti sono i caratteri che vorremmo fossero codificati in binario?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32 caratteri speciali (non stampabili)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26 lettere maiuscole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26 lettere minuscole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10 numeri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34 segni di punteggiatura ed altri simboli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Quanti sono i bit necessari per codificare in binario 128 caratteri?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it"/>
              <a:t>2</a:t>
            </a:r>
            <a:r>
              <a:rPr baseline="30000" lang="it"/>
              <a:t>numero di bit</a:t>
            </a:r>
            <a:r>
              <a:rPr lang="it"/>
              <a:t> = 128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/>
              <a:t> numero di bit = 7</a:t>
            </a:r>
            <a:endParaRPr sz="1400"/>
          </a:p>
        </p:txBody>
      </p:sp>
      <p:sp>
        <p:nvSpPr>
          <p:cNvPr id="323" name="Google Shape;32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24" name="Google Shape;324;p35"/>
          <p:cNvSpPr/>
          <p:nvPr/>
        </p:nvSpPr>
        <p:spPr>
          <a:xfrm>
            <a:off x="5765450" y="2159800"/>
            <a:ext cx="2503200" cy="10230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FFF2CC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128 caratteri</a:t>
            </a:r>
            <a:endParaRPr b="1"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</a:t>
            </a:r>
            <a:r>
              <a:rPr lang="it"/>
              <a:t>avola ASCII su 7 bit</a:t>
            </a:r>
            <a:endParaRPr/>
          </a:p>
        </p:txBody>
      </p:sp>
      <p:sp>
        <p:nvSpPr>
          <p:cNvPr id="330" name="Google Shape;330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31" name="Google Shape;3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5600" y="1221375"/>
            <a:ext cx="6432788" cy="37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T</a:t>
            </a:r>
            <a:r>
              <a:rPr lang="it"/>
              <a:t>avola ASCII su 8 bit - 256 caratteri / Tavola ASCII estesa</a:t>
            </a:r>
            <a:endParaRPr/>
          </a:p>
        </p:txBody>
      </p:sp>
      <p:sp>
        <p:nvSpPr>
          <p:cNvPr id="337" name="Google Shape;33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338" name="Google Shape;33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0200" y="1278525"/>
            <a:ext cx="6526306" cy="37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di una parola con la tavola ASCII estesa</a:t>
            </a:r>
            <a:endParaRPr/>
          </a:p>
        </p:txBody>
      </p:sp>
      <p:sp>
        <p:nvSpPr>
          <p:cNvPr id="344" name="Google Shape;344;p38"/>
          <p:cNvSpPr txBox="1"/>
          <p:nvPr>
            <p:ph idx="1" type="body"/>
          </p:nvPr>
        </p:nvSpPr>
        <p:spPr>
          <a:xfrm>
            <a:off x="311700" y="1468825"/>
            <a:ext cx="8520600" cy="32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Una </a:t>
            </a:r>
            <a:r>
              <a:rPr b="1" lang="it" sz="1200"/>
              <a:t>parola </a:t>
            </a:r>
            <a:r>
              <a:rPr lang="it" sz="1200"/>
              <a:t>è una sequenza di caratteri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lang="it" sz="1200"/>
              <a:t>La codifica di una parola è la sequenza delle codifiche ASCII dei caratteri che la costituiscono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Ogni </a:t>
            </a:r>
            <a:r>
              <a:rPr b="1" lang="it" sz="1200"/>
              <a:t>carattere </a:t>
            </a:r>
            <a:r>
              <a:rPr lang="it" sz="1200"/>
              <a:t>è rappresentato con 8 bit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lang="it" sz="1200"/>
              <a:t>ha le dimensioni di 8 bit ovvero di 1 byte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Ogni </a:t>
            </a:r>
            <a:r>
              <a:rPr b="1" lang="it" sz="1200"/>
              <a:t>parola </a:t>
            </a:r>
            <a:r>
              <a:rPr lang="it" sz="1200"/>
              <a:t>ha dimensioni in bit pari a 8 * numero di caratteri che la costituiscono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Ogni </a:t>
            </a:r>
            <a:r>
              <a:rPr b="1" lang="it" sz="1200"/>
              <a:t>parola </a:t>
            </a:r>
            <a:r>
              <a:rPr lang="it" sz="1200"/>
              <a:t>ha dimensioni in byte pari al numero di caratteri che la costituiscono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le </a:t>
            </a:r>
            <a:r>
              <a:rPr b="1" lang="it" sz="1200"/>
              <a:t>frasi </a:t>
            </a:r>
            <a:r>
              <a:rPr lang="it" sz="1200"/>
              <a:t>si adopera la stessa procedura delle parole tenendo presente che lo spazio fra due parole è anch’esso un carattere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“Oggi è una bella giornata” ha dimensioni pari a 25 byte ovvero 200 bit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“Ti Amo” si codifica come </a:t>
            </a:r>
            <a:r>
              <a:rPr lang="it" sz="1200">
                <a:solidFill>
                  <a:srgbClr val="FF0000"/>
                </a:solidFill>
              </a:rPr>
              <a:t>01010100 </a:t>
            </a:r>
            <a:r>
              <a:rPr lang="it" sz="1200">
                <a:solidFill>
                  <a:srgbClr val="FF9900"/>
                </a:solidFill>
              </a:rPr>
              <a:t>01101001 </a:t>
            </a:r>
            <a:r>
              <a:rPr lang="it" sz="1200">
                <a:solidFill>
                  <a:srgbClr val="FFFF00"/>
                </a:solidFill>
              </a:rPr>
              <a:t>00001000 </a:t>
            </a:r>
            <a:r>
              <a:rPr lang="it" sz="1200">
                <a:solidFill>
                  <a:srgbClr val="00FF00"/>
                </a:solidFill>
              </a:rPr>
              <a:t>01000001 </a:t>
            </a:r>
            <a:r>
              <a:rPr lang="it" sz="1200">
                <a:solidFill>
                  <a:srgbClr val="0000FF"/>
                </a:solidFill>
              </a:rPr>
              <a:t>01101101 </a:t>
            </a:r>
            <a:r>
              <a:rPr lang="it" sz="1200">
                <a:solidFill>
                  <a:srgbClr val="FF00FF"/>
                </a:solidFill>
              </a:rPr>
              <a:t>01101111</a:t>
            </a:r>
            <a:endParaRPr sz="1200">
              <a:solidFill>
                <a:srgbClr val="FF00FF"/>
              </a:solidFill>
            </a:endParaRPr>
          </a:p>
          <a:p>
            <a:pPr indent="-3048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Vale anche il contrario</a:t>
            </a:r>
            <a:endParaRPr sz="1200"/>
          </a:p>
        </p:txBody>
      </p:sp>
      <p:sp>
        <p:nvSpPr>
          <p:cNvPr id="345" name="Google Shape;34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46" name="Google Shape;346;p38"/>
          <p:cNvSpPr txBox="1"/>
          <p:nvPr/>
        </p:nvSpPr>
        <p:spPr>
          <a:xfrm>
            <a:off x="3809050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</a:t>
            </a:r>
            <a:endParaRPr sz="12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7" name="Google Shape;347;p38"/>
          <p:cNvSpPr txBox="1"/>
          <p:nvPr/>
        </p:nvSpPr>
        <p:spPr>
          <a:xfrm>
            <a:off x="4696225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F99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</a:t>
            </a:r>
            <a:endParaRPr sz="1200">
              <a:solidFill>
                <a:srgbClr val="FF99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8" name="Google Shape;348;p38"/>
          <p:cNvSpPr txBox="1"/>
          <p:nvPr/>
        </p:nvSpPr>
        <p:spPr>
          <a:xfrm>
            <a:off x="5501775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9" name="Google Shape;349;p38"/>
          <p:cNvSpPr txBox="1"/>
          <p:nvPr/>
        </p:nvSpPr>
        <p:spPr>
          <a:xfrm>
            <a:off x="6307325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FF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endParaRPr sz="1200">
              <a:solidFill>
                <a:srgbClr val="00FF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0" name="Google Shape;350;p38"/>
          <p:cNvSpPr txBox="1"/>
          <p:nvPr/>
        </p:nvSpPr>
        <p:spPr>
          <a:xfrm>
            <a:off x="7185450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</a:t>
            </a:r>
            <a:endParaRPr sz="120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51" name="Google Shape;351;p38"/>
          <p:cNvSpPr txBox="1"/>
          <p:nvPr/>
        </p:nvSpPr>
        <p:spPr>
          <a:xfrm>
            <a:off x="8000850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FF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</a:t>
            </a:r>
            <a:endParaRPr sz="1200">
              <a:solidFill>
                <a:srgbClr val="FF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soluzione finale: UNICODE</a:t>
            </a:r>
            <a:endParaRPr/>
          </a:p>
        </p:txBody>
      </p:sp>
      <p:sp>
        <p:nvSpPr>
          <p:cNvPr id="357" name="Google Shape;357;p39"/>
          <p:cNvSpPr txBox="1"/>
          <p:nvPr>
            <p:ph idx="1" type="body"/>
          </p:nvPr>
        </p:nvSpPr>
        <p:spPr>
          <a:xfrm>
            <a:off x="311700" y="1468825"/>
            <a:ext cx="8520600" cy="3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Chiaramente, l'aggiunta di codifiche su codifiche, ciascuna di al più 256 caratteri (8 bit), non può andare lontano...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Una soluzione radicale è quella proposta dallo standard </a:t>
            </a:r>
            <a:r>
              <a:rPr b="1" lang="it" sz="1000"/>
              <a:t>UNICODE</a:t>
            </a:r>
            <a:r>
              <a:rPr lang="it" sz="1000"/>
              <a:t>: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abbandonare gli standard 8 bit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codificare ogni carattere con </a:t>
            </a:r>
            <a:r>
              <a:rPr b="1" lang="it" sz="1000"/>
              <a:t>32 bit</a:t>
            </a:r>
            <a:endParaRPr b="1"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oltre </a:t>
            </a:r>
            <a:r>
              <a:rPr b="1" lang="it" sz="1000"/>
              <a:t>4 miliardi di caratteri diversi</a:t>
            </a:r>
            <a:r>
              <a:rPr lang="it" sz="1000"/>
              <a:t> codificabili!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UNICODE assegna ad ogni carattere un proprio codice numerico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indipendentemente dalla piattaforma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indipendentemente dal programma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indipendentemente dal linguaggio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Con oltre 4 miliardi di codici assegnabili, si può spaziare fra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finezze tipografiche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lingue morte o rarissime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UNICODE supporta praticamente tutte le lingue e i sistemi di scrittura esistenti al mondo (e alcuni non esistenti), fra cui ovviamente le lingue occidentali</a:t>
            </a:r>
            <a:endParaRPr sz="1000"/>
          </a:p>
        </p:txBody>
      </p:sp>
      <p:sp>
        <p:nvSpPr>
          <p:cNvPr id="358" name="Google Shape;35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59" name="Google Shape;359;p39"/>
          <p:cNvSpPr txBox="1"/>
          <p:nvPr/>
        </p:nvSpPr>
        <p:spPr>
          <a:xfrm>
            <a:off x="5501775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Struttura UNICODE</a:t>
            </a:r>
            <a:endParaRPr/>
          </a:p>
        </p:txBody>
      </p:sp>
      <p:sp>
        <p:nvSpPr>
          <p:cNvPr id="365" name="Google Shape;365;p40"/>
          <p:cNvSpPr txBox="1"/>
          <p:nvPr>
            <p:ph idx="1" type="body"/>
          </p:nvPr>
        </p:nvSpPr>
        <p:spPr>
          <a:xfrm>
            <a:off x="311700" y="1468825"/>
            <a:ext cx="8520600" cy="329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Un </a:t>
            </a:r>
            <a:r>
              <a:rPr b="1" lang="it" sz="1000"/>
              <a:t>carattere UNICODE</a:t>
            </a:r>
            <a:r>
              <a:rPr lang="it" sz="1000"/>
              <a:t> è caratterizzato dal suo codice numerico, detto </a:t>
            </a:r>
            <a:r>
              <a:rPr b="1" lang="it" sz="1000"/>
              <a:t>code point</a:t>
            </a:r>
            <a:r>
              <a:rPr lang="it" sz="1000"/>
              <a:t>, solitamente rappresentato con 8 cifre esadecimali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it" sz="1000"/>
              <a:t>Per esempio, fi (legatura di f e i) è rappresentato dal codice 0000FB01, mentre il simbolo “do doppio diesis strumentale” della notazione musicale greca antica (simile a una lambda maiuscola con una gambetta) è 0001D235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È uso omettere gli “0” iniziali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I primi 256 code point, da 0 a FF, sono identici ai caratteri ISO-8859-1; ciò semplifica grandemente la conversione fra UNICODE e ISO-Latin-1 (e -15)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UNICODE ha spazio per 16.777.216 “pagine” di 256 caratteri; molti standard precedenti sono inclusi tali e quali per comodità</a:t>
            </a:r>
            <a:endParaRPr sz="1000"/>
          </a:p>
          <a:p>
            <a:pPr indent="-292100" lvl="0" marL="457200" rtl="0" algn="l">
              <a:spcBef>
                <a:spcPts val="1000"/>
              </a:spcBef>
              <a:spcAft>
                <a:spcPts val="0"/>
              </a:spcAft>
              <a:buSzPts val="1000"/>
              <a:buChar char="●"/>
            </a:pPr>
            <a:r>
              <a:rPr lang="it" sz="1000"/>
              <a:t>Moltissimi caratteri sono quindi ripetuti più volte in pagine diverse</a:t>
            </a:r>
            <a:endParaRPr sz="1000"/>
          </a:p>
        </p:txBody>
      </p:sp>
      <p:sp>
        <p:nvSpPr>
          <p:cNvPr id="366" name="Google Shape;36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367" name="Google Shape;367;p40"/>
          <p:cNvSpPr txBox="1"/>
          <p:nvPr/>
        </p:nvSpPr>
        <p:spPr>
          <a:xfrm>
            <a:off x="5501775" y="4266725"/>
            <a:ext cx="471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/>
              <a:t>Conversioni decimale - binario/ottale/ esadecimale </a:t>
            </a:r>
            <a:endParaRPr sz="3000"/>
          </a:p>
        </p:txBody>
      </p:sp>
      <p:sp>
        <p:nvSpPr>
          <p:cNvPr id="373" name="Google Shape;37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Il sistema di numerazione decimale</a:t>
            </a:r>
            <a:endParaRPr/>
          </a:p>
        </p:txBody>
      </p:sp>
      <p:sp>
        <p:nvSpPr>
          <p:cNvPr id="379" name="Google Shape;379;p4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Il sistema di numerazione decimale adotta la </a:t>
            </a:r>
            <a:r>
              <a:rPr b="1" lang="it" sz="1300"/>
              <a:t>notazione posizionale</a:t>
            </a:r>
            <a:r>
              <a:rPr lang="it" sz="1300"/>
              <a:t>, ogni cifra del numero assume un determinato valore in funzione della sua posizione.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Per esempio:</a:t>
            </a:r>
            <a:endParaRPr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FF0000"/>
                </a:solidFill>
              </a:rPr>
              <a:t>2</a:t>
            </a:r>
            <a:r>
              <a:rPr lang="it" sz="1300">
                <a:solidFill>
                  <a:srgbClr val="00FF00"/>
                </a:solidFill>
              </a:rPr>
              <a:t>6</a:t>
            </a:r>
            <a:r>
              <a:rPr lang="it" sz="1300">
                <a:solidFill>
                  <a:srgbClr val="0000FF"/>
                </a:solidFill>
              </a:rPr>
              <a:t>8</a:t>
            </a:r>
            <a:r>
              <a:rPr lang="it" sz="1300">
                <a:solidFill>
                  <a:srgbClr val="FF00FF"/>
                </a:solidFill>
              </a:rPr>
              <a:t>9</a:t>
            </a:r>
            <a:r>
              <a:rPr lang="it" sz="1300"/>
              <a:t>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⇓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FF0000"/>
                </a:solidFill>
              </a:rPr>
              <a:t>2</a:t>
            </a:r>
            <a:r>
              <a:rPr lang="it" sz="1300"/>
              <a:t> x </a:t>
            </a:r>
            <a:r>
              <a:rPr lang="it" sz="1300">
                <a:solidFill>
                  <a:srgbClr val="FF0000"/>
                </a:solidFill>
              </a:rPr>
              <a:t>1000 </a:t>
            </a:r>
            <a:r>
              <a:rPr lang="it" sz="1300"/>
              <a:t>+ </a:t>
            </a:r>
            <a:r>
              <a:rPr lang="it" sz="1300">
                <a:solidFill>
                  <a:srgbClr val="00FF00"/>
                </a:solidFill>
              </a:rPr>
              <a:t>6</a:t>
            </a:r>
            <a:r>
              <a:rPr lang="it" sz="1300"/>
              <a:t> × </a:t>
            </a:r>
            <a:r>
              <a:rPr lang="it" sz="1300">
                <a:solidFill>
                  <a:srgbClr val="00FF00"/>
                </a:solidFill>
              </a:rPr>
              <a:t>100</a:t>
            </a:r>
            <a:r>
              <a:rPr lang="it" sz="1300"/>
              <a:t> + </a:t>
            </a:r>
            <a:r>
              <a:rPr lang="it" sz="1300">
                <a:solidFill>
                  <a:srgbClr val="0000FF"/>
                </a:solidFill>
              </a:rPr>
              <a:t>8</a:t>
            </a:r>
            <a:r>
              <a:rPr lang="it" sz="1300"/>
              <a:t> × </a:t>
            </a:r>
            <a:r>
              <a:rPr lang="it" sz="1300">
                <a:solidFill>
                  <a:srgbClr val="0000FF"/>
                </a:solidFill>
              </a:rPr>
              <a:t>10</a:t>
            </a:r>
            <a:r>
              <a:rPr lang="it" sz="1300"/>
              <a:t> + </a:t>
            </a:r>
            <a:r>
              <a:rPr lang="it" sz="1300">
                <a:solidFill>
                  <a:srgbClr val="FF00FF"/>
                </a:solidFill>
              </a:rPr>
              <a:t>9</a:t>
            </a:r>
            <a:r>
              <a:rPr lang="it" sz="1300"/>
              <a:t> × </a:t>
            </a:r>
            <a:r>
              <a:rPr lang="it" sz="1300">
                <a:solidFill>
                  <a:srgbClr val="FF00FF"/>
                </a:solidFill>
              </a:rPr>
              <a:t>1</a:t>
            </a:r>
            <a:r>
              <a:rPr lang="it" sz="1300"/>
              <a:t> 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/>
              <a:t>⇓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300">
                <a:solidFill>
                  <a:srgbClr val="FF0000"/>
                </a:solidFill>
              </a:rPr>
              <a:t>2</a:t>
            </a:r>
            <a:r>
              <a:rPr lang="it" sz="1300"/>
              <a:t> × </a:t>
            </a:r>
            <a:r>
              <a:rPr lang="it" sz="1300">
                <a:solidFill>
                  <a:srgbClr val="FF0000"/>
                </a:solidFill>
              </a:rPr>
              <a:t>10</a:t>
            </a:r>
            <a:r>
              <a:rPr baseline="30000" lang="it" sz="1300">
                <a:solidFill>
                  <a:srgbClr val="FF0000"/>
                </a:solidFill>
              </a:rPr>
              <a:t>3</a:t>
            </a:r>
            <a:r>
              <a:rPr lang="it" sz="1300"/>
              <a:t> + </a:t>
            </a:r>
            <a:r>
              <a:rPr lang="it" sz="1300">
                <a:solidFill>
                  <a:srgbClr val="00FF00"/>
                </a:solidFill>
              </a:rPr>
              <a:t>6</a:t>
            </a:r>
            <a:r>
              <a:rPr lang="it" sz="1300"/>
              <a:t> x </a:t>
            </a:r>
            <a:r>
              <a:rPr lang="it" sz="1300">
                <a:solidFill>
                  <a:srgbClr val="00FF00"/>
                </a:solidFill>
              </a:rPr>
              <a:t>10</a:t>
            </a:r>
            <a:r>
              <a:rPr baseline="30000" lang="it" sz="1300">
                <a:solidFill>
                  <a:srgbClr val="00FF00"/>
                </a:solidFill>
              </a:rPr>
              <a:t>2</a:t>
            </a:r>
            <a:r>
              <a:rPr lang="it" sz="1300"/>
              <a:t> + </a:t>
            </a:r>
            <a:r>
              <a:rPr lang="it" sz="1300">
                <a:solidFill>
                  <a:srgbClr val="0000FF"/>
                </a:solidFill>
              </a:rPr>
              <a:t>8</a:t>
            </a:r>
            <a:r>
              <a:rPr lang="it" sz="1300"/>
              <a:t> x </a:t>
            </a:r>
            <a:r>
              <a:rPr lang="it" sz="1300">
                <a:solidFill>
                  <a:srgbClr val="0000FF"/>
                </a:solidFill>
              </a:rPr>
              <a:t>10</a:t>
            </a:r>
            <a:r>
              <a:rPr baseline="30000" lang="it" sz="1300">
                <a:solidFill>
                  <a:srgbClr val="0000FF"/>
                </a:solidFill>
              </a:rPr>
              <a:t>1</a:t>
            </a:r>
            <a:r>
              <a:rPr lang="it" sz="1300"/>
              <a:t> + </a:t>
            </a:r>
            <a:r>
              <a:rPr lang="it" sz="1300">
                <a:solidFill>
                  <a:srgbClr val="FF00FF"/>
                </a:solidFill>
              </a:rPr>
              <a:t>9</a:t>
            </a:r>
            <a:r>
              <a:rPr lang="it" sz="1300"/>
              <a:t> x </a:t>
            </a:r>
            <a:r>
              <a:rPr lang="it" sz="1300">
                <a:solidFill>
                  <a:srgbClr val="FF00FF"/>
                </a:solidFill>
              </a:rPr>
              <a:t>10</a:t>
            </a:r>
            <a:r>
              <a:rPr baseline="30000" lang="it" sz="1300">
                <a:solidFill>
                  <a:srgbClr val="FF00FF"/>
                </a:solidFill>
              </a:rPr>
              <a:t>0</a:t>
            </a:r>
            <a:r>
              <a:rPr lang="it" sz="1300"/>
              <a:t>  </a:t>
            </a:r>
            <a:endParaRPr sz="13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it" sz="1300"/>
              <a:t>Ogni numero è la somma dei prodotti di ciascuna cifra per la base 10 elevata all’esponente che rappresenta la posizione della cifra partendo con 0 da destra</a:t>
            </a:r>
            <a:endParaRPr sz="1300"/>
          </a:p>
        </p:txBody>
      </p:sp>
      <p:sp>
        <p:nvSpPr>
          <p:cNvPr id="380" name="Google Shape;38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sistemi di numerazione binaria, ottale e esadecimale</a:t>
            </a:r>
            <a:endParaRPr/>
          </a:p>
        </p:txBody>
      </p:sp>
      <p:sp>
        <p:nvSpPr>
          <p:cNvPr id="386" name="Google Shape;386;p4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notazione posizionale può essere usata con </a:t>
            </a:r>
            <a:r>
              <a:rPr b="1" lang="it" sz="1200"/>
              <a:t>qualunque base</a:t>
            </a:r>
            <a:r>
              <a:rPr lang="it" sz="1200"/>
              <a:t> (decimale, binaria, ottale, esadecimale) quindi con </a:t>
            </a:r>
            <a:r>
              <a:rPr b="1" lang="it" sz="1200"/>
              <a:t>differenti sistemi di numerazione</a:t>
            </a:r>
            <a:r>
              <a:rPr lang="it" sz="1200"/>
              <a:t>/</a:t>
            </a:r>
            <a:r>
              <a:rPr b="1" lang="it" sz="1200"/>
              <a:t>alfabeti</a:t>
            </a:r>
            <a:endParaRPr b="1"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ogni sistema di numerazione/alfabeto occorre utilizzare una base pari al suo numero di cifre/simboli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Sistema </a:t>
            </a:r>
            <a:r>
              <a:rPr lang="it" sz="1200">
                <a:solidFill>
                  <a:srgbClr val="FF0000"/>
                </a:solidFill>
              </a:rPr>
              <a:t>decimale </a:t>
            </a:r>
            <a:r>
              <a:rPr lang="it" sz="1200"/>
              <a:t> </a:t>
            </a:r>
            <a:r>
              <a:rPr lang="it" sz="1400">
                <a:solidFill>
                  <a:srgbClr val="000000"/>
                </a:solidFill>
              </a:rPr>
              <a:t>⇒</a:t>
            </a:r>
            <a:r>
              <a:rPr lang="it" sz="1200"/>
              <a:t> Alfabeto: {0,1,2,…,9}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b="1" lang="it" sz="1200">
                <a:solidFill>
                  <a:srgbClr val="FF0000"/>
                </a:solidFill>
              </a:rPr>
              <a:t>base 10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Sistema </a:t>
            </a:r>
            <a:r>
              <a:rPr lang="it" sz="1200">
                <a:solidFill>
                  <a:srgbClr val="0000FF"/>
                </a:solidFill>
              </a:rPr>
              <a:t>binario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lang="it" sz="1200"/>
              <a:t>Alfabeto: {0,1}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b="1" lang="it" sz="1200">
                <a:solidFill>
                  <a:srgbClr val="0000FF"/>
                </a:solidFill>
              </a:rPr>
              <a:t>base 2</a:t>
            </a:r>
            <a:endParaRPr sz="1200">
              <a:solidFill>
                <a:srgbClr val="0000FF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Sistema </a:t>
            </a:r>
            <a:r>
              <a:rPr lang="it" sz="1200">
                <a:solidFill>
                  <a:srgbClr val="00FF00"/>
                </a:solidFill>
              </a:rPr>
              <a:t>ottale</a:t>
            </a:r>
            <a:r>
              <a:rPr lang="it" sz="1200"/>
              <a:t>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lang="it" sz="1200"/>
              <a:t>Alfabeto: {0,1,2,…,7},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b="1" lang="it" sz="1200">
                <a:solidFill>
                  <a:srgbClr val="00FF00"/>
                </a:solidFill>
              </a:rPr>
              <a:t>base 8</a:t>
            </a:r>
            <a:endParaRPr sz="1200">
              <a:solidFill>
                <a:srgbClr val="00FF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Sistema </a:t>
            </a:r>
            <a:r>
              <a:rPr lang="it" sz="1200">
                <a:solidFill>
                  <a:srgbClr val="FF00FF"/>
                </a:solidFill>
              </a:rPr>
              <a:t>esadecimale</a:t>
            </a:r>
            <a:r>
              <a:rPr lang="it" sz="1200"/>
              <a:t>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lang="it" sz="1200"/>
              <a:t>Alfabeto: {0,1,2,…,9,A,B,…,F}, </a:t>
            </a:r>
            <a:r>
              <a:rPr lang="it" sz="1400">
                <a:solidFill>
                  <a:srgbClr val="000000"/>
                </a:solidFill>
              </a:rPr>
              <a:t>⇒ </a:t>
            </a:r>
            <a:r>
              <a:rPr b="1" lang="it" sz="1200">
                <a:solidFill>
                  <a:srgbClr val="FF00FF"/>
                </a:solidFill>
              </a:rPr>
              <a:t>base 16</a:t>
            </a:r>
            <a:endParaRPr sz="1200"/>
          </a:p>
        </p:txBody>
      </p:sp>
      <p:sp>
        <p:nvSpPr>
          <p:cNvPr id="387" name="Google Shape;38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</a:t>
            </a:r>
            <a:r>
              <a:rPr lang="it"/>
              <a:t>binario, ottale e esadecimale in decimale</a:t>
            </a:r>
            <a:endParaRPr/>
          </a:p>
        </p:txBody>
      </p:sp>
      <p:sp>
        <p:nvSpPr>
          <p:cNvPr id="393" name="Google Shape;393;p44"/>
          <p:cNvSpPr txBox="1"/>
          <p:nvPr>
            <p:ph idx="1" type="body"/>
          </p:nvPr>
        </p:nvSpPr>
        <p:spPr>
          <a:xfrm>
            <a:off x="311700" y="1382000"/>
            <a:ext cx="8520600" cy="351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sistema di numerazione binario (base 2) utilizza una notazione posizionale basata su 2 cifre (0 e 1) e sulle potenze di 2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(</a:t>
            </a:r>
            <a:r>
              <a:rPr lang="it" sz="1200">
                <a:solidFill>
                  <a:srgbClr val="FF00FF"/>
                </a:solidFill>
              </a:rPr>
              <a:t>1</a:t>
            </a:r>
            <a:r>
              <a:rPr lang="it" sz="1200">
                <a:solidFill>
                  <a:srgbClr val="0000FF"/>
                </a:solidFill>
              </a:rPr>
              <a:t>0</a:t>
            </a:r>
            <a:r>
              <a:rPr lang="it" sz="1200">
                <a:solidFill>
                  <a:srgbClr val="00FF00"/>
                </a:solidFill>
              </a:rPr>
              <a:t>1</a:t>
            </a:r>
            <a:r>
              <a:rPr lang="it" sz="1200">
                <a:solidFill>
                  <a:srgbClr val="FF0000"/>
                </a:solidFill>
              </a:rPr>
              <a:t>1</a:t>
            </a:r>
            <a:r>
              <a:rPr lang="it" sz="1200"/>
              <a:t>)</a:t>
            </a:r>
            <a:r>
              <a:rPr baseline="-25000" lang="it" sz="1200"/>
              <a:t>2</a:t>
            </a:r>
            <a:r>
              <a:rPr lang="it" sz="1200"/>
              <a:t> = </a:t>
            </a:r>
            <a:r>
              <a:rPr lang="it" sz="1200">
                <a:solidFill>
                  <a:srgbClr val="FF0000"/>
                </a:solidFill>
              </a:rPr>
              <a:t>1</a:t>
            </a:r>
            <a:r>
              <a:rPr lang="it" sz="1200"/>
              <a:t> x </a:t>
            </a:r>
            <a:r>
              <a:rPr lang="it" sz="1200">
                <a:solidFill>
                  <a:srgbClr val="FF0000"/>
                </a:solidFill>
              </a:rPr>
              <a:t>2</a:t>
            </a:r>
            <a:r>
              <a:rPr baseline="30000" lang="it" sz="1200">
                <a:solidFill>
                  <a:srgbClr val="FF0000"/>
                </a:solidFill>
              </a:rPr>
              <a:t>0</a:t>
            </a:r>
            <a:r>
              <a:rPr baseline="-25000" lang="it" sz="1200"/>
              <a:t> </a:t>
            </a:r>
            <a:r>
              <a:rPr lang="it" sz="1200"/>
              <a:t>+ </a:t>
            </a:r>
            <a:r>
              <a:rPr lang="it" sz="1200">
                <a:solidFill>
                  <a:srgbClr val="00FF00"/>
                </a:solidFill>
              </a:rPr>
              <a:t>1</a:t>
            </a:r>
            <a:r>
              <a:rPr lang="it" sz="1200"/>
              <a:t> x </a:t>
            </a:r>
            <a:r>
              <a:rPr lang="it" sz="1200">
                <a:solidFill>
                  <a:srgbClr val="00FF00"/>
                </a:solidFill>
              </a:rPr>
              <a:t>2</a:t>
            </a:r>
            <a:r>
              <a:rPr baseline="30000" lang="it" sz="1200">
                <a:solidFill>
                  <a:srgbClr val="00FF00"/>
                </a:solidFill>
              </a:rPr>
              <a:t>1</a:t>
            </a:r>
            <a:r>
              <a:rPr lang="it" sz="1200"/>
              <a:t> + </a:t>
            </a:r>
            <a:r>
              <a:rPr lang="it" sz="1200">
                <a:solidFill>
                  <a:srgbClr val="0000FF"/>
                </a:solidFill>
              </a:rPr>
              <a:t>0</a:t>
            </a:r>
            <a:r>
              <a:rPr lang="it" sz="1200"/>
              <a:t> x </a:t>
            </a:r>
            <a:r>
              <a:rPr lang="it" sz="1200">
                <a:solidFill>
                  <a:srgbClr val="0000FF"/>
                </a:solidFill>
              </a:rPr>
              <a:t>2</a:t>
            </a:r>
            <a:r>
              <a:rPr baseline="30000" lang="it" sz="1200">
                <a:solidFill>
                  <a:srgbClr val="0000FF"/>
                </a:solidFill>
              </a:rPr>
              <a:t>2</a:t>
            </a:r>
            <a:r>
              <a:rPr lang="it" sz="1200"/>
              <a:t> + </a:t>
            </a:r>
            <a:r>
              <a:rPr lang="it" sz="1200">
                <a:solidFill>
                  <a:srgbClr val="FF00FF"/>
                </a:solidFill>
              </a:rPr>
              <a:t>1</a:t>
            </a:r>
            <a:r>
              <a:rPr lang="it" sz="1200"/>
              <a:t> x </a:t>
            </a:r>
            <a:r>
              <a:rPr lang="it" sz="1200">
                <a:solidFill>
                  <a:srgbClr val="FF00FF"/>
                </a:solidFill>
              </a:rPr>
              <a:t>2</a:t>
            </a:r>
            <a:r>
              <a:rPr baseline="30000" lang="it" sz="1200">
                <a:solidFill>
                  <a:srgbClr val="FF00FF"/>
                </a:solidFill>
              </a:rPr>
              <a:t>3</a:t>
            </a:r>
            <a:r>
              <a:rPr lang="it" sz="1200">
                <a:solidFill>
                  <a:srgbClr val="FF00FF"/>
                </a:solidFill>
              </a:rPr>
              <a:t> </a:t>
            </a:r>
            <a:r>
              <a:rPr lang="it" sz="1200"/>
              <a:t>= (11)</a:t>
            </a:r>
            <a:r>
              <a:rPr baseline="-25000" lang="it" sz="1200"/>
              <a:t>10</a:t>
            </a:r>
            <a:endParaRPr sz="1200">
              <a:solidFill>
                <a:srgbClr val="FF00FF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sistema di numerazione ottale (base 8) utilizza una notazione posizionale basata su 8 cifre (0,…,7) e sulle potenze di 8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(</a:t>
            </a:r>
            <a:r>
              <a:rPr lang="it" sz="1200">
                <a:solidFill>
                  <a:srgbClr val="FF00FF"/>
                </a:solidFill>
              </a:rPr>
              <a:t>2</a:t>
            </a:r>
            <a:r>
              <a:rPr lang="it" sz="1200">
                <a:solidFill>
                  <a:srgbClr val="0000FF"/>
                </a:solidFill>
              </a:rPr>
              <a:t>0</a:t>
            </a:r>
            <a:r>
              <a:rPr lang="it" sz="1200">
                <a:solidFill>
                  <a:srgbClr val="00FF00"/>
                </a:solidFill>
              </a:rPr>
              <a:t>5</a:t>
            </a:r>
            <a:r>
              <a:rPr lang="it" sz="1200">
                <a:solidFill>
                  <a:srgbClr val="FF0000"/>
                </a:solidFill>
              </a:rPr>
              <a:t>1</a:t>
            </a:r>
            <a:r>
              <a:rPr lang="it" sz="1200"/>
              <a:t>)</a:t>
            </a:r>
            <a:r>
              <a:rPr baseline="-25000" lang="it" sz="1200"/>
              <a:t>8</a:t>
            </a:r>
            <a:r>
              <a:rPr lang="it" sz="1200"/>
              <a:t> = </a:t>
            </a:r>
            <a:r>
              <a:rPr lang="it" sz="1200">
                <a:solidFill>
                  <a:srgbClr val="FF0000"/>
                </a:solidFill>
              </a:rPr>
              <a:t>1</a:t>
            </a:r>
            <a:r>
              <a:rPr lang="it" sz="1200"/>
              <a:t> x </a:t>
            </a:r>
            <a:r>
              <a:rPr lang="it" sz="1200">
                <a:solidFill>
                  <a:srgbClr val="FF0000"/>
                </a:solidFill>
              </a:rPr>
              <a:t>8</a:t>
            </a:r>
            <a:r>
              <a:rPr baseline="30000" lang="it" sz="1200">
                <a:solidFill>
                  <a:srgbClr val="FF0000"/>
                </a:solidFill>
              </a:rPr>
              <a:t>0</a:t>
            </a:r>
            <a:r>
              <a:rPr baseline="-25000" lang="it" sz="1200"/>
              <a:t> </a:t>
            </a:r>
            <a:r>
              <a:rPr lang="it" sz="1200"/>
              <a:t>+ </a:t>
            </a:r>
            <a:r>
              <a:rPr lang="it" sz="1200">
                <a:solidFill>
                  <a:srgbClr val="00FF00"/>
                </a:solidFill>
              </a:rPr>
              <a:t>5</a:t>
            </a:r>
            <a:r>
              <a:rPr lang="it" sz="1200"/>
              <a:t> x </a:t>
            </a:r>
            <a:r>
              <a:rPr lang="it" sz="1200">
                <a:solidFill>
                  <a:srgbClr val="00FF00"/>
                </a:solidFill>
              </a:rPr>
              <a:t>8</a:t>
            </a:r>
            <a:r>
              <a:rPr baseline="30000" lang="it" sz="1200">
                <a:solidFill>
                  <a:srgbClr val="00FF00"/>
                </a:solidFill>
              </a:rPr>
              <a:t>1</a:t>
            </a:r>
            <a:r>
              <a:rPr lang="it" sz="1200"/>
              <a:t> + </a:t>
            </a:r>
            <a:r>
              <a:rPr lang="it" sz="1200">
                <a:solidFill>
                  <a:srgbClr val="0000FF"/>
                </a:solidFill>
              </a:rPr>
              <a:t>0</a:t>
            </a:r>
            <a:r>
              <a:rPr lang="it" sz="1200"/>
              <a:t> x </a:t>
            </a:r>
            <a:r>
              <a:rPr lang="it" sz="1200">
                <a:solidFill>
                  <a:srgbClr val="0000FF"/>
                </a:solidFill>
              </a:rPr>
              <a:t>8</a:t>
            </a:r>
            <a:r>
              <a:rPr baseline="30000" lang="it" sz="1200">
                <a:solidFill>
                  <a:srgbClr val="0000FF"/>
                </a:solidFill>
              </a:rPr>
              <a:t>2</a:t>
            </a:r>
            <a:r>
              <a:rPr lang="it" sz="1200"/>
              <a:t> + </a:t>
            </a:r>
            <a:r>
              <a:rPr lang="it" sz="1200">
                <a:solidFill>
                  <a:srgbClr val="FF00FF"/>
                </a:solidFill>
              </a:rPr>
              <a:t>2</a:t>
            </a:r>
            <a:r>
              <a:rPr lang="it" sz="1200"/>
              <a:t> x </a:t>
            </a:r>
            <a:r>
              <a:rPr lang="it" sz="1200">
                <a:solidFill>
                  <a:srgbClr val="FF00FF"/>
                </a:solidFill>
              </a:rPr>
              <a:t>8</a:t>
            </a:r>
            <a:r>
              <a:rPr baseline="30000" lang="it" sz="1200">
                <a:solidFill>
                  <a:srgbClr val="FF00FF"/>
                </a:solidFill>
              </a:rPr>
              <a:t>3</a:t>
            </a:r>
            <a:r>
              <a:rPr lang="it" sz="1200">
                <a:solidFill>
                  <a:srgbClr val="FF00FF"/>
                </a:solidFill>
              </a:rPr>
              <a:t> </a:t>
            </a:r>
            <a:r>
              <a:rPr lang="it" sz="1200"/>
              <a:t>= (1065)</a:t>
            </a:r>
            <a:r>
              <a:rPr baseline="-25000" lang="it" sz="1200"/>
              <a:t>10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sistema di numerazione esadecimale (base 16) utilizza una notazione posizionale basata su 16 cifre (0,…,9,A</a:t>
            </a:r>
            <a:r>
              <a:rPr baseline="-25000" lang="it" sz="1200"/>
              <a:t>(10)</a:t>
            </a:r>
            <a:r>
              <a:rPr lang="it" sz="1200"/>
              <a:t>,…,F</a:t>
            </a:r>
            <a:r>
              <a:rPr baseline="-25000" lang="it" sz="1200"/>
              <a:t>(15)</a:t>
            </a:r>
            <a:r>
              <a:rPr lang="it" sz="1200"/>
              <a:t>) e sulle potenze di 16 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La lettere assumono i valori: A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 sz="1200"/>
              <a:t>10, B </a:t>
            </a:r>
            <a:r>
              <a:rPr lang="it">
                <a:solidFill>
                  <a:srgbClr val="000000"/>
                </a:solidFill>
              </a:rPr>
              <a:t>⇒</a:t>
            </a:r>
            <a:r>
              <a:rPr lang="it" sz="1200"/>
              <a:t> 11, C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 sz="1200"/>
              <a:t>12, D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 sz="1200"/>
              <a:t>13, E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 sz="1200"/>
              <a:t>14, F </a:t>
            </a:r>
            <a:r>
              <a:rPr lang="it">
                <a:solidFill>
                  <a:srgbClr val="000000"/>
                </a:solidFill>
              </a:rPr>
              <a:t>⇒ </a:t>
            </a:r>
            <a:r>
              <a:rPr lang="it" sz="1200"/>
              <a:t>15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(</a:t>
            </a:r>
            <a:r>
              <a:rPr lang="it" sz="1200">
                <a:solidFill>
                  <a:srgbClr val="FF00FF"/>
                </a:solidFill>
              </a:rPr>
              <a:t>1</a:t>
            </a:r>
            <a:r>
              <a:rPr lang="it" sz="1200">
                <a:solidFill>
                  <a:srgbClr val="0000FF"/>
                </a:solidFill>
              </a:rPr>
              <a:t>8</a:t>
            </a:r>
            <a:r>
              <a:rPr lang="it" sz="1200">
                <a:solidFill>
                  <a:srgbClr val="00FF00"/>
                </a:solidFill>
              </a:rPr>
              <a:t>0</a:t>
            </a:r>
            <a:r>
              <a:rPr lang="it" sz="1200">
                <a:solidFill>
                  <a:srgbClr val="FF0000"/>
                </a:solidFill>
              </a:rPr>
              <a:t>A</a:t>
            </a:r>
            <a:r>
              <a:rPr lang="it" sz="1200"/>
              <a:t>)</a:t>
            </a:r>
            <a:r>
              <a:rPr baseline="-25000" lang="it" sz="1200"/>
              <a:t>16/hx</a:t>
            </a:r>
            <a:r>
              <a:rPr lang="it" sz="1200"/>
              <a:t> = </a:t>
            </a:r>
            <a:r>
              <a:rPr lang="it" sz="1200">
                <a:solidFill>
                  <a:srgbClr val="FF0000"/>
                </a:solidFill>
              </a:rPr>
              <a:t>A</a:t>
            </a:r>
            <a:r>
              <a:rPr baseline="-25000" lang="it" sz="1200">
                <a:solidFill>
                  <a:srgbClr val="FF0000"/>
                </a:solidFill>
              </a:rPr>
              <a:t>(10)</a:t>
            </a:r>
            <a:r>
              <a:rPr lang="it" sz="1200"/>
              <a:t> x </a:t>
            </a:r>
            <a:r>
              <a:rPr lang="it" sz="1200">
                <a:solidFill>
                  <a:srgbClr val="FF0000"/>
                </a:solidFill>
              </a:rPr>
              <a:t>16</a:t>
            </a:r>
            <a:r>
              <a:rPr baseline="30000" lang="it" sz="1200">
                <a:solidFill>
                  <a:srgbClr val="FF0000"/>
                </a:solidFill>
              </a:rPr>
              <a:t>0</a:t>
            </a:r>
            <a:r>
              <a:rPr baseline="-25000" lang="it" sz="1200"/>
              <a:t> </a:t>
            </a:r>
            <a:r>
              <a:rPr lang="it" sz="1200"/>
              <a:t>+ </a:t>
            </a:r>
            <a:r>
              <a:rPr lang="it" sz="1200">
                <a:solidFill>
                  <a:srgbClr val="00FF00"/>
                </a:solidFill>
              </a:rPr>
              <a:t>0</a:t>
            </a:r>
            <a:r>
              <a:rPr lang="it" sz="1200"/>
              <a:t> x </a:t>
            </a:r>
            <a:r>
              <a:rPr lang="it" sz="1200">
                <a:solidFill>
                  <a:srgbClr val="00FF00"/>
                </a:solidFill>
              </a:rPr>
              <a:t>16</a:t>
            </a:r>
            <a:r>
              <a:rPr baseline="30000" lang="it" sz="1200">
                <a:solidFill>
                  <a:srgbClr val="00FF00"/>
                </a:solidFill>
              </a:rPr>
              <a:t>1</a:t>
            </a:r>
            <a:r>
              <a:rPr lang="it" sz="1200"/>
              <a:t> + </a:t>
            </a:r>
            <a:r>
              <a:rPr lang="it" sz="1200">
                <a:solidFill>
                  <a:srgbClr val="0000FF"/>
                </a:solidFill>
              </a:rPr>
              <a:t>8</a:t>
            </a:r>
            <a:r>
              <a:rPr lang="it" sz="1200"/>
              <a:t> x </a:t>
            </a:r>
            <a:r>
              <a:rPr lang="it" sz="1200">
                <a:solidFill>
                  <a:srgbClr val="0000FF"/>
                </a:solidFill>
              </a:rPr>
              <a:t>16</a:t>
            </a:r>
            <a:r>
              <a:rPr baseline="30000" lang="it" sz="1200">
                <a:solidFill>
                  <a:srgbClr val="0000FF"/>
                </a:solidFill>
              </a:rPr>
              <a:t>2</a:t>
            </a:r>
            <a:r>
              <a:rPr lang="it" sz="1200"/>
              <a:t> + </a:t>
            </a:r>
            <a:r>
              <a:rPr lang="it" sz="1200">
                <a:solidFill>
                  <a:srgbClr val="FF00FF"/>
                </a:solidFill>
              </a:rPr>
              <a:t>1</a:t>
            </a:r>
            <a:r>
              <a:rPr lang="it" sz="1200"/>
              <a:t> x </a:t>
            </a:r>
            <a:r>
              <a:rPr lang="it" sz="1200">
                <a:solidFill>
                  <a:srgbClr val="FF00FF"/>
                </a:solidFill>
              </a:rPr>
              <a:t>16</a:t>
            </a:r>
            <a:r>
              <a:rPr baseline="30000" lang="it" sz="1200">
                <a:solidFill>
                  <a:srgbClr val="FF00FF"/>
                </a:solidFill>
              </a:rPr>
              <a:t>3</a:t>
            </a:r>
            <a:r>
              <a:rPr lang="it" sz="1200">
                <a:solidFill>
                  <a:srgbClr val="FF00FF"/>
                </a:solidFill>
              </a:rPr>
              <a:t> </a:t>
            </a:r>
            <a:r>
              <a:rPr lang="it" sz="1200"/>
              <a:t>= (6154)</a:t>
            </a:r>
            <a:r>
              <a:rPr baseline="-25000" lang="it" sz="1200"/>
              <a:t>10</a:t>
            </a:r>
            <a:endParaRPr baseline="-25000"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it" sz="1200">
                <a:solidFill>
                  <a:srgbClr val="FF9900"/>
                </a:solidFill>
              </a:rPr>
              <a:t>Per convertire un numero binario/ottale/esadecimale in decimale è necessario rappresentarlo esplicitamente, ovvero attraverso la notazione esponenziale</a:t>
            </a:r>
            <a:endParaRPr b="1" sz="1200">
              <a:solidFill>
                <a:srgbClr val="FF9900"/>
              </a:solidFill>
            </a:endParaRPr>
          </a:p>
        </p:txBody>
      </p:sp>
      <p:sp>
        <p:nvSpPr>
          <p:cNvPr id="394" name="Google Shape;39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Esercizi</a:t>
            </a:r>
            <a:endParaRPr/>
          </a:p>
        </p:txBody>
      </p:sp>
      <p:sp>
        <p:nvSpPr>
          <p:cNvPr id="400" name="Google Shape;400;p4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Convertire da binario a decimale i seguenti numeri: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(10101010)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baseline="-25000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(00100011)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(00000101)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(10010110)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(01111101)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(11001100)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(11011101)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it" sz="1600"/>
              <a:t>(01010101)</a:t>
            </a:r>
            <a:r>
              <a:rPr baseline="-25000" lang="it" sz="1600"/>
              <a:t>2</a:t>
            </a:r>
            <a:r>
              <a:rPr lang="it" sz="1600"/>
              <a:t> = ( )</a:t>
            </a:r>
            <a:r>
              <a:rPr baseline="-25000" lang="it" sz="1600"/>
              <a:t>10</a:t>
            </a:r>
            <a:endParaRPr sz="1600"/>
          </a:p>
        </p:txBody>
      </p:sp>
      <p:sp>
        <p:nvSpPr>
          <p:cNvPr id="401" name="Google Shape;401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02" name="Google Shape;40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72898" y="220250"/>
            <a:ext cx="2048249" cy="17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Quesiti</a:t>
            </a:r>
            <a:endParaRPr/>
          </a:p>
        </p:txBody>
      </p:sp>
      <p:sp>
        <p:nvSpPr>
          <p:cNvPr id="408" name="Google Shape;408;p4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Cosa permette di capire, senza eseguire preventivamente la conversione, se un numero binario è sicuramente dispari?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Cosa permette di capire, senza eseguire preventivamente la conversione, se un numero binario è sicuramente pari?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AutoNum type="arabicPeriod"/>
            </a:pPr>
            <a:r>
              <a:rPr lang="it" sz="1400"/>
              <a:t>Sarebbe possibile ripetere l’attività per la conversione in ottale?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AutoNum type="arabicPeriod"/>
            </a:pPr>
            <a:r>
              <a:rPr lang="it" sz="1400"/>
              <a:t>Sarebbe possibile ripetere l’attività per la conversione in esadecimale?</a:t>
            </a:r>
            <a:endParaRPr sz="1400"/>
          </a:p>
        </p:txBody>
      </p:sp>
      <p:sp>
        <p:nvSpPr>
          <p:cNvPr id="409" name="Google Shape;40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10" name="Google Shape;410;p46"/>
          <p:cNvPicPr preferRelativeResize="0"/>
          <p:nvPr/>
        </p:nvPicPr>
        <p:blipFill rotWithShape="1">
          <a:blip r:embed="rId3">
            <a:alphaModFix/>
          </a:blip>
          <a:srcRect b="0" l="2400" r="0" t="0"/>
          <a:stretch/>
        </p:blipFill>
        <p:spPr>
          <a:xfrm>
            <a:off x="6399300" y="91700"/>
            <a:ext cx="2692175" cy="11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7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3000"/>
              <a:t>Conversioni binario/ottale/ esadecimale - </a:t>
            </a:r>
            <a:r>
              <a:rPr lang="it" sz="3000"/>
              <a:t>decimale</a:t>
            </a:r>
            <a:endParaRPr/>
          </a:p>
        </p:txBody>
      </p:sp>
      <p:sp>
        <p:nvSpPr>
          <p:cNvPr id="416" name="Google Shape;41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decimale - binario</a:t>
            </a:r>
            <a:endParaRPr/>
          </a:p>
        </p:txBody>
      </p:sp>
      <p:sp>
        <p:nvSpPr>
          <p:cNvPr id="422" name="Google Shape;422;p48"/>
          <p:cNvSpPr txBox="1"/>
          <p:nvPr>
            <p:ph idx="1" type="body"/>
          </p:nvPr>
        </p:nvSpPr>
        <p:spPr>
          <a:xfrm>
            <a:off x="311700" y="1468825"/>
            <a:ext cx="4966800" cy="33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convertire il numero 243 in binario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convertire un numero decimale in binario occorre: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trovare tutti i resti delle successive divisioni del numero per la base 2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leggere la sequenza dei resti dal basso verso l'alto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Quindi (243)</a:t>
            </a:r>
            <a:r>
              <a:rPr baseline="-25000" lang="it" sz="1200"/>
              <a:t>10</a:t>
            </a:r>
            <a:r>
              <a:rPr lang="it" sz="1200"/>
              <a:t> = (11110011)</a:t>
            </a:r>
            <a:r>
              <a:rPr baseline="-25000" lang="it" sz="1200"/>
              <a:t>2</a:t>
            </a:r>
            <a:endParaRPr baseline="-25000"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it" sz="1200"/>
              <a:t>In generale, per convertire un numero decimale a una base n qualsiasi, occorre trovare tutti i resti delle successive divisioni del numero per la base n</a:t>
            </a:r>
            <a:endParaRPr sz="1200"/>
          </a:p>
        </p:txBody>
      </p:sp>
      <p:sp>
        <p:nvSpPr>
          <p:cNvPr id="423" name="Google Shape;423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24" name="Google Shape;424;p48"/>
          <p:cNvGraphicFramePr/>
          <p:nvPr/>
        </p:nvGraphicFramePr>
        <p:xfrm>
          <a:off x="5718000" y="1557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71525"/>
                <a:gridCol w="554225"/>
              </a:tblGrid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Quoziente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Resto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243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15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25" name="Google Shape;425;p48"/>
          <p:cNvCxnSpPr/>
          <p:nvPr/>
        </p:nvCxnSpPr>
        <p:spPr>
          <a:xfrm rot="10800000">
            <a:off x="7410425" y="2047475"/>
            <a:ext cx="0" cy="2676000"/>
          </a:xfrm>
          <a:prstGeom prst="straightConnector1">
            <a:avLst/>
          </a:prstGeom>
          <a:noFill/>
          <a:ln cap="flat" cmpd="sng" w="19050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6" name="Google Shape;426;p48"/>
          <p:cNvSpPr txBox="1"/>
          <p:nvPr/>
        </p:nvSpPr>
        <p:spPr>
          <a:xfrm>
            <a:off x="7577100" y="2605375"/>
            <a:ext cx="1061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99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Leggere sempre i resti dal basso verso l’alto</a:t>
            </a:r>
            <a:endParaRPr sz="1100">
              <a:solidFill>
                <a:srgbClr val="99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decimale - ottale, decimale - esadecimale</a:t>
            </a:r>
            <a:endParaRPr/>
          </a:p>
        </p:txBody>
      </p:sp>
      <p:sp>
        <p:nvSpPr>
          <p:cNvPr id="432" name="Google Shape;432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33" name="Google Shape;433;p49"/>
          <p:cNvGraphicFramePr/>
          <p:nvPr/>
        </p:nvGraphicFramePr>
        <p:xfrm>
          <a:off x="402150" y="1423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71525"/>
                <a:gridCol w="554225"/>
              </a:tblGrid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Quoziente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Resto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243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15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34" name="Google Shape;434;p49"/>
          <p:cNvCxnSpPr/>
          <p:nvPr/>
        </p:nvCxnSpPr>
        <p:spPr>
          <a:xfrm rot="10800000">
            <a:off x="2094575" y="1913225"/>
            <a:ext cx="0" cy="26760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49"/>
          <p:cNvSpPr txBox="1"/>
          <p:nvPr/>
        </p:nvSpPr>
        <p:spPr>
          <a:xfrm>
            <a:off x="2261250" y="2471125"/>
            <a:ext cx="1061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Leggere sempre i resti dal basso verso l’alto</a:t>
            </a:r>
            <a:endParaRPr sz="11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36" name="Google Shape;436;p49"/>
          <p:cNvSpPr txBox="1"/>
          <p:nvPr/>
        </p:nvSpPr>
        <p:spPr>
          <a:xfrm>
            <a:off x="634050" y="4663225"/>
            <a:ext cx="152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Binario</a:t>
            </a:r>
            <a:endParaRPr b="1" sz="12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37" name="Google Shape;437;p49"/>
          <p:cNvGraphicFramePr/>
          <p:nvPr/>
        </p:nvGraphicFramePr>
        <p:xfrm>
          <a:off x="3322650" y="143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71525"/>
                <a:gridCol w="554225"/>
              </a:tblGrid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Quoziente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Resto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243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38" name="Google Shape;438;p49"/>
          <p:cNvCxnSpPr/>
          <p:nvPr/>
        </p:nvCxnSpPr>
        <p:spPr>
          <a:xfrm flipH="1" rot="10800000">
            <a:off x="5006475" y="1924300"/>
            <a:ext cx="8700" cy="955500"/>
          </a:xfrm>
          <a:prstGeom prst="straightConnector1">
            <a:avLst/>
          </a:prstGeom>
          <a:noFill/>
          <a:ln cap="flat" cmpd="sng" w="19050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9" name="Google Shape;439;p49"/>
          <p:cNvSpPr txBox="1"/>
          <p:nvPr/>
        </p:nvSpPr>
        <p:spPr>
          <a:xfrm>
            <a:off x="5173250" y="2036550"/>
            <a:ext cx="1061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Leggere sempre i resti dal basso verso l’alto</a:t>
            </a:r>
            <a:endParaRPr sz="110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40" name="Google Shape;440;p49"/>
          <p:cNvSpPr txBox="1"/>
          <p:nvPr/>
        </p:nvSpPr>
        <p:spPr>
          <a:xfrm>
            <a:off x="3489325" y="3186625"/>
            <a:ext cx="152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Ottale</a:t>
            </a:r>
            <a:endParaRPr b="1" sz="1200">
              <a:solidFill>
                <a:srgbClr val="0000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441" name="Google Shape;441;p49"/>
          <p:cNvGraphicFramePr/>
          <p:nvPr/>
        </p:nvGraphicFramePr>
        <p:xfrm>
          <a:off x="6076475" y="143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71525"/>
                <a:gridCol w="554225"/>
              </a:tblGrid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Quoziente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Resto</a:t>
                      </a:r>
                      <a:endParaRPr b="1"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243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15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5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9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15</a:t>
                      </a:r>
                      <a:endParaRPr sz="9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442" name="Google Shape;442;p49"/>
          <p:cNvCxnSpPr/>
          <p:nvPr/>
        </p:nvCxnSpPr>
        <p:spPr>
          <a:xfrm rot="10800000">
            <a:off x="7768850" y="1924325"/>
            <a:ext cx="13500" cy="6924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3" name="Google Shape;443;p49"/>
          <p:cNvSpPr txBox="1"/>
          <p:nvPr/>
        </p:nvSpPr>
        <p:spPr>
          <a:xfrm>
            <a:off x="7948975" y="1866850"/>
            <a:ext cx="1061400" cy="10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Leggere sempre i resti dal basso verso l’alto</a:t>
            </a:r>
            <a:endParaRPr sz="11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44" name="Google Shape;444;p49"/>
          <p:cNvSpPr txBox="1"/>
          <p:nvPr/>
        </p:nvSpPr>
        <p:spPr>
          <a:xfrm>
            <a:off x="6243150" y="3031650"/>
            <a:ext cx="1525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Esadecimale</a:t>
            </a:r>
            <a:endParaRPr b="1" sz="12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445" name="Google Shape;445;p49"/>
          <p:cNvSpPr txBox="1"/>
          <p:nvPr/>
        </p:nvSpPr>
        <p:spPr>
          <a:xfrm>
            <a:off x="3637875" y="3747525"/>
            <a:ext cx="4408800" cy="100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(243)</a:t>
            </a:r>
            <a:r>
              <a:rPr b="1" baseline="-25000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</a:t>
            </a:r>
            <a:r>
              <a:rPr b="1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= </a:t>
            </a:r>
            <a:r>
              <a:rPr b="1"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(11110011)</a:t>
            </a:r>
            <a:r>
              <a:rPr b="1" baseline="-25000"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b="1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</a:t>
            </a:r>
            <a:r>
              <a:rPr b="1" lang="it" sz="12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(363)</a:t>
            </a:r>
            <a:r>
              <a:rPr b="1" baseline="-25000" lang="it" sz="1200">
                <a:solidFill>
                  <a:srgbClr val="0000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</a:t>
            </a:r>
            <a:r>
              <a:rPr b="1" baseline="-25000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r>
              <a:rPr b="1"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= </a:t>
            </a:r>
            <a:r>
              <a:rPr b="1" lang="it" sz="12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(F3)</a:t>
            </a:r>
            <a:r>
              <a:rPr b="1" baseline="-25000" lang="it" sz="12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16</a:t>
            </a:r>
            <a:endParaRPr b="1" sz="12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Massimo numero rappresentabile</a:t>
            </a:r>
            <a:endParaRPr/>
          </a:p>
        </p:txBody>
      </p:sp>
      <p:sp>
        <p:nvSpPr>
          <p:cNvPr id="451" name="Google Shape;451;p5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Supponiamo di avere 3 cifre a disposizione, qual è il più grande numero rappresentabile?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10: 	999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2: 	111 	(7)</a:t>
            </a:r>
            <a:r>
              <a:rPr baseline="-25000" lang="it" sz="1200"/>
              <a:t>10</a:t>
            </a:r>
            <a:endParaRPr baseline="-25000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8: 	777 	(511)</a:t>
            </a:r>
            <a:r>
              <a:rPr baseline="-25000" lang="it" sz="1200"/>
              <a:t>10</a:t>
            </a:r>
            <a:endParaRPr baseline="-25000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16: 	FFF	(4095)</a:t>
            </a:r>
            <a:r>
              <a:rPr baseline="-25000" lang="it" sz="1200"/>
              <a:t>10</a:t>
            </a:r>
            <a:endParaRPr baseline="-25000" sz="1200"/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Con n cifre a disposizione e base b, il più grande numero (intero positivo) rappresentabile si può esprimere come: </a:t>
            </a:r>
            <a:r>
              <a:rPr b="1" lang="it" sz="1200">
                <a:solidFill>
                  <a:srgbClr val="FF0000"/>
                </a:solidFill>
              </a:rPr>
              <a:t>b</a:t>
            </a:r>
            <a:r>
              <a:rPr b="1" baseline="30000" lang="it" sz="1200">
                <a:solidFill>
                  <a:srgbClr val="FF0000"/>
                </a:solidFill>
              </a:rPr>
              <a:t>n</a:t>
            </a:r>
            <a:r>
              <a:rPr b="1" lang="it" sz="1200">
                <a:solidFill>
                  <a:srgbClr val="FF0000"/>
                </a:solidFill>
              </a:rPr>
              <a:t> – 1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10: 	999				10</a:t>
            </a:r>
            <a:r>
              <a:rPr baseline="30000" lang="it" sz="1200"/>
              <a:t>3</a:t>
            </a:r>
            <a:r>
              <a:rPr lang="it" sz="1200"/>
              <a:t> - 1 = 		1000 - 1 = 	999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2: 	111 	(7)</a:t>
            </a:r>
            <a:r>
              <a:rPr baseline="-25000" lang="it" sz="1200"/>
              <a:t>10			</a:t>
            </a:r>
            <a:r>
              <a:rPr lang="it" sz="1200"/>
              <a:t>2</a:t>
            </a:r>
            <a:r>
              <a:rPr baseline="30000" lang="it" sz="1200"/>
              <a:t>3</a:t>
            </a:r>
            <a:r>
              <a:rPr lang="it" sz="1200"/>
              <a:t> - 1 = 		8 - 1 = 		7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base 8: 	777 	(511)</a:t>
            </a:r>
            <a:r>
              <a:rPr baseline="-25000" lang="it" sz="1200"/>
              <a:t>10</a:t>
            </a:r>
            <a:r>
              <a:rPr lang="it" sz="1200"/>
              <a:t>		8</a:t>
            </a:r>
            <a:r>
              <a:rPr baseline="30000" lang="it" sz="1200"/>
              <a:t>3</a:t>
            </a:r>
            <a:r>
              <a:rPr lang="it" sz="1200"/>
              <a:t> - 1 = 		512 - 1 = 	511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base 16: 	FFF	(4095)</a:t>
            </a:r>
            <a:r>
              <a:rPr baseline="-25000" lang="it" sz="1200"/>
              <a:t>10</a:t>
            </a:r>
            <a:r>
              <a:rPr lang="it" sz="1200"/>
              <a:t> 		16</a:t>
            </a:r>
            <a:r>
              <a:rPr baseline="30000" lang="it" sz="1200"/>
              <a:t>3</a:t>
            </a:r>
            <a:r>
              <a:rPr lang="it" sz="1200"/>
              <a:t> - 1 = 		4096 - 1 = 	4095</a:t>
            </a:r>
            <a:endParaRPr sz="1200"/>
          </a:p>
        </p:txBody>
      </p:sp>
      <p:sp>
        <p:nvSpPr>
          <p:cNvPr id="452" name="Google Shape;452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5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numeri interi positivi in binario</a:t>
            </a:r>
            <a:endParaRPr/>
          </a:p>
        </p:txBody>
      </p:sp>
      <p:sp>
        <p:nvSpPr>
          <p:cNvPr id="458" name="Google Shape;458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59" name="Google Shape;459;p51"/>
          <p:cNvGraphicFramePr/>
          <p:nvPr/>
        </p:nvGraphicFramePr>
        <p:xfrm>
          <a:off x="907125" y="139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413000"/>
                <a:gridCol w="2413000"/>
                <a:gridCol w="241300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bit n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Informazioni rappresentabili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Numeri rappresentabili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="1"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31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63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127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3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256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255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Quesiti</a:t>
            </a:r>
            <a:endParaRPr/>
          </a:p>
        </p:txBody>
      </p:sp>
      <p:sp>
        <p:nvSpPr>
          <p:cNvPr id="465" name="Google Shape;465;p5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it" sz="1200"/>
              <a:t>Senza eseguire preventivamente la conversione, quale fra i seguenti numeri è sicuramente la conversione decimale del numero binario (1010)</a:t>
            </a:r>
            <a:r>
              <a:rPr baseline="-25000" lang="it" sz="1200"/>
              <a:t>2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6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9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10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AutoNum type="arabicPeriod"/>
            </a:pPr>
            <a:r>
              <a:rPr lang="it" sz="1200"/>
              <a:t>Senza eseguire preventivamente la conversione, quale fra i seguenti numeri è sicuramente la conversione decimale del numero binario (100011)</a:t>
            </a:r>
            <a:r>
              <a:rPr baseline="-25000" lang="it" sz="1200"/>
              <a:t>2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34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31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AutoNum type="alphaLcPeriod"/>
            </a:pPr>
            <a:r>
              <a:rPr lang="it" sz="1200"/>
              <a:t>35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AutoNum type="arabicPeriod"/>
            </a:pPr>
            <a:r>
              <a:rPr lang="it" sz="1200" u="sng">
                <a:solidFill>
                  <a:schemeClr val="hlink"/>
                </a:solidFill>
                <a:hlinkClick r:id="rId3"/>
              </a:rPr>
              <a:t>Video</a:t>
            </a:r>
            <a:endParaRPr sz="1200"/>
          </a:p>
        </p:txBody>
      </p:sp>
      <p:sp>
        <p:nvSpPr>
          <p:cNvPr id="466" name="Google Shape;466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467" name="Google Shape;467;p52"/>
          <p:cNvPicPr preferRelativeResize="0"/>
          <p:nvPr/>
        </p:nvPicPr>
        <p:blipFill rotWithShape="1">
          <a:blip r:embed="rId4">
            <a:alphaModFix/>
          </a:blip>
          <a:srcRect b="0" l="2400" r="0" t="0"/>
          <a:stretch/>
        </p:blipFill>
        <p:spPr>
          <a:xfrm>
            <a:off x="6399300" y="91700"/>
            <a:ext cx="2692175" cy="118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Riassumendo … </a:t>
            </a:r>
            <a:endParaRPr/>
          </a:p>
        </p:txBody>
      </p:sp>
      <p:sp>
        <p:nvSpPr>
          <p:cNvPr id="473" name="Google Shape;473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74" name="Google Shape;474;p53"/>
          <p:cNvGraphicFramePr/>
          <p:nvPr/>
        </p:nvGraphicFramePr>
        <p:xfrm>
          <a:off x="952500" y="1695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413000"/>
                <a:gridCol w="1868725"/>
                <a:gridCol w="29572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bit n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Numeri rappresentabili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2n-1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27B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Tavola ASCII su 7 bit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127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Tavola ASCII su 8 bit 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255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Tavola UNICODE su 16 bit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65.535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Processore a 32 bit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4.294.967.295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Processore a 64 bit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64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18.446.744.073.709.551.615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EAD1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Per comodità … </a:t>
            </a:r>
            <a:endParaRPr/>
          </a:p>
        </p:txBody>
      </p:sp>
      <p:sp>
        <p:nvSpPr>
          <p:cNvPr id="480" name="Google Shape;480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81" name="Google Shape;481;p54"/>
          <p:cNvGraphicFramePr/>
          <p:nvPr/>
        </p:nvGraphicFramePr>
        <p:xfrm>
          <a:off x="252175" y="14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333500"/>
                <a:gridCol w="133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Ottale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Binario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9CB9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CE5C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2" name="Google Shape;482;p54"/>
          <p:cNvGraphicFramePr/>
          <p:nvPr/>
        </p:nvGraphicFramePr>
        <p:xfrm>
          <a:off x="3378200" y="14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333500"/>
                <a:gridCol w="133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Esadecimale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Binario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3" name="Google Shape;483;p54"/>
          <p:cNvGraphicFramePr/>
          <p:nvPr/>
        </p:nvGraphicFramePr>
        <p:xfrm>
          <a:off x="6219375" y="149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333500"/>
                <a:gridCol w="1333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Esadecimale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Binario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 (A)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 (B)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 (C)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13 (D)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14 (E)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15 (F)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  <p:sp>
        <p:nvSpPr>
          <p:cNvPr id="484" name="Google Shape;484;p54"/>
          <p:cNvSpPr/>
          <p:nvPr/>
        </p:nvSpPr>
        <p:spPr>
          <a:xfrm>
            <a:off x="4671800" y="1001000"/>
            <a:ext cx="3075300" cy="491100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D2E9"/>
          </a:solidFill>
          <a:ln cap="flat" cmpd="sng" w="9525">
            <a:solidFill>
              <a:srgbClr val="99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ottale - binario </a:t>
            </a:r>
            <a:endParaRPr/>
          </a:p>
        </p:txBody>
      </p:sp>
      <p:sp>
        <p:nvSpPr>
          <p:cNvPr id="490" name="Google Shape;490;p55"/>
          <p:cNvSpPr txBox="1"/>
          <p:nvPr>
            <p:ph idx="1" type="body"/>
          </p:nvPr>
        </p:nvSpPr>
        <p:spPr>
          <a:xfrm>
            <a:off x="311700" y="1306400"/>
            <a:ext cx="8520600" cy="23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convertire il numero </a:t>
            </a:r>
            <a:r>
              <a:rPr b="1" lang="it" sz="1200">
                <a:solidFill>
                  <a:srgbClr val="FF0000"/>
                </a:solidFill>
              </a:rPr>
              <a:t>ottale </a:t>
            </a:r>
            <a:r>
              <a:rPr lang="it" sz="1200"/>
              <a:t>(1532)</a:t>
            </a:r>
            <a:r>
              <a:rPr baseline="-25000" lang="it" sz="1200"/>
              <a:t>8 </a:t>
            </a:r>
            <a:r>
              <a:rPr lang="it" sz="1200"/>
              <a:t>nel corrispettivo </a:t>
            </a:r>
            <a:r>
              <a:rPr b="1" lang="it" sz="1200">
                <a:solidFill>
                  <a:srgbClr val="0000FF"/>
                </a:solidFill>
              </a:rPr>
              <a:t>binario</a:t>
            </a:r>
            <a:endParaRPr b="1" sz="1200">
              <a:solidFill>
                <a:srgbClr val="0000FF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 prendano in considerazione le singolo cifre del numero (1532)</a:t>
            </a:r>
            <a:r>
              <a:rPr baseline="-25000" lang="it" sz="1200"/>
              <a:t>8  </a:t>
            </a:r>
            <a:r>
              <a:rPr lang="it" sz="1200"/>
              <a:t>e le si convertano in binario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Si ricordi che per rappresentare tutti i simboli dell’alfabeto ottale attraverso l'alfabeto binario sono necessarie parole di 3 bit (</a:t>
            </a:r>
            <a:r>
              <a:rPr b="1" lang="it" sz="1200">
                <a:solidFill>
                  <a:srgbClr val="0000FF"/>
                </a:solidFill>
              </a:rPr>
              <a:t>2</a:t>
            </a:r>
            <a:r>
              <a:rPr b="1" baseline="30000" lang="it" sz="1200"/>
              <a:t>3</a:t>
            </a:r>
            <a:r>
              <a:rPr b="1" lang="it" sz="1200"/>
              <a:t> = </a:t>
            </a:r>
            <a:r>
              <a:rPr b="1" lang="it" sz="1200">
                <a:solidFill>
                  <a:srgbClr val="FF0000"/>
                </a:solidFill>
              </a:rPr>
              <a:t>8</a:t>
            </a:r>
            <a:r>
              <a:rPr lang="it" sz="1200"/>
              <a:t>) ⇒ la conversione dovrà tenere conto che ogni singola cifra dovrà essere espressa su 3 bit </a:t>
            </a:r>
            <a:endParaRPr sz="1200"/>
          </a:p>
        </p:txBody>
      </p:sp>
      <p:sp>
        <p:nvSpPr>
          <p:cNvPr id="491" name="Google Shape;491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492" name="Google Shape;492;p55"/>
          <p:cNvGraphicFramePr/>
          <p:nvPr/>
        </p:nvGraphicFramePr>
        <p:xfrm>
          <a:off x="727975" y="39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640650"/>
                <a:gridCol w="610425"/>
                <a:gridCol w="587750"/>
                <a:gridCol w="723825"/>
                <a:gridCol w="640650"/>
                <a:gridCol w="549200"/>
                <a:gridCol w="521950"/>
                <a:gridCol w="914325"/>
                <a:gridCol w="577150"/>
                <a:gridCol w="568075"/>
                <a:gridCol w="604375"/>
                <a:gridCol w="74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=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___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___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___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___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(001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aseline="-25000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93" name="Google Shape;493;p55"/>
          <p:cNvSpPr/>
          <p:nvPr/>
        </p:nvSpPr>
        <p:spPr>
          <a:xfrm>
            <a:off x="1143000" y="437557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AD1DC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55"/>
          <p:cNvSpPr/>
          <p:nvPr/>
        </p:nvSpPr>
        <p:spPr>
          <a:xfrm>
            <a:off x="1640100" y="437557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5"/>
          <p:cNvSpPr/>
          <p:nvPr/>
        </p:nvSpPr>
        <p:spPr>
          <a:xfrm>
            <a:off x="2191650" y="437557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55"/>
          <p:cNvSpPr/>
          <p:nvPr/>
        </p:nvSpPr>
        <p:spPr>
          <a:xfrm>
            <a:off x="2734125" y="437557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55"/>
          <p:cNvSpPr/>
          <p:nvPr/>
        </p:nvSpPr>
        <p:spPr>
          <a:xfrm flipH="1" rot="10800000">
            <a:off x="3590475" y="337922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EAD1DC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55"/>
          <p:cNvSpPr/>
          <p:nvPr/>
        </p:nvSpPr>
        <p:spPr>
          <a:xfrm flipH="1" rot="10800000">
            <a:off x="4160125" y="337922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55"/>
          <p:cNvSpPr/>
          <p:nvPr/>
        </p:nvSpPr>
        <p:spPr>
          <a:xfrm flipH="1" rot="10800000">
            <a:off x="4693550" y="3392000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5"/>
          <p:cNvSpPr/>
          <p:nvPr/>
        </p:nvSpPr>
        <p:spPr>
          <a:xfrm flipH="1" rot="10800000">
            <a:off x="5290450" y="3379225"/>
            <a:ext cx="2685300" cy="5898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</a:t>
            </a:r>
            <a:r>
              <a:rPr lang="it"/>
              <a:t>esadecimale - </a:t>
            </a:r>
            <a:r>
              <a:rPr lang="it"/>
              <a:t>binario </a:t>
            </a:r>
            <a:endParaRPr/>
          </a:p>
        </p:txBody>
      </p:sp>
      <p:sp>
        <p:nvSpPr>
          <p:cNvPr id="506" name="Google Shape;506;p56"/>
          <p:cNvSpPr txBox="1"/>
          <p:nvPr>
            <p:ph idx="1" type="body"/>
          </p:nvPr>
        </p:nvSpPr>
        <p:spPr>
          <a:xfrm>
            <a:off x="311700" y="1306400"/>
            <a:ext cx="8520600" cy="27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convertire il numero  </a:t>
            </a:r>
            <a:r>
              <a:rPr b="1" lang="it" sz="1200">
                <a:solidFill>
                  <a:srgbClr val="FF0000"/>
                </a:solidFill>
              </a:rPr>
              <a:t>esadecimale </a:t>
            </a:r>
            <a:r>
              <a:rPr lang="it" sz="1200"/>
              <a:t>(A3D)</a:t>
            </a:r>
            <a:r>
              <a:rPr baseline="-25000" lang="it" sz="1200"/>
              <a:t>16 </a:t>
            </a:r>
            <a:r>
              <a:rPr lang="it" sz="1200"/>
              <a:t>nel corrispettivo </a:t>
            </a:r>
            <a:r>
              <a:rPr b="1" lang="it" sz="1200">
                <a:solidFill>
                  <a:srgbClr val="0000FF"/>
                </a:solidFill>
              </a:rPr>
              <a:t>binario</a:t>
            </a:r>
            <a:endParaRPr b="1" sz="1200">
              <a:solidFill>
                <a:srgbClr val="0000FF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 prendano in considerazione le singolo cifre del numero (A3D)</a:t>
            </a:r>
            <a:r>
              <a:rPr baseline="-25000" lang="it" sz="1200"/>
              <a:t>16  </a:t>
            </a:r>
            <a:r>
              <a:rPr lang="it" sz="1200"/>
              <a:t>e le si convertano in binario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Si ricordi che per rappresentare tutti i simboli dell’alfabeto esadecimale attraverso l'alfabeto binario sono necessarie parole di 4 bit (</a:t>
            </a:r>
            <a:r>
              <a:rPr b="1" lang="it" sz="1200">
                <a:solidFill>
                  <a:srgbClr val="0000FF"/>
                </a:solidFill>
              </a:rPr>
              <a:t>2</a:t>
            </a:r>
            <a:r>
              <a:rPr b="1" baseline="30000" lang="it" sz="1200"/>
              <a:t>4</a:t>
            </a:r>
            <a:r>
              <a:rPr b="1" lang="it" sz="1200"/>
              <a:t> = </a:t>
            </a:r>
            <a:r>
              <a:rPr b="1" lang="it" sz="1200">
                <a:solidFill>
                  <a:srgbClr val="FF0000"/>
                </a:solidFill>
              </a:rPr>
              <a:t>16</a:t>
            </a:r>
            <a:r>
              <a:rPr lang="it" sz="1200"/>
              <a:t>) ⇒ la conversione dovrà tenere conto che ogni singola cifra dovrà essere espressa su 4 bit </a:t>
            </a:r>
            <a:endParaRPr sz="1200"/>
          </a:p>
        </p:txBody>
      </p:sp>
      <p:sp>
        <p:nvSpPr>
          <p:cNvPr id="507" name="Google Shape;507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08" name="Google Shape;508;p56"/>
          <p:cNvGraphicFramePr/>
          <p:nvPr/>
        </p:nvGraphicFramePr>
        <p:xfrm>
          <a:off x="727975" y="405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854225"/>
                <a:gridCol w="854225"/>
                <a:gridCol w="854225"/>
                <a:gridCol w="854225"/>
                <a:gridCol w="736300"/>
                <a:gridCol w="972150"/>
                <a:gridCol w="854225"/>
                <a:gridCol w="854225"/>
                <a:gridCol w="854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=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____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____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____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1101)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aseline="-25000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9" name="Google Shape;509;p56"/>
          <p:cNvSpPr/>
          <p:nvPr/>
        </p:nvSpPr>
        <p:spPr>
          <a:xfrm>
            <a:off x="1251850" y="44300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56"/>
          <p:cNvSpPr/>
          <p:nvPr/>
        </p:nvSpPr>
        <p:spPr>
          <a:xfrm>
            <a:off x="1921325" y="44390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CE5CD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56"/>
          <p:cNvSpPr/>
          <p:nvPr/>
        </p:nvSpPr>
        <p:spPr>
          <a:xfrm>
            <a:off x="2672425" y="44390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6"/>
          <p:cNvSpPr/>
          <p:nvPr/>
        </p:nvSpPr>
        <p:spPr>
          <a:xfrm flipH="1" rot="10800000">
            <a:off x="3771875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56"/>
          <p:cNvSpPr/>
          <p:nvPr/>
        </p:nvSpPr>
        <p:spPr>
          <a:xfrm flipH="1" rot="10800000">
            <a:off x="4543025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CE5CD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6"/>
          <p:cNvSpPr/>
          <p:nvPr/>
        </p:nvSpPr>
        <p:spPr>
          <a:xfrm flipH="1" rot="10800000">
            <a:off x="5294125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binario - ottale</a:t>
            </a:r>
            <a:endParaRPr/>
          </a:p>
        </p:txBody>
      </p:sp>
      <p:sp>
        <p:nvSpPr>
          <p:cNvPr id="520" name="Google Shape;520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21" name="Google Shape;521;p57"/>
          <p:cNvSpPr txBox="1"/>
          <p:nvPr>
            <p:ph idx="1" type="body"/>
          </p:nvPr>
        </p:nvSpPr>
        <p:spPr>
          <a:xfrm>
            <a:off x="311700" y="1306400"/>
            <a:ext cx="8520600" cy="237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convertire il numero </a:t>
            </a:r>
            <a:r>
              <a:rPr b="1" lang="it" sz="1200">
                <a:solidFill>
                  <a:srgbClr val="0000FF"/>
                </a:solidFill>
              </a:rPr>
              <a:t>binario </a:t>
            </a:r>
            <a:r>
              <a:rPr lang="it" sz="1200"/>
              <a:t>(00110101010</a:t>
            </a:r>
            <a:r>
              <a:rPr lang="it" sz="1200"/>
              <a:t>)</a:t>
            </a:r>
            <a:r>
              <a:rPr baseline="-25000" lang="it" sz="1200"/>
              <a:t>8 </a:t>
            </a:r>
            <a:r>
              <a:rPr lang="it" sz="1200"/>
              <a:t>nel corrispettivo </a:t>
            </a:r>
            <a:r>
              <a:rPr b="1" lang="it" sz="1200">
                <a:solidFill>
                  <a:srgbClr val="FF0000"/>
                </a:solidFill>
              </a:rPr>
              <a:t>ottale</a:t>
            </a:r>
            <a:endParaRPr b="1" sz="1200">
              <a:solidFill>
                <a:srgbClr val="FF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 prendano in considerazione gruppi composti da 3 cifre a partire da destra verso sinistra e si effettui a conversione in decimale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Si ricordi che per rappresentare tutti i simboli dell’alfabeto ottale attraverso l'alfabeto binario sono necessarie parole di 3 bit (</a:t>
            </a:r>
            <a:r>
              <a:rPr b="1" lang="it" sz="1200">
                <a:solidFill>
                  <a:srgbClr val="0000FF"/>
                </a:solidFill>
              </a:rPr>
              <a:t>2</a:t>
            </a:r>
            <a:r>
              <a:rPr b="1" baseline="30000" lang="it" sz="1200"/>
              <a:t>3</a:t>
            </a:r>
            <a:r>
              <a:rPr b="1" lang="it" sz="1200"/>
              <a:t> = </a:t>
            </a:r>
            <a:r>
              <a:rPr b="1" lang="it" sz="1200">
                <a:solidFill>
                  <a:srgbClr val="FF0000"/>
                </a:solidFill>
              </a:rPr>
              <a:t>8</a:t>
            </a:r>
            <a:r>
              <a:rPr lang="it" sz="1200"/>
              <a:t>) ⇒ la conversione dovrà tenere conto che ogni singola cifra dovrà essere espressa su 3 bit </a:t>
            </a:r>
            <a:endParaRPr sz="1200"/>
          </a:p>
        </p:txBody>
      </p:sp>
      <p:graphicFrame>
        <p:nvGraphicFramePr>
          <p:cNvPr id="522" name="Google Shape;522;p57"/>
          <p:cNvGraphicFramePr/>
          <p:nvPr/>
        </p:nvGraphicFramePr>
        <p:xfrm>
          <a:off x="728013" y="39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686000"/>
                <a:gridCol w="501575"/>
                <a:gridCol w="560550"/>
                <a:gridCol w="382850"/>
                <a:gridCol w="694625"/>
                <a:gridCol w="694625"/>
                <a:gridCol w="694625"/>
                <a:gridCol w="776275"/>
                <a:gridCol w="612975"/>
                <a:gridCol w="694625"/>
                <a:gridCol w="694625"/>
                <a:gridCol w="69462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( 001101011010 )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=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( 001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010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baseline="-25000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3" name="Google Shape;523;p57"/>
          <p:cNvSpPr/>
          <p:nvPr/>
        </p:nvSpPr>
        <p:spPr>
          <a:xfrm flipH="1" rot="10800000">
            <a:off x="3301925" y="3428214"/>
            <a:ext cx="2921100" cy="549600"/>
          </a:xfrm>
          <a:prstGeom prst="curvedUpArrow">
            <a:avLst>
              <a:gd fmla="val 25000" name="adj1"/>
              <a:gd fmla="val 50000" name="adj2"/>
              <a:gd fmla="val 23978" name="adj3"/>
            </a:avLst>
          </a:prstGeom>
          <a:solidFill>
            <a:srgbClr val="EAD1DC"/>
          </a:solidFill>
          <a:ln cap="flat" cmpd="sng" w="9525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7"/>
          <p:cNvSpPr/>
          <p:nvPr/>
        </p:nvSpPr>
        <p:spPr>
          <a:xfrm flipH="1" rot="10800000">
            <a:off x="3889750" y="3428214"/>
            <a:ext cx="2921100" cy="549600"/>
          </a:xfrm>
          <a:prstGeom prst="curvedUpArrow">
            <a:avLst>
              <a:gd fmla="val 25000" name="adj1"/>
              <a:gd fmla="val 50000" name="adj2"/>
              <a:gd fmla="val 23978" name="adj3"/>
            </a:avLst>
          </a:prstGeom>
          <a:solidFill>
            <a:srgbClr val="D9D2E9"/>
          </a:solidFill>
          <a:ln cap="flat" cmpd="sng" w="952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57"/>
          <p:cNvSpPr/>
          <p:nvPr/>
        </p:nvSpPr>
        <p:spPr>
          <a:xfrm flipH="1" rot="10800000">
            <a:off x="4559200" y="3428214"/>
            <a:ext cx="2921100" cy="549600"/>
          </a:xfrm>
          <a:prstGeom prst="curvedUpArrow">
            <a:avLst>
              <a:gd fmla="val 25000" name="adj1"/>
              <a:gd fmla="val 50000" name="adj2"/>
              <a:gd fmla="val 23978" name="adj3"/>
            </a:avLst>
          </a:prstGeom>
          <a:solidFill>
            <a:srgbClr val="CFE2F3"/>
          </a:solidFill>
          <a:ln cap="flat" cmpd="sng" w="9525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7"/>
          <p:cNvSpPr/>
          <p:nvPr/>
        </p:nvSpPr>
        <p:spPr>
          <a:xfrm flipH="1" rot="10800000">
            <a:off x="5174225" y="3428214"/>
            <a:ext cx="2921100" cy="549600"/>
          </a:xfrm>
          <a:prstGeom prst="curvedUpArrow">
            <a:avLst>
              <a:gd fmla="val 25000" name="adj1"/>
              <a:gd fmla="val 50000" name="adj2"/>
              <a:gd fmla="val 23978" name="adj3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Conversioni binario - esadecimale</a:t>
            </a:r>
            <a:endParaRPr/>
          </a:p>
        </p:txBody>
      </p:sp>
      <p:sp>
        <p:nvSpPr>
          <p:cNvPr id="532" name="Google Shape;532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533" name="Google Shape;533;p58"/>
          <p:cNvSpPr txBox="1"/>
          <p:nvPr>
            <p:ph idx="1" type="body"/>
          </p:nvPr>
        </p:nvSpPr>
        <p:spPr>
          <a:xfrm>
            <a:off x="311700" y="1306400"/>
            <a:ext cx="8520600" cy="275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convertire il numero </a:t>
            </a:r>
            <a:r>
              <a:rPr b="1" lang="it" sz="1200">
                <a:solidFill>
                  <a:srgbClr val="0000FF"/>
                </a:solidFill>
              </a:rPr>
              <a:t>binario</a:t>
            </a:r>
            <a:r>
              <a:rPr lang="it" sz="1200"/>
              <a:t> (101000111101)</a:t>
            </a:r>
            <a:r>
              <a:rPr baseline="-25000" lang="it" sz="1200"/>
              <a:t>16 </a:t>
            </a:r>
            <a:r>
              <a:rPr lang="it" sz="1200"/>
              <a:t>nel corrispettivo </a:t>
            </a:r>
            <a:r>
              <a:rPr b="1" lang="it" sz="1200">
                <a:solidFill>
                  <a:srgbClr val="FF0000"/>
                </a:solidFill>
              </a:rPr>
              <a:t>esadecimale</a:t>
            </a:r>
            <a:endParaRPr b="1" sz="1200">
              <a:solidFill>
                <a:srgbClr val="0000FF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 prendano in considerazione gruppi composti da 4 cifre a partire da destra verso </a:t>
            </a:r>
            <a:r>
              <a:rPr lang="it" sz="1200"/>
              <a:t>sinistra</a:t>
            </a:r>
            <a:r>
              <a:rPr lang="it" sz="1200"/>
              <a:t> e si effettui la conversione decimale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Si ricordi che per rappresentare tutti i simboli dell’alfabeto esadecimale attraverso l'alfabeto binario sono necessarie parole di 4 bit (</a:t>
            </a:r>
            <a:r>
              <a:rPr b="1" lang="it" sz="1200">
                <a:solidFill>
                  <a:srgbClr val="0000FF"/>
                </a:solidFill>
              </a:rPr>
              <a:t>2</a:t>
            </a:r>
            <a:r>
              <a:rPr b="1" baseline="30000" lang="it" sz="1200"/>
              <a:t>4</a:t>
            </a:r>
            <a:r>
              <a:rPr b="1" lang="it" sz="1200"/>
              <a:t> = </a:t>
            </a:r>
            <a:r>
              <a:rPr b="1" lang="it" sz="1200">
                <a:solidFill>
                  <a:srgbClr val="FF0000"/>
                </a:solidFill>
              </a:rPr>
              <a:t>16</a:t>
            </a:r>
            <a:r>
              <a:rPr lang="it" sz="1200"/>
              <a:t>) ⇒ la conversione dovrà tenere conto che ogni singola cifra dovrà essere espressa su 4 bit </a:t>
            </a:r>
            <a:endParaRPr sz="1200"/>
          </a:p>
        </p:txBody>
      </p:sp>
      <p:graphicFrame>
        <p:nvGraphicFramePr>
          <p:cNvPr id="534" name="Google Shape;534;p58"/>
          <p:cNvGraphicFramePr/>
          <p:nvPr/>
        </p:nvGraphicFramePr>
        <p:xfrm>
          <a:off x="728013" y="398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814925"/>
                <a:gridCol w="595850"/>
                <a:gridCol w="665900"/>
                <a:gridCol w="454800"/>
                <a:gridCol w="825175"/>
                <a:gridCol w="825175"/>
                <a:gridCol w="922175"/>
                <a:gridCol w="728175"/>
                <a:gridCol w="825175"/>
                <a:gridCol w="82517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( 101000111101 )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=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( 1010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0011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1101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 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baseline="-25000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5" name="Google Shape;535;p58"/>
          <p:cNvSpPr/>
          <p:nvPr/>
        </p:nvSpPr>
        <p:spPr>
          <a:xfrm flipH="1" rot="10800000">
            <a:off x="3717450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58"/>
          <p:cNvSpPr/>
          <p:nvPr/>
        </p:nvSpPr>
        <p:spPr>
          <a:xfrm flipH="1" rot="10800000">
            <a:off x="4423200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CE5CD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8"/>
          <p:cNvSpPr/>
          <p:nvPr/>
        </p:nvSpPr>
        <p:spPr>
          <a:xfrm flipH="1" rot="10800000">
            <a:off x="5165250" y="3577100"/>
            <a:ext cx="2621700" cy="4809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2CC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in binario</a:t>
            </a:r>
            <a:endParaRPr/>
          </a:p>
        </p:txBody>
      </p:sp>
      <p:sp>
        <p:nvSpPr>
          <p:cNvPr id="543" name="Google Shape;543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6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somma aritmetica binaria</a:t>
            </a:r>
            <a:endParaRPr/>
          </a:p>
        </p:txBody>
      </p:sp>
      <p:sp>
        <p:nvSpPr>
          <p:cNvPr id="549" name="Google Shape;549;p60"/>
          <p:cNvSpPr txBox="1"/>
          <p:nvPr>
            <p:ph idx="1" type="body"/>
          </p:nvPr>
        </p:nvSpPr>
        <p:spPr>
          <a:xfrm>
            <a:off x="311700" y="1331525"/>
            <a:ext cx="85206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</a:t>
            </a:r>
            <a:r>
              <a:rPr b="1" lang="it" sz="1200"/>
              <a:t>somma aritmetica binaria</a:t>
            </a:r>
            <a:r>
              <a:rPr lang="it" sz="1200"/>
              <a:t> è simile a quella decimale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le cifre dei due addendi sono sommate  in colonna tenendo conto dell'eventuale riporto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it" sz="1200"/>
              <a:t>I casi possibili sono 4:</a:t>
            </a:r>
            <a:endParaRPr sz="1200"/>
          </a:p>
        </p:txBody>
      </p:sp>
      <p:sp>
        <p:nvSpPr>
          <p:cNvPr id="550" name="Google Shape;550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51" name="Google Shape;551;p60"/>
          <p:cNvGraphicFramePr/>
          <p:nvPr/>
        </p:nvGraphicFramePr>
        <p:xfrm>
          <a:off x="2159000" y="28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413000"/>
                <a:gridCol w="2413000"/>
              </a:tblGrid>
              <a:tr h="2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Binario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Decimale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+ 0 = 0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+ 0 = 0  (00)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+ 1 =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+ 1 = 1  (01)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+ 0 =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+ 0 = 1  (01)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+ 1 = 0 con riporto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+ 1 = 2  (10)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  <p:pic>
        <p:nvPicPr>
          <p:cNvPr id="552" name="Google Shape;552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700" y="51775"/>
            <a:ext cx="1153074" cy="159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1</a:t>
            </a:r>
            <a:endParaRPr/>
          </a:p>
        </p:txBody>
      </p:sp>
      <p:sp>
        <p:nvSpPr>
          <p:cNvPr id="558" name="Google Shape;558;p61"/>
          <p:cNvSpPr txBox="1"/>
          <p:nvPr>
            <p:ph idx="1" type="body"/>
          </p:nvPr>
        </p:nvSpPr>
        <p:spPr>
          <a:xfrm>
            <a:off x="311700" y="146882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somma fra i numeri binari 101 → (5)</a:t>
            </a:r>
            <a:r>
              <a:rPr baseline="-25000" lang="it" sz="1400"/>
              <a:t>10</a:t>
            </a:r>
            <a:r>
              <a:rPr lang="it" sz="1400"/>
              <a:t> e 111 → (7)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559" name="Google Shape;559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60" name="Google Shape;560;p61"/>
          <p:cNvGraphicFramePr/>
          <p:nvPr/>
        </p:nvGraphicFramePr>
        <p:xfrm>
          <a:off x="563025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  <a:gridCol w="875700"/>
                <a:gridCol w="875700"/>
              </a:tblGrid>
              <a:tr h="3962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61" name="Google Shape;561;p61"/>
          <p:cNvGraphicFramePr/>
          <p:nvPr/>
        </p:nvGraphicFramePr>
        <p:xfrm>
          <a:off x="550150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</a:tblGrid>
              <a:tr h="3962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2" name="Google Shape;56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6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2</a:t>
            </a:r>
            <a:endParaRPr/>
          </a:p>
        </p:txBody>
      </p:sp>
      <p:sp>
        <p:nvSpPr>
          <p:cNvPr id="568" name="Google Shape;568;p62"/>
          <p:cNvSpPr txBox="1"/>
          <p:nvPr>
            <p:ph idx="1" type="body"/>
          </p:nvPr>
        </p:nvSpPr>
        <p:spPr>
          <a:xfrm>
            <a:off x="311700" y="1468825"/>
            <a:ext cx="8520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somma fra i numeri binari </a:t>
            </a:r>
            <a:r>
              <a:rPr lang="it" sz="1400"/>
              <a:t>10111 </a:t>
            </a:r>
            <a:r>
              <a:rPr lang="it" sz="1400"/>
              <a:t>→ (23)</a:t>
            </a:r>
            <a:r>
              <a:rPr baseline="-25000" lang="it" sz="1400"/>
              <a:t>10</a:t>
            </a:r>
            <a:r>
              <a:rPr lang="it" sz="1400"/>
              <a:t> e </a:t>
            </a:r>
            <a:r>
              <a:rPr lang="it" sz="1400"/>
              <a:t>11110</a:t>
            </a:r>
            <a:r>
              <a:rPr lang="it" sz="1400"/>
              <a:t> → (30)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569" name="Google Shape;569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70" name="Google Shape;570;p62"/>
          <p:cNvGraphicFramePr/>
          <p:nvPr/>
        </p:nvGraphicFramePr>
        <p:xfrm>
          <a:off x="519575" y="210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20400"/>
                <a:gridCol w="720400"/>
                <a:gridCol w="720400"/>
                <a:gridCol w="720400"/>
                <a:gridCol w="720400"/>
                <a:gridCol w="720400"/>
                <a:gridCol w="720400"/>
              </a:tblGrid>
              <a:tr h="396200">
                <a:tc grid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6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5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1" name="Google Shape;571;p62"/>
          <p:cNvGraphicFramePr/>
          <p:nvPr/>
        </p:nvGraphicFramePr>
        <p:xfrm>
          <a:off x="5818150" y="2092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</a:tblGrid>
              <a:tr h="416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2" name="Google Shape;572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3</a:t>
            </a:r>
            <a:endParaRPr/>
          </a:p>
        </p:txBody>
      </p:sp>
      <p:sp>
        <p:nvSpPr>
          <p:cNvPr id="578" name="Google Shape;578;p63"/>
          <p:cNvSpPr txBox="1"/>
          <p:nvPr>
            <p:ph idx="1" type="body"/>
          </p:nvPr>
        </p:nvSpPr>
        <p:spPr>
          <a:xfrm>
            <a:off x="311700" y="1468825"/>
            <a:ext cx="8520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somma fra i numeri binari 1101 → (13)</a:t>
            </a:r>
            <a:r>
              <a:rPr baseline="-25000" lang="it" sz="1400"/>
              <a:t>10</a:t>
            </a:r>
            <a:r>
              <a:rPr lang="it" sz="1400"/>
              <a:t> e 111 → (7)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579" name="Google Shape;579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80" name="Google Shape;580;p63"/>
          <p:cNvGraphicFramePr/>
          <p:nvPr/>
        </p:nvGraphicFramePr>
        <p:xfrm>
          <a:off x="671975" y="210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20400"/>
                <a:gridCol w="720400"/>
                <a:gridCol w="720400"/>
                <a:gridCol w="720400"/>
                <a:gridCol w="720400"/>
                <a:gridCol w="720400"/>
              </a:tblGrid>
              <a:tr h="3962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5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81" name="Google Shape;581;p63"/>
          <p:cNvGraphicFramePr/>
          <p:nvPr/>
        </p:nvGraphicFramePr>
        <p:xfrm>
          <a:off x="5665750" y="2092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</a:tblGrid>
              <a:tr h="416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82" name="Google Shape;58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213" y="24875"/>
            <a:ext cx="28289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6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</a:t>
            </a:r>
            <a:r>
              <a:rPr lang="it"/>
              <a:t>sottrazione</a:t>
            </a:r>
            <a:r>
              <a:rPr lang="it"/>
              <a:t> aritmetica binaria</a:t>
            </a:r>
            <a:endParaRPr/>
          </a:p>
        </p:txBody>
      </p:sp>
      <p:sp>
        <p:nvSpPr>
          <p:cNvPr id="589" name="Google Shape;589;p64"/>
          <p:cNvSpPr txBox="1"/>
          <p:nvPr>
            <p:ph idx="1" type="body"/>
          </p:nvPr>
        </p:nvSpPr>
        <p:spPr>
          <a:xfrm>
            <a:off x="311700" y="1331525"/>
            <a:ext cx="85206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</a:t>
            </a:r>
            <a:r>
              <a:rPr b="1" lang="it" sz="1200"/>
              <a:t>sottrazione </a:t>
            </a:r>
            <a:r>
              <a:rPr b="1" lang="it" sz="1200"/>
              <a:t>aritmetica binaria</a:t>
            </a:r>
            <a:r>
              <a:rPr lang="it" sz="1200"/>
              <a:t> è simile a quella decimale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le cifre del minuendo e del sottraendo sono sottratte in colonna tenendo conto dell'eventuale prestito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it" sz="1200"/>
              <a:t>I casi possibili sono 4:</a:t>
            </a:r>
            <a:endParaRPr sz="1200"/>
          </a:p>
        </p:txBody>
      </p:sp>
      <p:sp>
        <p:nvSpPr>
          <p:cNvPr id="590" name="Google Shape;59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91" name="Google Shape;591;p64"/>
          <p:cNvGraphicFramePr/>
          <p:nvPr/>
        </p:nvGraphicFramePr>
        <p:xfrm>
          <a:off x="1622150" y="2846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923175"/>
                <a:gridCol w="2923175"/>
              </a:tblGrid>
              <a:tr h="2508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Binario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Decimale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93C47D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0 - 0 = 0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0 - 0 = 0 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0 - 1 = 1 con prestito (10)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aseline="-25000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0 - 1 = 9  con prestito 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1 - 0 =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1 - 0 = 1 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25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1 - 1 = 0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1 - 1 = 0  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6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1</a:t>
            </a:r>
            <a:endParaRPr/>
          </a:p>
        </p:txBody>
      </p:sp>
      <p:sp>
        <p:nvSpPr>
          <p:cNvPr id="597" name="Google Shape;597;p65"/>
          <p:cNvSpPr txBox="1"/>
          <p:nvPr>
            <p:ph idx="1" type="body"/>
          </p:nvPr>
        </p:nvSpPr>
        <p:spPr>
          <a:xfrm>
            <a:off x="311700" y="1468825"/>
            <a:ext cx="8520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sottrazione fra i numeri binari 1101 </a:t>
            </a:r>
            <a:r>
              <a:rPr lang="it" sz="1400"/>
              <a:t>→ (13)</a:t>
            </a:r>
            <a:r>
              <a:rPr baseline="-25000" lang="it" sz="1400"/>
              <a:t>10</a:t>
            </a:r>
            <a:r>
              <a:rPr lang="it" sz="1400"/>
              <a:t> e 1011 → (11)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598" name="Google Shape;598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599" name="Google Shape;599;p65"/>
          <p:cNvGraphicFramePr/>
          <p:nvPr/>
        </p:nvGraphicFramePr>
        <p:xfrm>
          <a:off x="824375" y="210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42200"/>
                <a:gridCol w="742200"/>
                <a:gridCol w="742200"/>
                <a:gridCol w="742200"/>
                <a:gridCol w="837250"/>
              </a:tblGrid>
              <a:tr h="3962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aseline="-25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00" name="Google Shape;600;p65"/>
          <p:cNvGraphicFramePr/>
          <p:nvPr/>
        </p:nvGraphicFramePr>
        <p:xfrm>
          <a:off x="5513350" y="2092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</a:tblGrid>
              <a:tr h="416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01" name="Google Shape;60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02" name="Google Shape;602;p65"/>
          <p:cNvCxnSpPr/>
          <p:nvPr/>
        </p:nvCxnSpPr>
        <p:spPr>
          <a:xfrm flipH="1" rot="10800000">
            <a:off x="2126250" y="3288300"/>
            <a:ext cx="316800" cy="2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6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2</a:t>
            </a:r>
            <a:endParaRPr/>
          </a:p>
        </p:txBody>
      </p:sp>
      <p:sp>
        <p:nvSpPr>
          <p:cNvPr id="608" name="Google Shape;608;p66"/>
          <p:cNvSpPr txBox="1"/>
          <p:nvPr>
            <p:ph idx="1" type="body"/>
          </p:nvPr>
        </p:nvSpPr>
        <p:spPr>
          <a:xfrm>
            <a:off x="311700" y="1468825"/>
            <a:ext cx="8520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sottrazione fra i numeri binari 10101 → (21)</a:t>
            </a:r>
            <a:r>
              <a:rPr baseline="-25000" lang="it" sz="1400"/>
              <a:t>10</a:t>
            </a:r>
            <a:r>
              <a:rPr lang="it" sz="1400"/>
              <a:t> e 1011 → (11)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609" name="Google Shape;60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610" name="Google Shape;610;p66"/>
          <p:cNvGraphicFramePr/>
          <p:nvPr/>
        </p:nvGraphicFramePr>
        <p:xfrm>
          <a:off x="671975" y="210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42200"/>
                <a:gridCol w="742200"/>
                <a:gridCol w="742200"/>
                <a:gridCol w="742200"/>
                <a:gridCol w="742200"/>
                <a:gridCol w="837250"/>
              </a:tblGrid>
              <a:tr h="3962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5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solidFill>
                          <a:srgbClr val="FF00FF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11" name="Google Shape;611;p66"/>
          <p:cNvGraphicFramePr/>
          <p:nvPr/>
        </p:nvGraphicFramePr>
        <p:xfrm>
          <a:off x="5665750" y="20925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</a:tblGrid>
              <a:tr h="416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12" name="Google Shape;61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3" name="Google Shape;613;p66"/>
          <p:cNvCxnSpPr/>
          <p:nvPr/>
        </p:nvCxnSpPr>
        <p:spPr>
          <a:xfrm flipH="1" rot="10800000">
            <a:off x="2728275" y="3288300"/>
            <a:ext cx="316800" cy="2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66"/>
          <p:cNvCxnSpPr/>
          <p:nvPr/>
        </p:nvCxnSpPr>
        <p:spPr>
          <a:xfrm flipH="1" rot="10800000">
            <a:off x="1243600" y="3288300"/>
            <a:ext cx="316800" cy="253500"/>
          </a:xfrm>
          <a:prstGeom prst="straightConnector1">
            <a:avLst/>
          </a:prstGeom>
          <a:noFill/>
          <a:ln cap="flat" cmpd="sng" w="9525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3</a:t>
            </a:r>
            <a:endParaRPr/>
          </a:p>
        </p:txBody>
      </p:sp>
      <p:sp>
        <p:nvSpPr>
          <p:cNvPr id="620" name="Google Shape;620;p67"/>
          <p:cNvSpPr txBox="1"/>
          <p:nvPr>
            <p:ph idx="1" type="body"/>
          </p:nvPr>
        </p:nvSpPr>
        <p:spPr>
          <a:xfrm>
            <a:off x="311700" y="1468825"/>
            <a:ext cx="85206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sottrazione fra i numeri binari 11000 → (24)</a:t>
            </a:r>
            <a:r>
              <a:rPr baseline="-25000" lang="it" sz="1400"/>
              <a:t>10</a:t>
            </a:r>
            <a:r>
              <a:rPr lang="it" sz="1400"/>
              <a:t> e 111 → (7)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621" name="Google Shape;621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622" name="Google Shape;622;p67"/>
          <p:cNvGraphicFramePr/>
          <p:nvPr/>
        </p:nvGraphicFramePr>
        <p:xfrm>
          <a:off x="671975" y="195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42200"/>
                <a:gridCol w="742200"/>
                <a:gridCol w="742200"/>
                <a:gridCol w="742200"/>
                <a:gridCol w="742200"/>
                <a:gridCol w="837250"/>
              </a:tblGrid>
              <a:tr h="3962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5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23" name="Google Shape;623;p67"/>
          <p:cNvGraphicFramePr/>
          <p:nvPr/>
        </p:nvGraphicFramePr>
        <p:xfrm>
          <a:off x="5655175" y="2138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1093175"/>
                <a:gridCol w="1093175"/>
                <a:gridCol w="1093175"/>
              </a:tblGrid>
              <a:tr h="41660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(10)</a:t>
                      </a:r>
                      <a:r>
                        <a:rPr baseline="-25000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</a:t>
                      </a: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+ 4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prestito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6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24" name="Google Shape;62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5" name="Google Shape;625;p67"/>
          <p:cNvCxnSpPr/>
          <p:nvPr/>
        </p:nvCxnSpPr>
        <p:spPr>
          <a:xfrm flipH="1" rot="10800000">
            <a:off x="1961800" y="3526675"/>
            <a:ext cx="316800" cy="2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6" name="Google Shape;626;p67"/>
          <p:cNvCxnSpPr/>
          <p:nvPr/>
        </p:nvCxnSpPr>
        <p:spPr>
          <a:xfrm flipH="1" rot="10800000">
            <a:off x="2755400" y="3421150"/>
            <a:ext cx="295800" cy="1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7" name="Google Shape;627;p67"/>
          <p:cNvCxnSpPr/>
          <p:nvPr/>
        </p:nvCxnSpPr>
        <p:spPr>
          <a:xfrm flipH="1" rot="10800000">
            <a:off x="3499250" y="3431650"/>
            <a:ext cx="295800" cy="1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8" name="Google Shape;628;p67"/>
          <p:cNvCxnSpPr/>
          <p:nvPr/>
        </p:nvCxnSpPr>
        <p:spPr>
          <a:xfrm flipH="1" rot="10800000">
            <a:off x="6376625" y="3299650"/>
            <a:ext cx="316800" cy="253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Overflow</a:t>
            </a:r>
            <a:endParaRPr/>
          </a:p>
        </p:txBody>
      </p:sp>
      <p:sp>
        <p:nvSpPr>
          <p:cNvPr id="634" name="Google Shape;634;p6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Supponendo di lavorare con 8 bit, cosa accade se il numero che si vuole codificare “sfora” l’intervallo </a:t>
            </a:r>
            <a:r>
              <a:rPr lang="it" sz="1200"/>
              <a:t>0 → 255? Per esempio se il numero fosse 257?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Numeri più grandi del massimo numero rappresentabile generano </a:t>
            </a:r>
            <a:r>
              <a:rPr b="1" lang="it" sz="1200"/>
              <a:t>overflow</a:t>
            </a:r>
            <a:endParaRPr b="1"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Operazioni il cui risultato “sfora” il massimo numero rappresentabile generano </a:t>
            </a:r>
            <a:r>
              <a:rPr b="1" lang="it" sz="1200"/>
              <a:t>overflow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Se i numeri vengono rappresentati con un numero di cifre fissato </a:t>
            </a:r>
            <a:r>
              <a:rPr b="1" lang="it" sz="1200"/>
              <a:t>n</a:t>
            </a:r>
            <a:r>
              <a:rPr lang="it" sz="1200"/>
              <a:t> e la somma di due operandi è un numero maggiore del massimo numero rappresentabile con </a:t>
            </a:r>
            <a:r>
              <a:rPr b="1" lang="it" sz="1200"/>
              <a:t>n</a:t>
            </a:r>
            <a:r>
              <a:rPr lang="it" sz="1200"/>
              <a:t> cifre si ha la condizione di overflow, ovvero si genera overflow nella somma di due numeri di n cifre quando si ha un </a:t>
            </a:r>
            <a:r>
              <a:rPr b="1" lang="it" sz="1200"/>
              <a:t>riporto oltre la cifra di peso n</a:t>
            </a:r>
            <a:endParaRPr b="1" sz="1200"/>
          </a:p>
          <a:p>
            <a:pPr indent="-304800" lvl="1" marL="914400" rtl="0" algn="l"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b="1" lang="it" sz="1200"/>
              <a:t>Esempio</a:t>
            </a:r>
            <a:r>
              <a:rPr lang="it" sz="1200"/>
              <a:t>: n = 4 bit  (0100)</a:t>
            </a:r>
            <a:r>
              <a:rPr baseline="-25000" lang="it" sz="1200"/>
              <a:t>2</a:t>
            </a:r>
            <a:r>
              <a:rPr lang="it" sz="1200"/>
              <a:t> + (1100)</a:t>
            </a:r>
            <a:r>
              <a:rPr baseline="-25000" lang="it" sz="1200"/>
              <a:t>2</a:t>
            </a:r>
            <a:r>
              <a:rPr lang="it" sz="1200"/>
              <a:t> = (</a:t>
            </a:r>
            <a:r>
              <a:rPr b="1" lang="it" sz="1200">
                <a:solidFill>
                  <a:srgbClr val="FF0000"/>
                </a:solidFill>
              </a:rPr>
              <a:t>1</a:t>
            </a:r>
            <a:r>
              <a:rPr lang="it" sz="1200"/>
              <a:t>0000)</a:t>
            </a:r>
            <a:r>
              <a:rPr baseline="-25000" lang="it" sz="1200"/>
              <a:t>2</a:t>
            </a:r>
            <a:endParaRPr baseline="-25000" sz="1200"/>
          </a:p>
        </p:txBody>
      </p:sp>
      <p:sp>
        <p:nvSpPr>
          <p:cNvPr id="635" name="Google Shape;635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636" name="Google Shape;636;p68"/>
          <p:cNvCxnSpPr/>
          <p:nvPr/>
        </p:nvCxnSpPr>
        <p:spPr>
          <a:xfrm flipH="1">
            <a:off x="4941675" y="4228300"/>
            <a:ext cx="105600" cy="475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637" name="Google Shape;637;p68"/>
          <p:cNvSpPr txBox="1"/>
          <p:nvPr/>
        </p:nvSpPr>
        <p:spPr>
          <a:xfrm>
            <a:off x="5005025" y="4394450"/>
            <a:ext cx="1161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overflow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638" name="Google Shape;63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9229" y="97021"/>
            <a:ext cx="1631921" cy="15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9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Operazioni in ottale/esadecimale</a:t>
            </a:r>
            <a:endParaRPr/>
          </a:p>
        </p:txBody>
      </p:sp>
      <p:sp>
        <p:nvSpPr>
          <p:cNvPr id="644" name="Google Shape;644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4700" y="51775"/>
            <a:ext cx="1153074" cy="1595551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7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somma aritmetica ottale/</a:t>
            </a:r>
            <a:r>
              <a:rPr lang="it">
                <a:solidFill>
                  <a:srgbClr val="0000FF"/>
                </a:solidFill>
              </a:rPr>
              <a:t>esadecimale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651" name="Google Shape;651;p7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somma aritmetica ottale/</a:t>
            </a:r>
            <a:r>
              <a:rPr lang="it" sz="1600">
                <a:solidFill>
                  <a:srgbClr val="0000FF"/>
                </a:solidFill>
              </a:rPr>
              <a:t>esadecimale</a:t>
            </a:r>
            <a:r>
              <a:rPr lang="it" sz="1600"/>
              <a:t> seguono le stesse regole del sistema decimale e  binario, trattandosi tutti di sistemi posizionali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Per fare la somma aritmetica ci si deve ricordare che in un sistema ottale/</a:t>
            </a:r>
            <a:r>
              <a:rPr lang="it" sz="1600">
                <a:solidFill>
                  <a:srgbClr val="0000FF"/>
                </a:solidFill>
              </a:rPr>
              <a:t>esadecimale</a:t>
            </a:r>
            <a:r>
              <a:rPr lang="it" sz="1600"/>
              <a:t> si hanno a disposizione 8/</a:t>
            </a:r>
            <a:r>
              <a:rPr lang="it" sz="1600">
                <a:solidFill>
                  <a:srgbClr val="0000FF"/>
                </a:solidFill>
              </a:rPr>
              <a:t>16 cifre</a:t>
            </a:r>
            <a:endParaRPr sz="1600">
              <a:solidFill>
                <a:srgbClr val="0000FF"/>
              </a:solidFill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it" sz="1600"/>
              <a:t>In generale dato un sistema di n cifre queste assumono i valori da 0 a n-1 ⇒ in una data posizione, la cifra massima che può essere scritta è proprio n-1 ⇒ se sommando 2 cifre si ottiene un risultato maggiore di n-1 allora vuol dire che stai generando un riporto alla cifra successiva</a:t>
            </a:r>
            <a:endParaRPr sz="1600"/>
          </a:p>
        </p:txBody>
      </p:sp>
      <p:sp>
        <p:nvSpPr>
          <p:cNvPr id="652" name="Google Shape;65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7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ottale</a:t>
            </a:r>
            <a:endParaRPr/>
          </a:p>
        </p:txBody>
      </p:sp>
      <p:sp>
        <p:nvSpPr>
          <p:cNvPr id="658" name="Google Shape;658;p71"/>
          <p:cNvSpPr txBox="1"/>
          <p:nvPr>
            <p:ph idx="1" type="body"/>
          </p:nvPr>
        </p:nvSpPr>
        <p:spPr>
          <a:xfrm>
            <a:off x="311700" y="146882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somma fra i numeri binari (345)</a:t>
            </a:r>
            <a:r>
              <a:rPr baseline="-25000" lang="it" sz="1400"/>
              <a:t>8</a:t>
            </a:r>
            <a:r>
              <a:rPr lang="it" sz="1400"/>
              <a:t> → (229)</a:t>
            </a:r>
            <a:r>
              <a:rPr baseline="-25000" lang="it" sz="1400"/>
              <a:t>10</a:t>
            </a:r>
            <a:r>
              <a:rPr lang="it" sz="1400"/>
              <a:t> e (63)</a:t>
            </a:r>
            <a:r>
              <a:rPr baseline="-25000" lang="it" sz="1400"/>
              <a:t>8 </a:t>
            </a:r>
            <a:r>
              <a:rPr lang="it" sz="1400"/>
              <a:t>→ (51)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659" name="Google Shape;659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660" name="Google Shape;660;p71"/>
          <p:cNvGraphicFramePr/>
          <p:nvPr/>
        </p:nvGraphicFramePr>
        <p:xfrm>
          <a:off x="867825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  <a:gridCol w="875700"/>
              </a:tblGrid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61" name="Google Shape;661;p71"/>
          <p:cNvGraphicFramePr/>
          <p:nvPr/>
        </p:nvGraphicFramePr>
        <p:xfrm>
          <a:off x="5213375" y="213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783250"/>
                <a:gridCol w="783250"/>
                <a:gridCol w="783250"/>
                <a:gridCol w="7832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62" name="Google Shape;66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7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Regola pratica</a:t>
            </a:r>
            <a:endParaRPr/>
          </a:p>
        </p:txBody>
      </p:sp>
      <p:sp>
        <p:nvSpPr>
          <p:cNvPr id="668" name="Google Shape;668;p72"/>
          <p:cNvSpPr txBox="1"/>
          <p:nvPr>
            <p:ph idx="1" type="body"/>
          </p:nvPr>
        </p:nvSpPr>
        <p:spPr>
          <a:xfrm>
            <a:off x="311700" y="1468825"/>
            <a:ext cx="85206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Scrivere tutti i numeri ottali da 0 a 7 e, per fare l’addizione, ‘spostarsi in avanti’ ricordandosi che quando si giunge all’estrema destra della sequenza si deve ricominciare dall’altra parte (in senso orario) e si deve tenere conto del riporto.</a:t>
            </a:r>
            <a:endParaRPr sz="1400"/>
          </a:p>
        </p:txBody>
      </p:sp>
      <p:sp>
        <p:nvSpPr>
          <p:cNvPr id="669" name="Google Shape;66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670" name="Google Shape;670;p72"/>
          <p:cNvGraphicFramePr/>
          <p:nvPr/>
        </p:nvGraphicFramePr>
        <p:xfrm>
          <a:off x="952500" y="283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1" name="Google Shape;671;p72"/>
          <p:cNvSpPr/>
          <p:nvPr/>
        </p:nvSpPr>
        <p:spPr>
          <a:xfrm>
            <a:off x="12489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72"/>
          <p:cNvSpPr/>
          <p:nvPr/>
        </p:nvSpPr>
        <p:spPr>
          <a:xfrm>
            <a:off x="21633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72"/>
          <p:cNvSpPr/>
          <p:nvPr/>
        </p:nvSpPr>
        <p:spPr>
          <a:xfrm>
            <a:off x="31395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72"/>
          <p:cNvSpPr/>
          <p:nvPr/>
        </p:nvSpPr>
        <p:spPr>
          <a:xfrm>
            <a:off x="4083900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00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72"/>
          <p:cNvSpPr txBox="1"/>
          <p:nvPr/>
        </p:nvSpPr>
        <p:spPr>
          <a:xfrm>
            <a:off x="13036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 + 1</a:t>
            </a:r>
            <a:endParaRPr b="1" sz="1100">
              <a:solidFill>
                <a:srgbClr val="85200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6" name="Google Shape;676;p72"/>
          <p:cNvSpPr txBox="1"/>
          <p:nvPr/>
        </p:nvSpPr>
        <p:spPr>
          <a:xfrm>
            <a:off x="22978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B45F0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7" name="Google Shape;677;p72"/>
          <p:cNvSpPr txBox="1"/>
          <p:nvPr/>
        </p:nvSpPr>
        <p:spPr>
          <a:xfrm>
            <a:off x="32740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</a:t>
            </a: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BF9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8" name="Google Shape;678;p72"/>
          <p:cNvSpPr txBox="1"/>
          <p:nvPr/>
        </p:nvSpPr>
        <p:spPr>
          <a:xfrm>
            <a:off x="4218450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</a:t>
            </a: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79" name="Google Shape;679;p72"/>
          <p:cNvSpPr/>
          <p:nvPr/>
        </p:nvSpPr>
        <p:spPr>
          <a:xfrm>
            <a:off x="50301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F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72"/>
          <p:cNvSpPr/>
          <p:nvPr/>
        </p:nvSpPr>
        <p:spPr>
          <a:xfrm>
            <a:off x="600447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4A86E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72"/>
          <p:cNvSpPr/>
          <p:nvPr/>
        </p:nvSpPr>
        <p:spPr>
          <a:xfrm>
            <a:off x="698067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00FF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72"/>
          <p:cNvSpPr txBox="1"/>
          <p:nvPr/>
        </p:nvSpPr>
        <p:spPr>
          <a:xfrm>
            <a:off x="5178738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</a:t>
            </a: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134F5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3" name="Google Shape;683;p72"/>
          <p:cNvSpPr txBox="1"/>
          <p:nvPr/>
        </p:nvSpPr>
        <p:spPr>
          <a:xfrm>
            <a:off x="607971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</a:t>
            </a: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684" name="Google Shape;684;p72"/>
          <p:cNvSpPr txBox="1"/>
          <p:nvPr/>
        </p:nvSpPr>
        <p:spPr>
          <a:xfrm>
            <a:off x="7099300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</a:t>
            </a: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351C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7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esadecimale</a:t>
            </a:r>
            <a:endParaRPr/>
          </a:p>
        </p:txBody>
      </p:sp>
      <p:sp>
        <p:nvSpPr>
          <p:cNvPr id="690" name="Google Shape;690;p73"/>
          <p:cNvSpPr txBox="1"/>
          <p:nvPr>
            <p:ph idx="1" type="body"/>
          </p:nvPr>
        </p:nvSpPr>
        <p:spPr>
          <a:xfrm>
            <a:off x="311700" y="146882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somma fra i numeri binari (3AF)</a:t>
            </a:r>
            <a:r>
              <a:rPr baseline="-25000" lang="it" sz="1400"/>
              <a:t>16</a:t>
            </a:r>
            <a:r>
              <a:rPr lang="it" sz="1400"/>
              <a:t> → (943)</a:t>
            </a:r>
            <a:r>
              <a:rPr baseline="-25000" lang="it" sz="1400"/>
              <a:t>10</a:t>
            </a:r>
            <a:r>
              <a:rPr lang="it" sz="1400"/>
              <a:t> e (67)</a:t>
            </a:r>
            <a:r>
              <a:rPr baseline="-25000" lang="it" sz="1400"/>
              <a:t>16</a:t>
            </a:r>
            <a:r>
              <a:rPr baseline="-25000" lang="it" sz="1400"/>
              <a:t> </a:t>
            </a:r>
            <a:r>
              <a:rPr lang="it" sz="1400"/>
              <a:t>→ (103)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691" name="Google Shape;691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692" name="Google Shape;692;p73"/>
          <p:cNvGraphicFramePr/>
          <p:nvPr/>
        </p:nvGraphicFramePr>
        <p:xfrm>
          <a:off x="24740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1325"/>
                <a:gridCol w="871325"/>
                <a:gridCol w="871325"/>
                <a:gridCol w="1340275"/>
              </a:tblGrid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 ↔ 10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 ↔ 15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3" name="Google Shape;693;p73"/>
          <p:cNvGraphicFramePr/>
          <p:nvPr/>
        </p:nvGraphicFramePr>
        <p:xfrm>
          <a:off x="456535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96850"/>
                <a:gridCol w="896850"/>
                <a:gridCol w="896850"/>
                <a:gridCol w="896850"/>
                <a:gridCol w="8968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riporti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4" name="Google Shape;69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7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Regola pratica</a:t>
            </a:r>
            <a:endParaRPr/>
          </a:p>
        </p:txBody>
      </p:sp>
      <p:sp>
        <p:nvSpPr>
          <p:cNvPr id="700" name="Google Shape;700;p74"/>
          <p:cNvSpPr txBox="1"/>
          <p:nvPr>
            <p:ph idx="1" type="body"/>
          </p:nvPr>
        </p:nvSpPr>
        <p:spPr>
          <a:xfrm>
            <a:off x="311700" y="1468825"/>
            <a:ext cx="85206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Scrivere tutti i simboli esadecimali da 0 a F e, per fare l’addizione, ‘spostarsi in avanti’ ricordandosi che quando si giunge all’estrema destra della sequenza si deve ricominciare dall’altra parte (in senso orario) e si deve tenere conto del riporto.</a:t>
            </a:r>
            <a:endParaRPr sz="1400"/>
          </a:p>
        </p:txBody>
      </p:sp>
      <p:sp>
        <p:nvSpPr>
          <p:cNvPr id="701" name="Google Shape;701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02" name="Google Shape;702;p74"/>
          <p:cNvGraphicFramePr/>
          <p:nvPr/>
        </p:nvGraphicFramePr>
        <p:xfrm>
          <a:off x="311700" y="284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...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...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3" name="Google Shape;703;p74"/>
          <p:cNvSpPr/>
          <p:nvPr/>
        </p:nvSpPr>
        <p:spPr>
          <a:xfrm>
            <a:off x="4869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74"/>
          <p:cNvSpPr txBox="1"/>
          <p:nvPr/>
        </p:nvSpPr>
        <p:spPr>
          <a:xfrm>
            <a:off x="4869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0 + 1</a:t>
            </a:r>
            <a:endParaRPr b="1" sz="1100">
              <a:solidFill>
                <a:srgbClr val="85200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5" name="Google Shape;705;p74"/>
          <p:cNvSpPr txBox="1"/>
          <p:nvPr/>
        </p:nvSpPr>
        <p:spPr>
          <a:xfrm>
            <a:off x="11940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+ 1</a:t>
            </a:r>
            <a:endParaRPr b="1" sz="1100">
              <a:solidFill>
                <a:srgbClr val="B45F0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6" name="Google Shape;706;p74"/>
          <p:cNvSpPr txBox="1"/>
          <p:nvPr/>
        </p:nvSpPr>
        <p:spPr>
          <a:xfrm>
            <a:off x="19011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 + 1</a:t>
            </a:r>
            <a:endParaRPr b="1" sz="1100">
              <a:solidFill>
                <a:srgbClr val="BF9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7" name="Google Shape;707;p74"/>
          <p:cNvSpPr txBox="1"/>
          <p:nvPr/>
        </p:nvSpPr>
        <p:spPr>
          <a:xfrm>
            <a:off x="26082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 + 1</a:t>
            </a:r>
            <a:endParaRPr b="1" sz="11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8" name="Google Shape;708;p74"/>
          <p:cNvSpPr txBox="1"/>
          <p:nvPr/>
        </p:nvSpPr>
        <p:spPr>
          <a:xfrm>
            <a:off x="325586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 + 1</a:t>
            </a:r>
            <a:endParaRPr b="1" sz="1100">
              <a:solidFill>
                <a:srgbClr val="134F5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09" name="Google Shape;709;p74"/>
          <p:cNvSpPr txBox="1"/>
          <p:nvPr/>
        </p:nvSpPr>
        <p:spPr>
          <a:xfrm>
            <a:off x="402241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 + 1</a:t>
            </a:r>
            <a:endParaRPr b="1" sz="11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0" name="Google Shape;710;p74"/>
          <p:cNvSpPr txBox="1"/>
          <p:nvPr/>
        </p:nvSpPr>
        <p:spPr>
          <a:xfrm>
            <a:off x="47295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 + 1</a:t>
            </a:r>
            <a:endParaRPr b="1" sz="1100">
              <a:solidFill>
                <a:srgbClr val="351C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11" name="Google Shape;711;p74"/>
          <p:cNvSpPr/>
          <p:nvPr/>
        </p:nvSpPr>
        <p:spPr>
          <a:xfrm>
            <a:off x="11940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74"/>
          <p:cNvSpPr/>
          <p:nvPr/>
        </p:nvSpPr>
        <p:spPr>
          <a:xfrm>
            <a:off x="19011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74"/>
          <p:cNvSpPr/>
          <p:nvPr/>
        </p:nvSpPr>
        <p:spPr>
          <a:xfrm>
            <a:off x="26082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00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74"/>
          <p:cNvSpPr/>
          <p:nvPr/>
        </p:nvSpPr>
        <p:spPr>
          <a:xfrm>
            <a:off x="33153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F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74"/>
          <p:cNvSpPr/>
          <p:nvPr/>
        </p:nvSpPr>
        <p:spPr>
          <a:xfrm>
            <a:off x="40224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4A86E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74"/>
          <p:cNvSpPr/>
          <p:nvPr/>
        </p:nvSpPr>
        <p:spPr>
          <a:xfrm>
            <a:off x="47295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00FF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74"/>
          <p:cNvSpPr/>
          <p:nvPr/>
        </p:nvSpPr>
        <p:spPr>
          <a:xfrm>
            <a:off x="75579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FF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74"/>
          <p:cNvSpPr txBox="1"/>
          <p:nvPr/>
        </p:nvSpPr>
        <p:spPr>
          <a:xfrm>
            <a:off x="75579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741B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</a:t>
            </a:r>
            <a:r>
              <a:rPr b="1" lang="it" sz="1100">
                <a:solidFill>
                  <a:srgbClr val="741B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+ 1</a:t>
            </a:r>
            <a:endParaRPr b="1" sz="1100">
              <a:solidFill>
                <a:srgbClr val="741B4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7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sottrazione aritmetica binaria</a:t>
            </a:r>
            <a:endParaRPr/>
          </a:p>
        </p:txBody>
      </p:sp>
      <p:sp>
        <p:nvSpPr>
          <p:cNvPr id="724" name="Google Shape;724;p7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sottrazione di due numeri ottali/esadecimali viene calcolata adattando le stesse regole della sottrazione dei numeri decimali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it" sz="1600"/>
              <a:t>Come avviene nel sistema decimale, quando una cifra del minuendo (il numero di partenza) è minore della cifra corrispondente nel sottraendo (il numero da sottrarre), si procede con il prestito dalla cifra precedente </a:t>
            </a:r>
            <a:endParaRPr sz="1600"/>
          </a:p>
        </p:txBody>
      </p:sp>
      <p:sp>
        <p:nvSpPr>
          <p:cNvPr id="725" name="Google Shape;72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726" name="Google Shape;72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2213" y="24875"/>
            <a:ext cx="28289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7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ottale</a:t>
            </a:r>
            <a:endParaRPr/>
          </a:p>
        </p:txBody>
      </p:sp>
      <p:sp>
        <p:nvSpPr>
          <p:cNvPr id="732" name="Google Shape;732;p76"/>
          <p:cNvSpPr txBox="1"/>
          <p:nvPr>
            <p:ph idx="1" type="body"/>
          </p:nvPr>
        </p:nvSpPr>
        <p:spPr>
          <a:xfrm>
            <a:off x="311700" y="146882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differenze fra i numeri binari (642)</a:t>
            </a:r>
            <a:r>
              <a:rPr baseline="-25000" lang="it" sz="1400"/>
              <a:t>8</a:t>
            </a:r>
            <a:r>
              <a:rPr lang="it" sz="1400"/>
              <a:t> → (418)</a:t>
            </a:r>
            <a:r>
              <a:rPr baseline="-25000" lang="it" sz="1400"/>
              <a:t>10</a:t>
            </a:r>
            <a:r>
              <a:rPr lang="it" sz="1400"/>
              <a:t> e (155)</a:t>
            </a:r>
            <a:r>
              <a:rPr baseline="-25000" lang="it" sz="1400"/>
              <a:t>8 </a:t>
            </a:r>
            <a:r>
              <a:rPr lang="it" sz="1400"/>
              <a:t>→ (109)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733" name="Google Shape;733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34" name="Google Shape;734;p76"/>
          <p:cNvGraphicFramePr/>
          <p:nvPr/>
        </p:nvGraphicFramePr>
        <p:xfrm>
          <a:off x="791625" y="203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75700"/>
                <a:gridCol w="875700"/>
                <a:gridCol w="875700"/>
                <a:gridCol w="875700"/>
              </a:tblGrid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+3=11</a:t>
                      </a:r>
                      <a:endParaRPr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solidFill>
                          <a:srgbClr val="FF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+2=10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35" name="Google Shape;735;p76"/>
          <p:cNvGraphicFramePr/>
          <p:nvPr/>
        </p:nvGraphicFramePr>
        <p:xfrm>
          <a:off x="502040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933375"/>
                <a:gridCol w="933375"/>
                <a:gridCol w="933375"/>
                <a:gridCol w="933375"/>
              </a:tblGrid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10+8=18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36" name="Google Shape;73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7" name="Google Shape;737;p76"/>
          <p:cNvCxnSpPr/>
          <p:nvPr/>
        </p:nvCxnSpPr>
        <p:spPr>
          <a:xfrm flipH="1" rot="10800000">
            <a:off x="2423625" y="3524775"/>
            <a:ext cx="238800" cy="19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8" name="Google Shape;738;p76"/>
          <p:cNvCxnSpPr/>
          <p:nvPr/>
        </p:nvCxnSpPr>
        <p:spPr>
          <a:xfrm flipH="1" rot="10800000">
            <a:off x="6675900" y="3277413"/>
            <a:ext cx="238800" cy="19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7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Regola pratica</a:t>
            </a:r>
            <a:endParaRPr/>
          </a:p>
        </p:txBody>
      </p:sp>
      <p:sp>
        <p:nvSpPr>
          <p:cNvPr id="744" name="Google Shape;744;p77"/>
          <p:cNvSpPr txBox="1"/>
          <p:nvPr>
            <p:ph idx="1" type="body"/>
          </p:nvPr>
        </p:nvSpPr>
        <p:spPr>
          <a:xfrm>
            <a:off x="311700" y="1468825"/>
            <a:ext cx="85206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Scrivere tutti i numeri ottali da 0 a 7 e, per fare la </a:t>
            </a:r>
            <a:r>
              <a:rPr lang="it" sz="1400"/>
              <a:t>sottrazione</a:t>
            </a:r>
            <a:r>
              <a:rPr lang="it" sz="1400"/>
              <a:t>, ‘spostarsi indietro’ ricordandosi che quando si giunge all’estrema sinistra della sequenza si deve ricominciare dall’altra parte (in senso anti-orario) e si deve tenere conto del prestito.</a:t>
            </a:r>
            <a:endParaRPr sz="1400"/>
          </a:p>
        </p:txBody>
      </p:sp>
      <p:sp>
        <p:nvSpPr>
          <p:cNvPr id="745" name="Google Shape;74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46" name="Google Shape;746;p77"/>
          <p:cNvGraphicFramePr/>
          <p:nvPr/>
        </p:nvGraphicFramePr>
        <p:xfrm>
          <a:off x="952500" y="2836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47" name="Google Shape;747;p77"/>
          <p:cNvSpPr/>
          <p:nvPr/>
        </p:nvSpPr>
        <p:spPr>
          <a:xfrm flipH="1">
            <a:off x="12489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77"/>
          <p:cNvSpPr/>
          <p:nvPr/>
        </p:nvSpPr>
        <p:spPr>
          <a:xfrm flipH="1">
            <a:off x="21633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77"/>
          <p:cNvSpPr/>
          <p:nvPr/>
        </p:nvSpPr>
        <p:spPr>
          <a:xfrm flipH="1">
            <a:off x="31395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7"/>
          <p:cNvSpPr/>
          <p:nvPr/>
        </p:nvSpPr>
        <p:spPr>
          <a:xfrm flipH="1">
            <a:off x="4083900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00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77"/>
          <p:cNvSpPr txBox="1"/>
          <p:nvPr/>
        </p:nvSpPr>
        <p:spPr>
          <a:xfrm>
            <a:off x="13036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1 -</a:t>
            </a: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85200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2" name="Google Shape;752;p77"/>
          <p:cNvSpPr txBox="1"/>
          <p:nvPr/>
        </p:nvSpPr>
        <p:spPr>
          <a:xfrm>
            <a:off x="22978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2 -</a:t>
            </a: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B45F0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3" name="Google Shape;753;p77"/>
          <p:cNvSpPr txBox="1"/>
          <p:nvPr/>
        </p:nvSpPr>
        <p:spPr>
          <a:xfrm>
            <a:off x="327407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3 -</a:t>
            </a: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BF9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4" name="Google Shape;754;p77"/>
          <p:cNvSpPr txBox="1"/>
          <p:nvPr/>
        </p:nvSpPr>
        <p:spPr>
          <a:xfrm>
            <a:off x="4218450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4 -</a:t>
            </a: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5" name="Google Shape;755;p77"/>
          <p:cNvSpPr/>
          <p:nvPr/>
        </p:nvSpPr>
        <p:spPr>
          <a:xfrm flipH="1">
            <a:off x="503012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F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7"/>
          <p:cNvSpPr/>
          <p:nvPr/>
        </p:nvSpPr>
        <p:spPr>
          <a:xfrm flipH="1">
            <a:off x="600447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4A86E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77"/>
          <p:cNvSpPr/>
          <p:nvPr/>
        </p:nvSpPr>
        <p:spPr>
          <a:xfrm flipH="1">
            <a:off x="6980675" y="3245025"/>
            <a:ext cx="976200" cy="5595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00FF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77"/>
          <p:cNvSpPr txBox="1"/>
          <p:nvPr/>
        </p:nvSpPr>
        <p:spPr>
          <a:xfrm>
            <a:off x="5178738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5 -</a:t>
            </a: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134F5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59" name="Google Shape;759;p77"/>
          <p:cNvSpPr txBox="1"/>
          <p:nvPr/>
        </p:nvSpPr>
        <p:spPr>
          <a:xfrm>
            <a:off x="607971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6 - 1</a:t>
            </a:r>
            <a:endParaRPr b="1" sz="11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60" name="Google Shape;760;p77"/>
          <p:cNvSpPr txBox="1"/>
          <p:nvPr/>
        </p:nvSpPr>
        <p:spPr>
          <a:xfrm>
            <a:off x="7099300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7 -</a:t>
            </a: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351C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 esadecimale</a:t>
            </a:r>
            <a:endParaRPr/>
          </a:p>
        </p:txBody>
      </p:sp>
      <p:sp>
        <p:nvSpPr>
          <p:cNvPr id="766" name="Google Shape;766;p78"/>
          <p:cNvSpPr txBox="1"/>
          <p:nvPr>
            <p:ph idx="1" type="body"/>
          </p:nvPr>
        </p:nvSpPr>
        <p:spPr>
          <a:xfrm>
            <a:off x="311700" y="1468825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Eseguire la differenza fra i numeri binari (FA2)</a:t>
            </a:r>
            <a:r>
              <a:rPr baseline="-25000" lang="it" sz="1400"/>
              <a:t>16</a:t>
            </a:r>
            <a:r>
              <a:rPr lang="it" sz="1400"/>
              <a:t> → (4002)</a:t>
            </a:r>
            <a:r>
              <a:rPr baseline="-25000" lang="it" sz="1400"/>
              <a:t>10</a:t>
            </a:r>
            <a:r>
              <a:rPr lang="it" sz="1400"/>
              <a:t> e (155)</a:t>
            </a:r>
            <a:r>
              <a:rPr baseline="-25000" lang="it" sz="1400"/>
              <a:t>16 </a:t>
            </a:r>
            <a:r>
              <a:rPr lang="it" sz="1400"/>
              <a:t>→ (341)</a:t>
            </a:r>
            <a:r>
              <a:rPr baseline="-25000" lang="it" sz="1400"/>
              <a:t>10</a:t>
            </a:r>
            <a:r>
              <a:rPr lang="it" sz="1400"/>
              <a:t>: </a:t>
            </a:r>
            <a:endParaRPr sz="1400"/>
          </a:p>
        </p:txBody>
      </p:sp>
      <p:sp>
        <p:nvSpPr>
          <p:cNvPr id="767" name="Google Shape;767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68" name="Google Shape;768;p78"/>
          <p:cNvGraphicFramePr/>
          <p:nvPr/>
        </p:nvGraphicFramePr>
        <p:xfrm>
          <a:off x="24740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937950"/>
                <a:gridCol w="937950"/>
                <a:gridCol w="937950"/>
                <a:gridCol w="1442775"/>
              </a:tblGrid>
              <a:tr h="3962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Operazione in binario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9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16+2=18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 ↔ 15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 ↔ 10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 ↔ 14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 ↔ 13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69" name="Google Shape;769;p78"/>
          <p:cNvGraphicFramePr/>
          <p:nvPr/>
        </p:nvGraphicFramePr>
        <p:xfrm>
          <a:off x="4565350" y="218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{0CE65D0C-E713-4B5A-9F62-234670E506DA}</a:tableStyleId>
              </a:tblPr>
              <a:tblGrid>
                <a:gridCol w="896850"/>
                <a:gridCol w="896850"/>
                <a:gridCol w="896850"/>
                <a:gridCol w="896850"/>
                <a:gridCol w="896850"/>
              </a:tblGrid>
              <a:tr h="396200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000">
                          <a:solidFill>
                            <a:srgbClr val="6AA84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Verifica in decimale</a:t>
                      </a:r>
                      <a:endParaRPr b="1" sz="1000">
                        <a:solidFill>
                          <a:srgbClr val="6AA84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4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3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2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0000FF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Colonna 1</a:t>
                      </a:r>
                      <a:endParaRPr sz="1000">
                        <a:solidFill>
                          <a:srgbClr val="0000FF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10-1=9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10+0</a:t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solidFill>
                            <a:srgbClr val="FF0000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prestiti</a:t>
                      </a:r>
                      <a:endParaRPr sz="1000">
                        <a:solidFill>
                          <a:srgbClr val="FF0000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0" name="Google Shape;7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4790" y="0"/>
            <a:ext cx="979210" cy="14688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1" name="Google Shape;771;p78"/>
          <p:cNvCxnSpPr/>
          <p:nvPr/>
        </p:nvCxnSpPr>
        <p:spPr>
          <a:xfrm flipH="1" rot="10800000">
            <a:off x="4904125" y="3456975"/>
            <a:ext cx="273900" cy="226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78"/>
          <p:cNvCxnSpPr/>
          <p:nvPr/>
        </p:nvCxnSpPr>
        <p:spPr>
          <a:xfrm flipH="1" rot="10800000">
            <a:off x="5782800" y="3456975"/>
            <a:ext cx="273900" cy="226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78"/>
          <p:cNvCxnSpPr/>
          <p:nvPr/>
        </p:nvCxnSpPr>
        <p:spPr>
          <a:xfrm flipH="1" rot="10800000">
            <a:off x="1971175" y="3277400"/>
            <a:ext cx="238800" cy="190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Regola pratica</a:t>
            </a:r>
            <a:endParaRPr/>
          </a:p>
        </p:txBody>
      </p:sp>
      <p:sp>
        <p:nvSpPr>
          <p:cNvPr id="779" name="Google Shape;779;p79"/>
          <p:cNvSpPr txBox="1"/>
          <p:nvPr>
            <p:ph idx="1" type="body"/>
          </p:nvPr>
        </p:nvSpPr>
        <p:spPr>
          <a:xfrm>
            <a:off x="311700" y="1468825"/>
            <a:ext cx="8520600" cy="12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sz="1400"/>
              <a:t>Scrivere tutti i numeri ottali da 0 a F e, per fare la sottrazione, ‘spostarsi indietro’ ricordandosi che quando si giunge all’estrema sinistra della sequenza si deve ricominciare dall’altra parte (in senso anti-orario) e si deve tenere conto del prestito.</a:t>
            </a:r>
            <a:endParaRPr sz="1400"/>
          </a:p>
        </p:txBody>
      </p:sp>
      <p:sp>
        <p:nvSpPr>
          <p:cNvPr id="780" name="Google Shape;780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781" name="Google Shape;781;p79"/>
          <p:cNvGraphicFramePr/>
          <p:nvPr/>
        </p:nvGraphicFramePr>
        <p:xfrm>
          <a:off x="311700" y="284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  <a:gridCol w="69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...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...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F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999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2" name="Google Shape;782;p79"/>
          <p:cNvSpPr/>
          <p:nvPr/>
        </p:nvSpPr>
        <p:spPr>
          <a:xfrm flipH="1">
            <a:off x="4869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79"/>
          <p:cNvSpPr txBox="1"/>
          <p:nvPr/>
        </p:nvSpPr>
        <p:spPr>
          <a:xfrm>
            <a:off x="4869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1 -</a:t>
            </a:r>
            <a:r>
              <a:rPr b="1" lang="it" sz="1100">
                <a:solidFill>
                  <a:srgbClr val="85200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85200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4" name="Google Shape;784;p79"/>
          <p:cNvSpPr txBox="1"/>
          <p:nvPr/>
        </p:nvSpPr>
        <p:spPr>
          <a:xfrm>
            <a:off x="11940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2 -</a:t>
            </a:r>
            <a:r>
              <a:rPr b="1" lang="it" sz="1100">
                <a:solidFill>
                  <a:srgbClr val="B45F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B45F06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5" name="Google Shape;785;p79"/>
          <p:cNvSpPr txBox="1"/>
          <p:nvPr/>
        </p:nvSpPr>
        <p:spPr>
          <a:xfrm>
            <a:off x="19011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3 -</a:t>
            </a:r>
            <a:r>
              <a:rPr b="1" lang="it" sz="1100">
                <a:solidFill>
                  <a:srgbClr val="BF9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BF9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6" name="Google Shape;786;p79"/>
          <p:cNvSpPr txBox="1"/>
          <p:nvPr/>
        </p:nvSpPr>
        <p:spPr>
          <a:xfrm>
            <a:off x="26082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4 -</a:t>
            </a:r>
            <a:r>
              <a:rPr b="1" lang="it" sz="1100">
                <a:solidFill>
                  <a:srgbClr val="38761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38761D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7" name="Google Shape;787;p79"/>
          <p:cNvSpPr txBox="1"/>
          <p:nvPr/>
        </p:nvSpPr>
        <p:spPr>
          <a:xfrm>
            <a:off x="325586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5 -</a:t>
            </a:r>
            <a:r>
              <a:rPr b="1" lang="it" sz="1100">
                <a:solidFill>
                  <a:srgbClr val="134F5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134F5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8" name="Google Shape;788;p79"/>
          <p:cNvSpPr txBox="1"/>
          <p:nvPr/>
        </p:nvSpPr>
        <p:spPr>
          <a:xfrm>
            <a:off x="4022413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6 -</a:t>
            </a:r>
            <a:r>
              <a:rPr b="1" lang="it" sz="1100">
                <a:solidFill>
                  <a:srgbClr val="1155CC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1155CC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89" name="Google Shape;789;p79"/>
          <p:cNvSpPr txBox="1"/>
          <p:nvPr/>
        </p:nvSpPr>
        <p:spPr>
          <a:xfrm>
            <a:off x="47295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7 -</a:t>
            </a:r>
            <a:r>
              <a:rPr b="1" lang="it" sz="1100">
                <a:solidFill>
                  <a:srgbClr val="351C75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</a:t>
            </a:r>
            <a:endParaRPr b="1" sz="1100">
              <a:solidFill>
                <a:srgbClr val="351C75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0" name="Google Shape;790;p79"/>
          <p:cNvSpPr/>
          <p:nvPr/>
        </p:nvSpPr>
        <p:spPr>
          <a:xfrm flipH="1">
            <a:off x="11940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9900"/>
          </a:solidFill>
          <a:ln cap="flat" cmpd="sng" w="9525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79"/>
          <p:cNvSpPr/>
          <p:nvPr/>
        </p:nvSpPr>
        <p:spPr>
          <a:xfrm flipH="1">
            <a:off x="19011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FF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79"/>
          <p:cNvSpPr/>
          <p:nvPr/>
        </p:nvSpPr>
        <p:spPr>
          <a:xfrm flipH="1">
            <a:off x="26082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00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79"/>
          <p:cNvSpPr/>
          <p:nvPr/>
        </p:nvSpPr>
        <p:spPr>
          <a:xfrm flipH="1">
            <a:off x="33153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00FFFF"/>
          </a:solidFill>
          <a:ln cap="flat" cmpd="sng" w="9525">
            <a:solidFill>
              <a:srgbClr val="13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79"/>
          <p:cNvSpPr/>
          <p:nvPr/>
        </p:nvSpPr>
        <p:spPr>
          <a:xfrm flipH="1">
            <a:off x="40224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4A86E8"/>
          </a:solidFill>
          <a:ln cap="flat" cmpd="sng" w="9525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5" name="Google Shape;795;p79"/>
          <p:cNvSpPr/>
          <p:nvPr/>
        </p:nvSpPr>
        <p:spPr>
          <a:xfrm flipH="1">
            <a:off x="47295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9900FF"/>
          </a:solidFill>
          <a:ln cap="flat" cmpd="sng" w="9525">
            <a:solidFill>
              <a:srgbClr val="351C7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79"/>
          <p:cNvSpPr/>
          <p:nvPr/>
        </p:nvSpPr>
        <p:spPr>
          <a:xfrm flipH="1">
            <a:off x="7557925" y="3245025"/>
            <a:ext cx="707100" cy="459000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FF00FF"/>
          </a:solidFill>
          <a:ln cap="flat" cmpd="sng" w="9525">
            <a:solidFill>
              <a:srgbClr val="741B4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79"/>
          <p:cNvSpPr txBox="1"/>
          <p:nvPr/>
        </p:nvSpPr>
        <p:spPr>
          <a:xfrm>
            <a:off x="7557925" y="3804525"/>
            <a:ext cx="7071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741B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 -</a:t>
            </a:r>
            <a:r>
              <a:rPr b="1" lang="it" sz="1100">
                <a:solidFill>
                  <a:srgbClr val="741B4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1</a:t>
            </a:r>
            <a:endParaRPr b="1" sz="1100">
              <a:solidFill>
                <a:srgbClr val="741B47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0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Numeri interi con segno</a:t>
            </a:r>
            <a:endParaRPr/>
          </a:p>
        </p:txBody>
      </p:sp>
      <p:sp>
        <p:nvSpPr>
          <p:cNvPr id="803" name="Google Shape;803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8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numeri interi con segno</a:t>
            </a:r>
            <a:endParaRPr/>
          </a:p>
        </p:txBody>
      </p:sp>
      <p:sp>
        <p:nvSpPr>
          <p:cNvPr id="809" name="Google Shape;809;p8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Esprimendo i numeri su n bit: 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numeri positivi sono rappresentati in modulo e segno</a:t>
            </a:r>
            <a:endParaRPr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 numeri negativi sono rappresentati dal complemento a 2 del corrispondente numero positivo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it"/>
              <a:t>I numeri positivi hanno il bit più significativo a 0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Char char="●"/>
            </a:pPr>
            <a:r>
              <a:rPr lang="it"/>
              <a:t>I numeri negativi hanno il bit più significativo a 1</a:t>
            </a:r>
            <a:endParaRPr/>
          </a:p>
        </p:txBody>
      </p:sp>
      <p:sp>
        <p:nvSpPr>
          <p:cNvPr id="810" name="Google Shape;810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811" name="Google Shape;811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8550" y="146950"/>
            <a:ext cx="333375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82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</a:t>
            </a:r>
            <a:r>
              <a:rPr lang="it"/>
              <a:t>omplemento</a:t>
            </a:r>
            <a:r>
              <a:rPr lang="it"/>
              <a:t> a 1</a:t>
            </a:r>
            <a:endParaRPr/>
          </a:p>
        </p:txBody>
      </p:sp>
      <p:sp>
        <p:nvSpPr>
          <p:cNvPr id="817" name="Google Shape;817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Complemento a 1</a:t>
            </a:r>
            <a:endParaRPr/>
          </a:p>
        </p:txBody>
      </p:sp>
      <p:sp>
        <p:nvSpPr>
          <p:cNvPr id="823" name="Google Shape;823;p8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rappresentazione in </a:t>
            </a:r>
            <a:r>
              <a:rPr b="1" lang="it" sz="1200"/>
              <a:t>complemento a 1 </a:t>
            </a:r>
            <a:r>
              <a:rPr lang="it" sz="1200"/>
              <a:t>è un metodo di rappresentazione dei numeri interi in un computer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Considerando numeri binari di </a:t>
            </a:r>
            <a:r>
              <a:rPr b="1" lang="it" sz="1200"/>
              <a:t>n </a:t>
            </a:r>
            <a:r>
              <a:rPr lang="it" sz="1200"/>
              <a:t>bit , si definisce </a:t>
            </a:r>
            <a:r>
              <a:rPr b="1" lang="it" sz="1200"/>
              <a:t>complemento a uno</a:t>
            </a:r>
            <a:r>
              <a:rPr lang="it" sz="1200"/>
              <a:t> di un numero A la quantità: </a:t>
            </a:r>
            <a:endParaRPr sz="12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CC0000"/>
                </a:solidFill>
              </a:rPr>
              <a:t>Ā = 2</a:t>
            </a:r>
            <a:r>
              <a:rPr b="1" baseline="30000" lang="it" sz="1200">
                <a:solidFill>
                  <a:srgbClr val="CC0000"/>
                </a:solidFill>
              </a:rPr>
              <a:t>n</a:t>
            </a:r>
            <a:r>
              <a:rPr b="1" lang="it" sz="1200">
                <a:solidFill>
                  <a:srgbClr val="CC0000"/>
                </a:solidFill>
              </a:rPr>
              <a:t> - 1 – A </a:t>
            </a:r>
            <a:endParaRPr b="1" sz="1200">
              <a:solidFill>
                <a:srgbClr val="CC0000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Viene anche detto semplicemente </a:t>
            </a:r>
            <a:r>
              <a:rPr b="1" lang="it" sz="1200"/>
              <a:t>complemento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Regola pratica</a:t>
            </a:r>
            <a:r>
              <a:rPr lang="it" sz="1200"/>
              <a:t>: il complemento a uno di un numero binario A si ottiene cambiando il valore di tutti i suoi bit (complementando ogni bit)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Esempio: A = 1011   Ā = 0100 </a:t>
            </a:r>
            <a:endParaRPr sz="1200"/>
          </a:p>
        </p:txBody>
      </p:sp>
      <p:sp>
        <p:nvSpPr>
          <p:cNvPr id="824" name="Google Shape;824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8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</a:t>
            </a:r>
            <a:endParaRPr/>
          </a:p>
        </p:txBody>
      </p:sp>
      <p:sp>
        <p:nvSpPr>
          <p:cNvPr id="830" name="Google Shape;830;p8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Numero intero positivo</a:t>
            </a:r>
            <a:r>
              <a:rPr lang="it" sz="1200"/>
              <a:t>: viene rappresentato come nella rappresentazione senza segno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Esempio: (+63)</a:t>
            </a:r>
            <a:r>
              <a:rPr baseline="-25000" lang="it" sz="1200"/>
              <a:t>10</a:t>
            </a:r>
            <a:r>
              <a:rPr lang="it" sz="1200"/>
              <a:t> = (0111111)</a:t>
            </a:r>
            <a:r>
              <a:rPr baseline="-25000" lang="it" sz="1200"/>
              <a:t>2</a:t>
            </a:r>
            <a:r>
              <a:rPr lang="it"/>
              <a:t> </a:t>
            </a:r>
            <a:r>
              <a:rPr lang="it" sz="1200"/>
              <a:t>dove il bit più a sinistra 0 indica il segno positivo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Numero intero negativo</a:t>
            </a:r>
            <a:r>
              <a:rPr lang="it" sz="1200"/>
              <a:t>: viene rappresentato in complemento a 1 invertendo ogni bit della rappresentazione dell’intero positivo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Char char="○"/>
            </a:pPr>
            <a:r>
              <a:rPr lang="it" sz="1200"/>
              <a:t>Esempio: (-63)</a:t>
            </a:r>
            <a:r>
              <a:rPr baseline="-25000" lang="it" sz="1200"/>
              <a:t>10</a:t>
            </a:r>
            <a:r>
              <a:rPr lang="it" sz="1200"/>
              <a:t> = (1000000)</a:t>
            </a:r>
            <a:r>
              <a:rPr baseline="-25000" lang="it" sz="1200"/>
              <a:t>2</a:t>
            </a:r>
            <a:r>
              <a:rPr lang="it"/>
              <a:t> </a:t>
            </a:r>
            <a:r>
              <a:rPr lang="it" sz="1200"/>
              <a:t>dove il bit più a sinistra 1 indica il segno negativo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A64D79"/>
                </a:solidFill>
              </a:rPr>
              <a:t>Il metodo della rappresentazione in complemento a 1 consente di effettuare le operazioni aritmetiche di somma e sottrazione con un solo circuito</a:t>
            </a:r>
            <a:endParaRPr b="1" sz="1200">
              <a:solidFill>
                <a:srgbClr val="A64D79"/>
              </a:solidFill>
            </a:endParaRPr>
          </a:p>
        </p:txBody>
      </p:sp>
      <p:sp>
        <p:nvSpPr>
          <p:cNvPr id="831" name="Google Shape;831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8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</a:t>
            </a:r>
            <a:r>
              <a:rPr lang="it"/>
              <a:t>...</a:t>
            </a:r>
            <a:endParaRPr/>
          </a:p>
        </p:txBody>
      </p:sp>
      <p:sp>
        <p:nvSpPr>
          <p:cNvPr id="837" name="Google Shape;837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838" name="Google Shape;838;p85"/>
          <p:cNvGraphicFramePr/>
          <p:nvPr/>
        </p:nvGraphicFramePr>
        <p:xfrm>
          <a:off x="530575" y="159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545725"/>
                <a:gridCol w="545725"/>
                <a:gridCol w="545725"/>
                <a:gridCol w="545725"/>
                <a:gridCol w="545725"/>
                <a:gridCol w="545725"/>
                <a:gridCol w="545725"/>
                <a:gridCol w="545725"/>
                <a:gridCol w="545725"/>
              </a:tblGrid>
              <a:tr h="390025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Segno</a:t>
                      </a:r>
                      <a:endParaRPr b="1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+63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+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-63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=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3434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39" name="Google Shape;839;p85"/>
          <p:cNvSpPr/>
          <p:nvPr/>
        </p:nvSpPr>
        <p:spPr>
          <a:xfrm>
            <a:off x="2795400" y="3332250"/>
            <a:ext cx="381900" cy="2901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85"/>
          <p:cNvSpPr/>
          <p:nvPr/>
        </p:nvSpPr>
        <p:spPr>
          <a:xfrm>
            <a:off x="6288800" y="1945900"/>
            <a:ext cx="2139900" cy="864000"/>
          </a:xfrm>
          <a:prstGeom prst="wedgeRoundRectCallout">
            <a:avLst>
              <a:gd fmla="val -110090" name="adj1"/>
              <a:gd fmla="val 77899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Source Code Pro"/>
                <a:ea typeface="Source Code Pro"/>
                <a:cs typeface="Source Code Pro"/>
                <a:sym typeface="Source Code Pro"/>
              </a:rPr>
              <a:t>Rappresentazione in complemento a 1 del risultato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41" name="Google Shape;841;p85"/>
          <p:cNvSpPr/>
          <p:nvPr/>
        </p:nvSpPr>
        <p:spPr>
          <a:xfrm>
            <a:off x="6332550" y="3045300"/>
            <a:ext cx="2139900" cy="864000"/>
          </a:xfrm>
          <a:prstGeom prst="wedgeRoundRectCallout">
            <a:avLst>
              <a:gd fmla="val -107743" name="adj1"/>
              <a:gd fmla="val 48634" name="adj2"/>
              <a:gd fmla="val 0" name="adj3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latin typeface="Source Code Pro"/>
                <a:ea typeface="Source Code Pro"/>
                <a:cs typeface="Source Code Pro"/>
                <a:sym typeface="Source Code Pro"/>
              </a:rPr>
              <a:t>Rappresentazione </a:t>
            </a:r>
            <a:r>
              <a:rPr b="1" lang="it" sz="1200">
                <a:latin typeface="Source Code Pro"/>
                <a:ea typeface="Source Code Pro"/>
                <a:cs typeface="Source Code Pro"/>
                <a:sym typeface="Source Code Pro"/>
              </a:rPr>
              <a:t>NON </a:t>
            </a:r>
            <a:r>
              <a:rPr lang="it" sz="1200">
                <a:latin typeface="Source Code Pro"/>
                <a:ea typeface="Source Code Pro"/>
                <a:cs typeface="Source Code Pro"/>
                <a:sym typeface="Source Code Pro"/>
              </a:rPr>
              <a:t>in complemento a 1 del risultato</a:t>
            </a:r>
            <a:endParaRPr sz="12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842" name="Google Shape;84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5225" y="140350"/>
            <a:ext cx="1217450" cy="164635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85"/>
          <p:cNvSpPr txBox="1"/>
          <p:nvPr/>
        </p:nvSpPr>
        <p:spPr>
          <a:xfrm>
            <a:off x="522450" y="4325675"/>
            <a:ext cx="79062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it" sz="1200">
                <a:solidFill>
                  <a:srgbClr val="FF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Guai in vista! Si hanno due rappresentazioni dello 0! </a:t>
            </a:r>
            <a:endParaRPr b="1" sz="1200">
              <a:solidFill>
                <a:srgbClr val="FF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8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Complemento a 2</a:t>
            </a:r>
            <a:endParaRPr/>
          </a:p>
        </p:txBody>
      </p:sp>
      <p:sp>
        <p:nvSpPr>
          <p:cNvPr id="849" name="Google Shape;849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Complemento a 2</a:t>
            </a:r>
            <a:endParaRPr/>
          </a:p>
        </p:txBody>
      </p:sp>
      <p:sp>
        <p:nvSpPr>
          <p:cNvPr id="855" name="Google Shape;855;p8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rappresentazione in </a:t>
            </a:r>
            <a:r>
              <a:rPr b="1" lang="it" sz="1200"/>
              <a:t>complemento a 2 </a:t>
            </a:r>
            <a:r>
              <a:rPr lang="it" sz="1200"/>
              <a:t>è un metodo di rappresentazione dei numeri interi in un computer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Considerando numeri binari di </a:t>
            </a:r>
            <a:r>
              <a:rPr b="1" lang="it" sz="1200"/>
              <a:t>n </a:t>
            </a:r>
            <a:r>
              <a:rPr lang="it" sz="1200"/>
              <a:t>bit , si definisce </a:t>
            </a:r>
            <a:r>
              <a:rPr b="1" lang="it" sz="1200"/>
              <a:t>complemento a due </a:t>
            </a:r>
            <a:r>
              <a:rPr lang="it" sz="1200"/>
              <a:t>di un numero A la quantità: </a:t>
            </a:r>
            <a:endParaRPr sz="1200"/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CC0000"/>
                </a:solidFill>
              </a:rPr>
              <a:t>Ā</a:t>
            </a:r>
            <a:r>
              <a:rPr b="1" lang="it" sz="1200">
                <a:solidFill>
                  <a:srgbClr val="CC0000"/>
                </a:solidFill>
              </a:rPr>
              <a:t> = A - 2</a:t>
            </a:r>
            <a:r>
              <a:rPr b="1" baseline="30000" lang="it" sz="1200">
                <a:solidFill>
                  <a:srgbClr val="CC0000"/>
                </a:solidFill>
              </a:rPr>
              <a:t>n</a:t>
            </a:r>
            <a:endParaRPr b="1" sz="1200">
              <a:solidFill>
                <a:srgbClr val="CC0000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Regola pratica</a:t>
            </a:r>
            <a:r>
              <a:rPr lang="it" sz="1200"/>
              <a:t>: il complemento a due di un numero binario A si ottiene sommando uno al suo complemento (a uno)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Esempio: A = 1011   Ā = 0100  Ā = 0101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Regola alternativa</a:t>
            </a:r>
            <a:r>
              <a:rPr lang="it" sz="1200"/>
              <a:t>: si parte da destra, si lasciano inalterati tutti gli zeri fino al primo uno che si lascia inalterato, si complementano tutti gli altri bit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Esempio: A = 00110100</a:t>
            </a:r>
            <a:r>
              <a:rPr lang="it" sz="1200">
                <a:solidFill>
                  <a:srgbClr val="CC0000"/>
                </a:solidFill>
              </a:rPr>
              <a:t>1000	</a:t>
            </a:r>
            <a:r>
              <a:rPr lang="it" sz="1200"/>
              <a:t>  Ā = 11001011</a:t>
            </a:r>
            <a:r>
              <a:rPr lang="it" sz="1200">
                <a:solidFill>
                  <a:srgbClr val="CC0000"/>
                </a:solidFill>
              </a:rPr>
              <a:t>1000</a:t>
            </a:r>
            <a:r>
              <a:rPr lang="it" sz="1200"/>
              <a:t> </a:t>
            </a:r>
            <a:endParaRPr sz="1200"/>
          </a:p>
        </p:txBody>
      </p:sp>
      <p:sp>
        <p:nvSpPr>
          <p:cNvPr id="856" name="Google Shape;856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8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</a:t>
            </a:r>
            <a:endParaRPr/>
          </a:p>
        </p:txBody>
      </p:sp>
      <p:sp>
        <p:nvSpPr>
          <p:cNvPr id="862" name="Google Shape;862;p8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Numero intero positivo</a:t>
            </a:r>
            <a:r>
              <a:rPr lang="it" sz="1200"/>
              <a:t>: viene rappresentato come nella rappresentazione senza segno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Esempio: (+63)</a:t>
            </a:r>
            <a:r>
              <a:rPr baseline="-25000" lang="it" sz="1200"/>
              <a:t>10</a:t>
            </a:r>
            <a:r>
              <a:rPr lang="it" sz="1200"/>
              <a:t> = (0111111)</a:t>
            </a:r>
            <a:r>
              <a:rPr baseline="-25000" lang="it" sz="1200"/>
              <a:t>2</a:t>
            </a:r>
            <a:r>
              <a:rPr lang="it"/>
              <a:t> </a:t>
            </a:r>
            <a:r>
              <a:rPr lang="it" sz="1200"/>
              <a:t>dove il bit più a sinistra 0 indica il segno positivo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b="1" lang="it" sz="1200"/>
              <a:t>Numero intero negativo</a:t>
            </a:r>
            <a:r>
              <a:rPr lang="it" sz="1200"/>
              <a:t>: viene rappresentato in complemento a 2 invertendo ogni bit della rappresentazione dell’intero positivo e aggiungendo 1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Esempio: (-63)</a:t>
            </a:r>
            <a:r>
              <a:rPr baseline="-25000" lang="it" sz="1200"/>
              <a:t>10</a:t>
            </a:r>
            <a:r>
              <a:rPr lang="it" sz="1200"/>
              <a:t> = (1000001)</a:t>
            </a:r>
            <a:r>
              <a:rPr baseline="-25000" lang="it" sz="1200"/>
              <a:t>2</a:t>
            </a:r>
            <a:r>
              <a:rPr lang="it"/>
              <a:t> </a:t>
            </a:r>
            <a:r>
              <a:rPr lang="it" sz="1200"/>
              <a:t>dove il bit più a sinistra 1 indica il segno negativo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Riassumendo: il </a:t>
            </a:r>
            <a:r>
              <a:rPr b="1" lang="it" sz="1200"/>
              <a:t>MSB</a:t>
            </a:r>
            <a:r>
              <a:rPr lang="it" sz="1200"/>
              <a:t> (</a:t>
            </a:r>
            <a:r>
              <a:rPr b="1" lang="it" sz="1200"/>
              <a:t>M</a:t>
            </a:r>
            <a:r>
              <a:rPr lang="it" sz="1200"/>
              <a:t>ost </a:t>
            </a:r>
            <a:r>
              <a:rPr b="1" lang="it" sz="1200"/>
              <a:t>S</a:t>
            </a:r>
            <a:r>
              <a:rPr lang="it" sz="1200"/>
              <a:t>ignificant </a:t>
            </a:r>
            <a:r>
              <a:rPr b="1" lang="it" sz="1200"/>
              <a:t>B</a:t>
            </a:r>
            <a:r>
              <a:rPr lang="it" sz="1200"/>
              <a:t>it) indica il segno: 0 = + , 1 = -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A64D79"/>
                </a:solidFill>
              </a:rPr>
              <a:t>Il metodo della rappresentazione in complemento a 2 consente di effettuare le operazioni aritmetiche di somma e sottrazione con un solo circuito</a:t>
            </a:r>
            <a:endParaRPr b="1" sz="1600">
              <a:solidFill>
                <a:srgbClr val="A64D79"/>
              </a:solidFill>
            </a:endParaRPr>
          </a:p>
        </p:txBody>
      </p:sp>
      <p:sp>
        <p:nvSpPr>
          <p:cNvPr id="863" name="Google Shape;863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8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numeri interi con segno in binario</a:t>
            </a:r>
            <a:endParaRPr/>
          </a:p>
        </p:txBody>
      </p:sp>
      <p:sp>
        <p:nvSpPr>
          <p:cNvPr id="869" name="Google Shape;869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870" name="Google Shape;870;p89"/>
          <p:cNvGraphicFramePr/>
          <p:nvPr/>
        </p:nvGraphicFramePr>
        <p:xfrm>
          <a:off x="416400" y="1433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1525275"/>
                <a:gridCol w="1896975"/>
                <a:gridCol w="2188300"/>
                <a:gridCol w="2700650"/>
              </a:tblGrid>
              <a:tr h="512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Numero di bit n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Informazioni rappresentabili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Numeri senza segno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="1"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 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- 1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Numeri con segno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="1"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n-1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="1"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n-1 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- 1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6D9EEB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-1 → 0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-2 → 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-4 → 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4-1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-8 → 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32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31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5-1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-16 → 15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64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63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6-1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-32 → 31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128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127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7-1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-64 → 63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256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0 → 255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 → 2</a:t>
                      </a:r>
                      <a:r>
                        <a:rPr baseline="30000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8-1</a:t>
                      </a: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-1 ⇒ -128 → 127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 anchor="ctr">
                    <a:solidFill>
                      <a:srgbClr val="C9DA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9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Binary Circle</a:t>
            </a:r>
            <a:endParaRPr/>
          </a:p>
        </p:txBody>
      </p:sp>
      <p:sp>
        <p:nvSpPr>
          <p:cNvPr id="876" name="Google Shape;876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877" name="Google Shape;877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200" y="1234600"/>
            <a:ext cx="5049589" cy="37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9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Somma e sottrazione in complemento a 2</a:t>
            </a:r>
            <a:endParaRPr/>
          </a:p>
        </p:txBody>
      </p:sp>
      <p:sp>
        <p:nvSpPr>
          <p:cNvPr id="883" name="Google Shape;883;p91"/>
          <p:cNvSpPr txBox="1"/>
          <p:nvPr>
            <p:ph idx="1" type="body"/>
          </p:nvPr>
        </p:nvSpPr>
        <p:spPr>
          <a:xfrm>
            <a:off x="311700" y="3116950"/>
            <a:ext cx="5469600" cy="12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Overflow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operandi con segno </a:t>
            </a:r>
            <a:r>
              <a:rPr b="1" lang="it" sz="1100"/>
              <a:t>discorde</a:t>
            </a:r>
            <a:endParaRPr b="1"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b="1" lang="it" sz="1100"/>
              <a:t>non si </a:t>
            </a:r>
            <a:r>
              <a:rPr b="1" lang="it" sz="1100"/>
              <a:t>può</a:t>
            </a:r>
            <a:r>
              <a:rPr b="1" lang="it" sz="1100"/>
              <a:t> mai verificare overflow!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operandi con segno </a:t>
            </a:r>
            <a:r>
              <a:rPr b="1" lang="it" sz="1100"/>
              <a:t>concorde</a:t>
            </a:r>
            <a:endParaRPr b="1"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b="1" lang="it" sz="1100"/>
              <a:t>c</a:t>
            </a:r>
            <a:r>
              <a:rPr lang="it" sz="1100"/>
              <a:t>’è overflow quando il risultato ha segno discorde da quello dei due operandi</a:t>
            </a:r>
            <a:endParaRPr sz="1100"/>
          </a:p>
        </p:txBody>
      </p:sp>
      <p:sp>
        <p:nvSpPr>
          <p:cNvPr id="884" name="Google Shape;884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885" name="Google Shape;885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6600" y="3301813"/>
            <a:ext cx="2862600" cy="925372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91"/>
          <p:cNvSpPr txBox="1"/>
          <p:nvPr>
            <p:ph idx="1" type="body"/>
          </p:nvPr>
        </p:nvSpPr>
        <p:spPr>
          <a:xfrm>
            <a:off x="311700" y="1343475"/>
            <a:ext cx="8527500" cy="184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 somma si effettua direttamente, senza badare ai segni degli operandi, come fossero due normali numeri binari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 sottrazione si effettua sommando al minuendo il complemento a 2 del sottraendo: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A – B = A + (- B) ovvero: A + Ḇ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Esempio: 10 - 12 = -2 ⇒ 01010 + 10100 = 11110</a:t>
            </a:r>
            <a:endParaRPr sz="11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92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Numeri razionali</a:t>
            </a:r>
            <a:endParaRPr/>
          </a:p>
        </p:txBody>
      </p:sp>
      <p:sp>
        <p:nvSpPr>
          <p:cNvPr id="892" name="Google Shape;892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9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Numeri con virgola fissa</a:t>
            </a:r>
            <a:endParaRPr/>
          </a:p>
        </p:txBody>
      </p:sp>
      <p:sp>
        <p:nvSpPr>
          <p:cNvPr id="898" name="Google Shape;898;p93"/>
          <p:cNvSpPr txBox="1"/>
          <p:nvPr>
            <p:ph idx="1" type="body"/>
          </p:nvPr>
        </p:nvSpPr>
        <p:spPr>
          <a:xfrm>
            <a:off x="311700" y="1468825"/>
            <a:ext cx="8520600" cy="181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Un numero </a:t>
            </a:r>
            <a:r>
              <a:rPr b="1" lang="it" sz="1200"/>
              <a:t>razionale </a:t>
            </a:r>
            <a:r>
              <a:rPr lang="it" sz="1200"/>
              <a:t>ha una parte intera (prima della virgola) e una parte frazionaria (dopo la virgola)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Char char="○"/>
            </a:pPr>
            <a:r>
              <a:rPr lang="it" sz="1200"/>
              <a:t>es: 3,12	0,00045	5024,17	 ... (in base 10)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rappresentare i numeri razionali in </a:t>
            </a:r>
            <a:r>
              <a:rPr b="1" lang="it" sz="1200"/>
              <a:t>virgola fissa</a:t>
            </a:r>
            <a:r>
              <a:rPr lang="it" sz="1200"/>
              <a:t> è necessario riservare un numero fisso di bit per </a:t>
            </a:r>
            <a:r>
              <a:rPr b="1" lang="it" sz="1200"/>
              <a:t>parte intera</a:t>
            </a:r>
            <a:r>
              <a:rPr lang="it" sz="1200"/>
              <a:t> ed un numero fisso di bit </a:t>
            </a:r>
            <a:r>
              <a:rPr b="1" lang="it" sz="1200"/>
              <a:t>parte frazionaria</a:t>
            </a:r>
            <a:r>
              <a:rPr lang="it" sz="1200"/>
              <a:t>;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semplicità consideriamo solo numeri positivi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99" name="Google Shape;899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00" name="Google Shape;900;p93"/>
          <p:cNvSpPr txBox="1"/>
          <p:nvPr/>
        </p:nvSpPr>
        <p:spPr>
          <a:xfrm>
            <a:off x="331575" y="4034325"/>
            <a:ext cx="85008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2"/>
              </a:buClr>
              <a:buSzPts val="1200"/>
              <a:buFont typeface="Source Code Pro"/>
              <a:buChar char="●"/>
            </a:pPr>
            <a:r>
              <a:rPr lang="it"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 4 bit per la parte intera e 2 bit per quella frazionaria si possono rappresentare numeri come: 1011,01 	1001,01 		1000,10</a:t>
            </a:r>
            <a:endParaRPr sz="12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901" name="Google Shape;901;p93"/>
          <p:cNvGraphicFramePr/>
          <p:nvPr/>
        </p:nvGraphicFramePr>
        <p:xfrm>
          <a:off x="962475" y="3467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3951000"/>
                <a:gridCol w="3288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Parte intera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Parte frazionaria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4A86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900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2E9"/>
                    </a:solidFill>
                  </a:tcPr>
                </a:tc>
              </a:tr>
            </a:tbl>
          </a:graphicData>
        </a:graphic>
      </p:graphicFrame>
      <p:pic>
        <p:nvPicPr>
          <p:cNvPr id="902" name="Google Shape;90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6400" y="139575"/>
            <a:ext cx="11430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</a:t>
            </a:r>
            <a:endParaRPr/>
          </a:p>
        </p:txBody>
      </p:sp>
      <p:sp>
        <p:nvSpPr>
          <p:cNvPr id="908" name="Google Shape;908;p94"/>
          <p:cNvSpPr txBox="1"/>
          <p:nvPr>
            <p:ph idx="1" type="body"/>
          </p:nvPr>
        </p:nvSpPr>
        <p:spPr>
          <a:xfrm>
            <a:off x="311700" y="1468825"/>
            <a:ext cx="8520600" cy="33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Conversione di numeri frazionari </a:t>
            </a:r>
            <a:r>
              <a:rPr b="1" lang="it" sz="1100"/>
              <a:t>da base 2 a base 10</a:t>
            </a:r>
            <a:r>
              <a:rPr lang="it" sz="1100"/>
              <a:t>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come per gli interi </a:t>
            </a:r>
            <a:endParaRPr sz="1100"/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Source Code Pro"/>
              <a:buChar char="○"/>
            </a:pPr>
            <a:r>
              <a:rPr lang="it" sz="1100"/>
              <a:t>101,01 = 1*2</a:t>
            </a:r>
            <a:r>
              <a:rPr baseline="30000" lang="it" sz="1100"/>
              <a:t>2</a:t>
            </a:r>
            <a:r>
              <a:rPr lang="it" sz="1100"/>
              <a:t> + 0*2</a:t>
            </a:r>
            <a:r>
              <a:rPr baseline="30000" lang="it" sz="1100"/>
              <a:t>1</a:t>
            </a:r>
            <a:r>
              <a:rPr lang="it" sz="1100"/>
              <a:t> + 1*2</a:t>
            </a:r>
            <a:r>
              <a:rPr baseline="30000" lang="it" sz="1100"/>
              <a:t>0</a:t>
            </a:r>
            <a:r>
              <a:rPr lang="it" sz="1100"/>
              <a:t> + 0*2</a:t>
            </a:r>
            <a:r>
              <a:rPr baseline="30000" lang="it" sz="1100"/>
              <a:t>-1</a:t>
            </a:r>
            <a:r>
              <a:rPr lang="it" sz="1100"/>
              <a:t> + 1*2</a:t>
            </a:r>
            <a:r>
              <a:rPr baseline="30000" lang="it" sz="1100"/>
              <a:t>-2</a:t>
            </a:r>
            <a:r>
              <a:rPr lang="it" sz="1100"/>
              <a:t> = 4 + 0 + 1 + 0 + 0.25 = 5,25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Conversione </a:t>
            </a:r>
            <a:r>
              <a:rPr b="1" lang="it" sz="1100"/>
              <a:t>da base 10 a base 2</a:t>
            </a:r>
            <a:r>
              <a:rPr lang="it" sz="1100"/>
              <a:t>: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parte intera: per divisioni successive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parte decimale: per moltiplicazioni successive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es: 6,125 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it" sz="1100"/>
              <a:t>parte intera: 110 parte 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it" sz="1100"/>
              <a:t>parte decimale:</a:t>
            </a:r>
            <a:endParaRPr sz="1100"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0,125 * 2 = 0,25 =&gt; 0 riporto 0,25</a:t>
            </a:r>
            <a:endParaRPr sz="1100"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0,25 * 2 = 0,50 =&gt; 0 riporto 0,50</a:t>
            </a:r>
            <a:endParaRPr sz="1100"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0,50 * 2 = 1 =&gt; 1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it" sz="1100"/>
              <a:t>Quindi 6.125 =&gt; 110,001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Alcuni numeri frazionari con rappresentazione finita in base 10 sono periodici in base 2.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es: 0,6 =&gt; 0,1001100110011001... = 0,</a:t>
            </a:r>
            <a:r>
              <a:rPr lang="it" sz="1100" u="sng"/>
              <a:t>1001</a:t>
            </a:r>
            <a:endParaRPr sz="1100"/>
          </a:p>
        </p:txBody>
      </p:sp>
      <p:sp>
        <p:nvSpPr>
          <p:cNvPr id="909" name="Google Shape;909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10" name="Google Shape;91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7300" y="68125"/>
            <a:ext cx="1823850" cy="167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9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Ma...</a:t>
            </a:r>
            <a:endParaRPr/>
          </a:p>
        </p:txBody>
      </p:sp>
      <p:sp>
        <p:nvSpPr>
          <p:cNvPr id="916" name="Google Shape;916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17" name="Google Shape;91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1950" y="2122500"/>
            <a:ext cx="3099399" cy="2755775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95"/>
          <p:cNvSpPr txBox="1"/>
          <p:nvPr>
            <p:ph idx="1" type="body"/>
          </p:nvPr>
        </p:nvSpPr>
        <p:spPr>
          <a:xfrm>
            <a:off x="311700" y="1468825"/>
            <a:ext cx="39999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La massa dell’elettrone è: 0.000000000000000000000000000000091 Kg</a:t>
            </a:r>
            <a:endParaRPr sz="1200"/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19" name="Google Shape;919;p95"/>
          <p:cNvSpPr txBox="1"/>
          <p:nvPr>
            <p:ph idx="2" type="body"/>
          </p:nvPr>
        </p:nvSpPr>
        <p:spPr>
          <a:xfrm>
            <a:off x="4832400" y="1468825"/>
            <a:ext cx="3999900" cy="5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La massa della terra è:  5973600000000000000000000 kg</a:t>
            </a:r>
            <a:endParaRPr sz="1200"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920" name="Google Shape;920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4475" y="2152513"/>
            <a:ext cx="2695750" cy="26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8195" y="65100"/>
            <a:ext cx="912955" cy="12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95"/>
          <p:cNvSpPr txBox="1"/>
          <p:nvPr/>
        </p:nvSpPr>
        <p:spPr>
          <a:xfrm rot="426194">
            <a:off x="8218276" y="209099"/>
            <a:ext cx="587106" cy="321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200">
                <a:solidFill>
                  <a:srgbClr val="CC000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SOS</a:t>
            </a:r>
            <a:endParaRPr b="1" sz="1200">
              <a:solidFill>
                <a:srgbClr val="CC000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9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Quindi...</a:t>
            </a:r>
            <a:endParaRPr/>
          </a:p>
        </p:txBody>
      </p:sp>
      <p:sp>
        <p:nvSpPr>
          <p:cNvPr id="928" name="Google Shape;928;p9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Come possiamo gestire numeri di questo tipo e stabilire univocamente la convenzione sulla posizione della virgola?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pensi cosa sarebbe necessario fare se si volesse rappresentare grandezze di questo tipo all’interno di un elaboratore poiché </a:t>
            </a:r>
            <a:r>
              <a:rPr b="1" lang="it" sz="1200"/>
              <a:t>il numero di cifre in base 2 è notevolmente più lungo di quello del numero in base 10</a:t>
            </a:r>
            <a:r>
              <a:rPr lang="it" sz="1200"/>
              <a:t>. Anche solo scrivere su un foglio di carta questi numeri è difficoltoso!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L’alternativa è di scrivere il numero indicando solo le cifre essenziali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9.1 × 10</a:t>
            </a:r>
            <a:r>
              <a:rPr baseline="30000" lang="it" sz="1200"/>
              <a:t>-31</a:t>
            </a:r>
            <a:endParaRPr baseline="30000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5.9736 × 10</a:t>
            </a:r>
            <a:r>
              <a:rPr baseline="30000" lang="it" sz="1200"/>
              <a:t>24</a:t>
            </a:r>
            <a:endParaRPr baseline="30000"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it" sz="1200"/>
              <a:t>Questo tipo di scrittura viene denominato notazione scientifica. Spesso il 10 viene sostituito dal simbolo “e” ottenendo 9.1e-31 kg e 5.9736e24 kg rispettivamente</a:t>
            </a:r>
            <a:endParaRPr sz="1200"/>
          </a:p>
        </p:txBody>
      </p:sp>
      <p:sp>
        <p:nvSpPr>
          <p:cNvPr id="929" name="Google Shape;929;p9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30" name="Google Shape;930;p96"/>
          <p:cNvPicPr preferRelativeResize="0"/>
          <p:nvPr/>
        </p:nvPicPr>
        <p:blipFill rotWithShape="1">
          <a:blip r:embed="rId3">
            <a:alphaModFix/>
          </a:blip>
          <a:srcRect b="5743" l="0" r="0" t="10769"/>
          <a:stretch/>
        </p:blipFill>
        <p:spPr>
          <a:xfrm>
            <a:off x="7621700" y="98800"/>
            <a:ext cx="1399450" cy="148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9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Virgola fissa e spreco di spazio</a:t>
            </a:r>
            <a:endParaRPr/>
          </a:p>
        </p:txBody>
      </p:sp>
      <p:sp>
        <p:nvSpPr>
          <p:cNvPr id="936" name="Google Shape;936;p97"/>
          <p:cNvSpPr txBox="1"/>
          <p:nvPr>
            <p:ph idx="1" type="body"/>
          </p:nvPr>
        </p:nvSpPr>
        <p:spPr>
          <a:xfrm>
            <a:off x="311700" y="1309375"/>
            <a:ext cx="8520600" cy="33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Limitazioni della rappresentazione in virgola fissa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Non rappresenta bene numeri frazionari molto grandi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Non </a:t>
            </a:r>
            <a:r>
              <a:rPr lang="it" sz="1100"/>
              <a:t>rappresenta</a:t>
            </a:r>
            <a:r>
              <a:rPr lang="it" sz="1100"/>
              <a:t> bene numeri frazionari molto piccoli</a:t>
            </a:r>
            <a:endParaRPr sz="1100"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b="1" lang="it" sz="1100"/>
              <a:t>Spreco di bit</a:t>
            </a:r>
            <a:r>
              <a:rPr lang="it" sz="1100"/>
              <a:t> per memorizzare zeri </a:t>
            </a:r>
            <a:endParaRPr sz="1100"/>
          </a:p>
          <a:p>
            <a:pPr indent="-298450" lvl="3" marL="18288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es: in base 10, con 4 cifre per la parte intera e 2 cifre riservate alla parte frazionaria otterremmo 7000,00 oppure 0000,09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 </a:t>
            </a:r>
            <a:r>
              <a:rPr lang="it" sz="1100"/>
              <a:t>rappresentazione</a:t>
            </a:r>
            <a:r>
              <a:rPr lang="it" sz="1100"/>
              <a:t> in virgola mobile </a:t>
            </a:r>
            <a:r>
              <a:rPr b="1" lang="it" sz="1100"/>
              <a:t>estende l’intervallo di numeri rappresentati</a:t>
            </a:r>
            <a:r>
              <a:rPr lang="it" sz="1100"/>
              <a:t> a parità di cifre, rispetto alla notazione in virgola fissa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Intervallo di numeri rappresentabili</a:t>
            </a:r>
            <a:r>
              <a:rPr lang="it" sz="1100"/>
              <a:t> piccolo per molte applicazioni: in base 2, con N bit per parte intera e K per parte frazionaria, il numero massimo rappresentabile è 2</a:t>
            </a:r>
            <a:r>
              <a:rPr baseline="30000" lang="it" sz="1100"/>
              <a:t>N</a:t>
            </a:r>
            <a:r>
              <a:rPr baseline="-25000" lang="it" sz="1100"/>
              <a:t> </a:t>
            </a:r>
            <a:r>
              <a:rPr lang="it" sz="1100"/>
              <a:t>- 1/2</a:t>
            </a:r>
            <a:r>
              <a:rPr baseline="30000" lang="it" sz="1100"/>
              <a:t>K</a:t>
            </a:r>
            <a:r>
              <a:rPr lang="it" sz="1100"/>
              <a:t>, il minimo numero positivo è 1/2</a:t>
            </a:r>
            <a:r>
              <a:rPr baseline="30000" lang="it" sz="1100"/>
              <a:t>K</a:t>
            </a:r>
            <a:r>
              <a:rPr lang="it" sz="1100"/>
              <a:t>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es: per N=4 e K=3, il max è 1111.111 = 15.875, mentre il minimo positivo è 0000.001 = 0.125.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 </a:t>
            </a:r>
            <a:r>
              <a:rPr b="1" lang="it" sz="1100"/>
              <a:t>notazione esponenziale</a:t>
            </a:r>
            <a:r>
              <a:rPr lang="it" sz="1100"/>
              <a:t> o </a:t>
            </a:r>
            <a:r>
              <a:rPr b="1" lang="it" sz="1100"/>
              <a:t>floating point</a:t>
            </a:r>
            <a:r>
              <a:rPr lang="it" sz="1100"/>
              <a:t> (virgola mobile) riduce entrambi i problemi: i bit vengono usati più efficientemente, per un intervallo di numeri più ampio</a:t>
            </a:r>
            <a:endParaRPr sz="1100"/>
          </a:p>
        </p:txBody>
      </p:sp>
      <p:sp>
        <p:nvSpPr>
          <p:cNvPr id="937" name="Google Shape;937;p9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38" name="Google Shape;938;p97"/>
          <p:cNvPicPr preferRelativeResize="0"/>
          <p:nvPr/>
        </p:nvPicPr>
        <p:blipFill rotWithShape="1">
          <a:blip r:embed="rId3">
            <a:alphaModFix/>
          </a:blip>
          <a:srcRect b="0" l="15262" r="14304" t="0"/>
          <a:stretch/>
        </p:blipFill>
        <p:spPr>
          <a:xfrm>
            <a:off x="6292825" y="177275"/>
            <a:ext cx="285117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Numeri con virgola mobile</a:t>
            </a:r>
            <a:endParaRPr/>
          </a:p>
        </p:txBody>
      </p:sp>
      <p:sp>
        <p:nvSpPr>
          <p:cNvPr id="944" name="Google Shape;944;p9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Fissata una </a:t>
            </a:r>
            <a:r>
              <a:rPr b="1" lang="it" sz="1300"/>
              <a:t>base b</a:t>
            </a:r>
            <a:r>
              <a:rPr lang="it" sz="1300"/>
              <a:t>, un </a:t>
            </a:r>
            <a:r>
              <a:rPr b="1" lang="it" sz="1300"/>
              <a:t>numero n </a:t>
            </a:r>
            <a:r>
              <a:rPr lang="it" sz="1300"/>
              <a:t>può essere rappresentato dalla coppia </a:t>
            </a:r>
            <a:r>
              <a:rPr b="1" lang="it" sz="1300">
                <a:solidFill>
                  <a:srgbClr val="FF9900"/>
                </a:solidFill>
              </a:rPr>
              <a:t>mantissa m </a:t>
            </a:r>
            <a:r>
              <a:rPr lang="it" sz="1300"/>
              <a:t>ed </a:t>
            </a:r>
            <a:r>
              <a:rPr b="1" lang="it" sz="1300">
                <a:solidFill>
                  <a:srgbClr val="0000FF"/>
                </a:solidFill>
              </a:rPr>
              <a:t>esponente e</a:t>
            </a:r>
            <a:r>
              <a:rPr lang="it" sz="1300"/>
              <a:t>, con il seguente significato </a:t>
            </a:r>
            <a:endParaRPr sz="1300"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b="1" lang="it" sz="1300"/>
              <a:t>n = </a:t>
            </a:r>
            <a:r>
              <a:rPr b="1" lang="it" sz="1300">
                <a:solidFill>
                  <a:srgbClr val="FF9900"/>
                </a:solidFill>
              </a:rPr>
              <a:t>m </a:t>
            </a:r>
            <a:r>
              <a:rPr b="1" lang="it" sz="1300"/>
              <a:t>* b</a:t>
            </a:r>
            <a:r>
              <a:rPr b="1" baseline="30000" lang="it" sz="1300">
                <a:solidFill>
                  <a:srgbClr val="0000FF"/>
                </a:solidFill>
              </a:rPr>
              <a:t>e</a:t>
            </a:r>
            <a:endParaRPr b="1" baseline="30000" sz="1300">
              <a:solidFill>
                <a:srgbClr val="0000FF"/>
              </a:solidFill>
            </a:endParaRPr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La </a:t>
            </a:r>
            <a:r>
              <a:rPr b="1" lang="it" sz="1300">
                <a:solidFill>
                  <a:srgbClr val="FF9900"/>
                </a:solidFill>
              </a:rPr>
              <a:t>mantissa </a:t>
            </a:r>
            <a:r>
              <a:rPr lang="it" sz="1300"/>
              <a:t>rappresenta le cifre significative (cioè diverse da zero) del numero, l'</a:t>
            </a:r>
            <a:r>
              <a:rPr b="1" lang="it" sz="1300">
                <a:solidFill>
                  <a:srgbClr val="0000FF"/>
                </a:solidFill>
              </a:rPr>
              <a:t>esponente</a:t>
            </a:r>
            <a:r>
              <a:rPr lang="it" sz="1300"/>
              <a:t> indica la posizione della virgola.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Es: il numero 289,34 ha varie rappresentazioni in virgola mobile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it" sz="1300"/>
              <a:t>(2,8934;+2), cioè 2,8934 * 10</a:t>
            </a:r>
            <a:r>
              <a:rPr baseline="30000" lang="it" sz="1300"/>
              <a:t>2</a:t>
            </a:r>
            <a:r>
              <a:rPr lang="it" sz="1300"/>
              <a:t> (</a:t>
            </a:r>
            <a:r>
              <a:rPr b="1" lang="it" sz="1300">
                <a:solidFill>
                  <a:srgbClr val="FF0000"/>
                </a:solidFill>
              </a:rPr>
              <a:t>forma normalizzata</a:t>
            </a:r>
            <a:r>
              <a:rPr lang="it" sz="1300"/>
              <a:t>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it" sz="1300"/>
              <a:t>(0,028934;+4), cioè 0,028934 * 10</a:t>
            </a:r>
            <a:r>
              <a:rPr baseline="30000" lang="it" sz="1300"/>
              <a:t>4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it" sz="1300"/>
              <a:t>(28934,0;-4), cioè 28934,0 * 10</a:t>
            </a:r>
            <a:r>
              <a:rPr baseline="30000" lang="it" sz="1300"/>
              <a:t>-4</a:t>
            </a:r>
            <a:endParaRPr baseline="30000" sz="1300"/>
          </a:p>
          <a:p>
            <a:pPr indent="-311150" lvl="0" marL="457200" rtl="0" algn="l">
              <a:spcBef>
                <a:spcPts val="1000"/>
              </a:spcBef>
              <a:spcAft>
                <a:spcPts val="1600"/>
              </a:spcAft>
              <a:buSzPts val="1300"/>
              <a:buChar char="●"/>
            </a:pPr>
            <a:r>
              <a:rPr lang="it" sz="1300"/>
              <a:t>Si dice</a:t>
            </a:r>
            <a:r>
              <a:rPr b="1" lang="it" sz="1300">
                <a:solidFill>
                  <a:srgbClr val="FF0000"/>
                </a:solidFill>
              </a:rPr>
              <a:t> normalizzato</a:t>
            </a:r>
            <a:r>
              <a:rPr lang="it" sz="1300"/>
              <a:t>, un numero in cui 1 ≤ </a:t>
            </a:r>
            <a:r>
              <a:rPr b="1" lang="it" sz="1300">
                <a:solidFill>
                  <a:srgbClr val="FF9900"/>
                </a:solidFill>
              </a:rPr>
              <a:t>m </a:t>
            </a:r>
            <a:r>
              <a:rPr lang="it" sz="1300"/>
              <a:t>&lt;10</a:t>
            </a:r>
            <a:endParaRPr sz="1300"/>
          </a:p>
        </p:txBody>
      </p:sp>
      <p:sp>
        <p:nvSpPr>
          <p:cNvPr id="945" name="Google Shape;945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46" name="Google Shape;94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700" y="76250"/>
            <a:ext cx="1565451" cy="15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9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 base 2</a:t>
            </a:r>
            <a:endParaRPr/>
          </a:p>
        </p:txBody>
      </p:sp>
      <p:sp>
        <p:nvSpPr>
          <p:cNvPr id="952" name="Google Shape;952;p9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In base 2 la situazione è del tutto analoga.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es: in base 2, il numero positivo 101,011 ha varie rappresentazioni in virgola mobile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(1,01011;+2), cioè 1,101011*2</a:t>
            </a:r>
            <a:r>
              <a:rPr baseline="30000" lang="it" sz="1200"/>
              <a:t>2</a:t>
            </a:r>
            <a:r>
              <a:rPr lang="it" sz="1200"/>
              <a:t> (</a:t>
            </a:r>
            <a:r>
              <a:rPr b="1" lang="it" sz="1200">
                <a:solidFill>
                  <a:srgbClr val="FF0000"/>
                </a:solidFill>
              </a:rPr>
              <a:t>forma normalizzata</a:t>
            </a:r>
            <a:r>
              <a:rPr lang="it" sz="1200"/>
              <a:t>)</a:t>
            </a:r>
            <a:endParaRPr sz="1200"/>
          </a:p>
          <a:p>
            <a:pPr indent="-3048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Char char="■"/>
            </a:pPr>
            <a:r>
              <a:rPr lang="it" sz="1200"/>
              <a:t>(0,0101011;+4), cioè 0,0101011*2</a:t>
            </a:r>
            <a:r>
              <a:rPr baseline="30000" lang="it" sz="1200"/>
              <a:t>4</a:t>
            </a:r>
            <a:endParaRPr baseline="30000"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(101011,0;-3), cioè 101011,0*2</a:t>
            </a:r>
            <a:r>
              <a:rPr baseline="30000" lang="it" sz="1200"/>
              <a:t>-3</a:t>
            </a:r>
            <a:endParaRPr baseline="30000"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dice </a:t>
            </a:r>
            <a:r>
              <a:rPr b="1" lang="it" sz="1200">
                <a:solidFill>
                  <a:srgbClr val="FF0000"/>
                </a:solidFill>
              </a:rPr>
              <a:t>normalizzato </a:t>
            </a:r>
            <a:r>
              <a:rPr lang="it" sz="1200"/>
              <a:t>un numero in cui la prima cifra della mantissa è sempre 1. Tale cifra </a:t>
            </a:r>
            <a:r>
              <a:rPr b="1" lang="it" sz="1200"/>
              <a:t>NON </a:t>
            </a:r>
            <a:r>
              <a:rPr lang="it" sz="1200"/>
              <a:t>viene rappresentata esplicitamente</a:t>
            </a:r>
            <a:endParaRPr sz="1200"/>
          </a:p>
          <a:p>
            <a:pPr indent="-304800" lvl="0" marL="457200" rtl="0" algn="l">
              <a:spcBef>
                <a:spcPts val="16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Quindi un numero binario normalizzato è sempre nella forma 1.XXXXXXXXX…</a:t>
            </a:r>
            <a:endParaRPr sz="1200"/>
          </a:p>
        </p:txBody>
      </p:sp>
      <p:sp>
        <p:nvSpPr>
          <p:cNvPr id="953" name="Google Shape;953;p9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54" name="Google Shape;954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700" y="76250"/>
            <a:ext cx="1565451" cy="15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10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Quindi ...</a:t>
            </a:r>
            <a:endParaRPr/>
          </a:p>
        </p:txBody>
      </p:sp>
      <p:sp>
        <p:nvSpPr>
          <p:cNvPr id="960" name="Google Shape;960;p10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Per rappresentare numeri in virgola mobile si deve fissare un </a:t>
            </a:r>
            <a:r>
              <a:rPr b="1" lang="it" sz="1200"/>
              <a:t>numero di bit N</a:t>
            </a:r>
            <a:r>
              <a:rPr b="1" baseline="-25000" lang="it" sz="1200"/>
              <a:t>m</a:t>
            </a:r>
            <a:r>
              <a:rPr lang="it" sz="1200"/>
              <a:t> per il valore assoluto della </a:t>
            </a:r>
            <a:r>
              <a:rPr b="1" lang="it" sz="1200"/>
              <a:t>mantissa</a:t>
            </a:r>
            <a:r>
              <a:rPr lang="it" sz="1200"/>
              <a:t>, un </a:t>
            </a:r>
            <a:r>
              <a:rPr b="1" lang="it" sz="1200"/>
              <a:t>numero di bit N</a:t>
            </a:r>
            <a:r>
              <a:rPr b="1" baseline="-25000" lang="it" sz="1200"/>
              <a:t>e</a:t>
            </a:r>
            <a:r>
              <a:rPr lang="it" sz="1200"/>
              <a:t> per l'esponente in </a:t>
            </a:r>
            <a:r>
              <a:rPr b="1" lang="it" sz="1200"/>
              <a:t>complemento a 2</a:t>
            </a:r>
            <a:r>
              <a:rPr lang="it" sz="1200"/>
              <a:t>, un numero di bit </a:t>
            </a:r>
            <a:r>
              <a:rPr b="1" lang="it" sz="1200"/>
              <a:t>N</a:t>
            </a:r>
            <a:r>
              <a:rPr b="1" baseline="-25000" lang="it" sz="1200"/>
              <a:t>S</a:t>
            </a:r>
            <a:r>
              <a:rPr lang="it" sz="1200"/>
              <a:t> per il segno del numero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E’ possibile in teoria avere un numero elevatissimo di codifica in virgola mobile, cambiando: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Numero bit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più bits per mantissa: maggior accuratezza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più bits per esponente: maggior intervallo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Tipo di codifica binaria per mantissa ed esponente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Formula di conversione decimale/binario e viceversa</a:t>
            </a:r>
            <a:endParaRPr sz="1200"/>
          </a:p>
        </p:txBody>
      </p:sp>
      <p:sp>
        <p:nvSpPr>
          <p:cNvPr id="961" name="Google Shape;961;p10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62" name="Google Shape;962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55700" y="76250"/>
            <a:ext cx="1565451" cy="154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0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Numeri Reali Virgola Mobile IEEE 754</a:t>
            </a:r>
            <a:endParaRPr/>
          </a:p>
        </p:txBody>
      </p:sp>
      <p:sp>
        <p:nvSpPr>
          <p:cNvPr id="968" name="Google Shape;968;p101"/>
          <p:cNvSpPr txBox="1"/>
          <p:nvPr>
            <p:ph idx="1" type="body"/>
          </p:nvPr>
        </p:nvSpPr>
        <p:spPr>
          <a:xfrm>
            <a:off x="311700" y="1468825"/>
            <a:ext cx="8520600" cy="334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Nell'anno 1985 l'</a:t>
            </a:r>
            <a:r>
              <a:rPr b="1" lang="it" sz="1200"/>
              <a:t>IEEE</a:t>
            </a:r>
            <a:r>
              <a:rPr lang="it" sz="1200"/>
              <a:t> (The Institute of Electrical and Electronics Engineering) ha definito uno standard per la codifica dei numeri reali in virgola mobile: </a:t>
            </a:r>
            <a:r>
              <a:rPr b="1" lang="it" sz="1200"/>
              <a:t>IEEE 754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Lo standard prevede due codifiche: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32 bit (</a:t>
            </a:r>
            <a:r>
              <a:rPr b="1" lang="it" sz="1200"/>
              <a:t>float</a:t>
            </a:r>
            <a:r>
              <a:rPr lang="it" sz="1200"/>
              <a:t>) </a:t>
            </a:r>
            <a:r>
              <a:rPr b="1" lang="it" sz="1200"/>
              <a:t>Single Precision</a:t>
            </a:r>
            <a:endParaRPr b="1"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it" sz="1200"/>
              <a:t>1-bit segno (0 positivo, 1 negativo) + 8-bit esponente + 23-bit mantissa</a:t>
            </a:r>
            <a:endParaRPr sz="1200"/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64 bit (</a:t>
            </a:r>
            <a:r>
              <a:rPr b="1" lang="it" sz="1200"/>
              <a:t>double</a:t>
            </a:r>
            <a:r>
              <a:rPr lang="it" sz="1200"/>
              <a:t>) </a:t>
            </a:r>
            <a:r>
              <a:rPr b="1" lang="it" sz="1200"/>
              <a:t>Double Precision</a:t>
            </a:r>
            <a:endParaRPr b="1"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it" sz="1200"/>
              <a:t>1-bit segno </a:t>
            </a:r>
            <a:r>
              <a:rPr lang="it" sz="1200"/>
              <a:t>(0 positivo, 1 negativo)</a:t>
            </a:r>
            <a:r>
              <a:rPr lang="it" sz="1200"/>
              <a:t> + 11-bit esponente + 52-bit mantissa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rappresentazione IEEE 754 prevede due diverse forme: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/>
              <a:t>Normalizzata </a:t>
            </a:r>
            <a:r>
              <a:rPr lang="it" sz="1200"/>
              <a:t>(default) e se ne presenta solo la parte frazionaria e ≠ 00000000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/>
              <a:t>Denormalizzata </a:t>
            </a:r>
            <a:r>
              <a:rPr lang="it" sz="1200"/>
              <a:t>(risultato di calcoli che producono numeri piccoli) e = 00000000</a:t>
            </a:r>
            <a:endParaRPr sz="1200"/>
          </a:p>
        </p:txBody>
      </p:sp>
      <p:sp>
        <p:nvSpPr>
          <p:cNvPr id="969" name="Google Shape;969;p10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70" name="Google Shape;970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58" y="0"/>
            <a:ext cx="1633067" cy="1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0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Graficamente</a:t>
            </a:r>
            <a:endParaRPr/>
          </a:p>
        </p:txBody>
      </p:sp>
      <p:sp>
        <p:nvSpPr>
          <p:cNvPr id="976" name="Google Shape;976;p10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977" name="Google Shape;977;p102"/>
          <p:cNvGraphicFramePr/>
          <p:nvPr/>
        </p:nvGraphicFramePr>
        <p:xfrm>
          <a:off x="628175" y="173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Esponente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2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Mantissa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 gridSpan="3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Singola Precisione</a:t>
                      </a:r>
                      <a:endParaRPr b="1"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978" name="Google Shape;978;p102"/>
          <p:cNvSpPr txBox="1"/>
          <p:nvPr/>
        </p:nvSpPr>
        <p:spPr>
          <a:xfrm>
            <a:off x="588750" y="1539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31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79" name="Google Shape;979;p102"/>
          <p:cNvSpPr txBox="1"/>
          <p:nvPr/>
        </p:nvSpPr>
        <p:spPr>
          <a:xfrm>
            <a:off x="842250" y="1539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30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0" name="Google Shape;980;p102"/>
          <p:cNvSpPr txBox="1"/>
          <p:nvPr/>
        </p:nvSpPr>
        <p:spPr>
          <a:xfrm>
            <a:off x="2479025" y="1539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23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1" name="Google Shape;981;p102"/>
          <p:cNvSpPr txBox="1"/>
          <p:nvPr/>
        </p:nvSpPr>
        <p:spPr>
          <a:xfrm>
            <a:off x="2732525" y="1539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22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2" name="Google Shape;982;p102"/>
          <p:cNvSpPr txBox="1"/>
          <p:nvPr/>
        </p:nvSpPr>
        <p:spPr>
          <a:xfrm>
            <a:off x="8027425" y="1539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aphicFrame>
        <p:nvGraphicFramePr>
          <p:cNvPr id="983" name="Google Shape;983;p102"/>
          <p:cNvGraphicFramePr/>
          <p:nvPr/>
        </p:nvGraphicFramePr>
        <p:xfrm>
          <a:off x="611800" y="332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…</a:t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6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…</a:t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Esponente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2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Mantissa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  <a:tr h="381000">
                <a:tc gridSpan="3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Doppia </a:t>
                      </a:r>
                      <a:r>
                        <a:rPr b="1"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Precisione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984" name="Google Shape;984;p102"/>
          <p:cNvSpPr txBox="1"/>
          <p:nvPr/>
        </p:nvSpPr>
        <p:spPr>
          <a:xfrm>
            <a:off x="572375" y="3128050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63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5" name="Google Shape;985;p102"/>
          <p:cNvSpPr txBox="1"/>
          <p:nvPr/>
        </p:nvSpPr>
        <p:spPr>
          <a:xfrm>
            <a:off x="825875" y="3128050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62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6" name="Google Shape;986;p102"/>
          <p:cNvSpPr txBox="1"/>
          <p:nvPr/>
        </p:nvSpPr>
        <p:spPr>
          <a:xfrm>
            <a:off x="2462650" y="3128050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52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7" name="Google Shape;987;p102"/>
          <p:cNvSpPr txBox="1"/>
          <p:nvPr/>
        </p:nvSpPr>
        <p:spPr>
          <a:xfrm>
            <a:off x="2716150" y="3128050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51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988" name="Google Shape;988;p102"/>
          <p:cNvSpPr txBox="1"/>
          <p:nvPr/>
        </p:nvSpPr>
        <p:spPr>
          <a:xfrm>
            <a:off x="8011050" y="3128050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0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Numeri Reali Virgola Mobile IEEE 754</a:t>
            </a:r>
            <a:endParaRPr/>
          </a:p>
        </p:txBody>
      </p:sp>
      <p:sp>
        <p:nvSpPr>
          <p:cNvPr id="994" name="Google Shape;994;p10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bit '1' bit più significativo della mantissa è </a:t>
            </a:r>
            <a:r>
              <a:rPr b="1" lang="it" sz="1200"/>
              <a:t>implicito</a:t>
            </a:r>
            <a:endParaRPr b="1"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si risparmia 1 bit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Esponente è </a:t>
            </a:r>
            <a:r>
              <a:rPr b="1" lang="it" sz="1200"/>
              <a:t>biased </a:t>
            </a:r>
            <a:r>
              <a:rPr lang="it" sz="1200"/>
              <a:t>(polarizzato), </a:t>
            </a:r>
            <a:r>
              <a:rPr b="1" lang="it" sz="1200"/>
              <a:t>per avere numeri sempre positivi</a:t>
            </a:r>
            <a:r>
              <a:rPr lang="it" sz="1200"/>
              <a:t>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00...000 esponente minimo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11...111 esponente massimo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bias 127 per singola precisione, 1023 per doppia precisione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Esempio di esponente biased (semplice precisione) 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se gli 8 bit dell’esponente biased contengono 10100011 = 163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allora l’esponente vale: 163-127 = 36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se gli 8 bit dell’esponente biased contengono 00100111 = 39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allora l’esponente vale: 39-127 = -88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200"/>
              <a:buChar char="●"/>
            </a:pPr>
            <a:r>
              <a:rPr b="1" lang="it" sz="1200">
                <a:solidFill>
                  <a:srgbClr val="CC0000"/>
                </a:solidFill>
              </a:rPr>
              <a:t>Valore: (segno) (1. + mantissa) </a:t>
            </a:r>
            <a:r>
              <a:rPr b="1" lang="it" sz="1100">
                <a:solidFill>
                  <a:srgbClr val="CC0000"/>
                </a:solidFill>
              </a:rPr>
              <a:t>∗ </a:t>
            </a:r>
            <a:r>
              <a:rPr b="1" lang="it" sz="1200">
                <a:solidFill>
                  <a:srgbClr val="CC0000"/>
                </a:solidFill>
              </a:rPr>
              <a:t>2</a:t>
            </a:r>
            <a:r>
              <a:rPr b="1" baseline="30000" lang="it" sz="1200">
                <a:solidFill>
                  <a:srgbClr val="CC0000"/>
                </a:solidFill>
              </a:rPr>
              <a:t>esponente_biased-bias</a:t>
            </a:r>
            <a:endParaRPr b="1" baseline="30000" sz="1200">
              <a:solidFill>
                <a:srgbClr val="CC0000"/>
              </a:solidFill>
            </a:endParaRPr>
          </a:p>
        </p:txBody>
      </p:sp>
      <p:sp>
        <p:nvSpPr>
          <p:cNvPr id="995" name="Google Shape;995;p10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96" name="Google Shape;996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58" y="0"/>
            <a:ext cx="1633067" cy="1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0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Numeri Reali Virgola Mobile IEEE 754</a:t>
            </a:r>
            <a:endParaRPr/>
          </a:p>
        </p:txBody>
      </p:sp>
      <p:sp>
        <p:nvSpPr>
          <p:cNvPr id="1002" name="Google Shape;1002;p10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 Per quanto riguarda l’esponente: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viene rappresentato in eccesso 127 (polarizzazione o </a:t>
            </a:r>
            <a:r>
              <a:rPr b="1" lang="it" sz="1200"/>
              <a:t>BIAS</a:t>
            </a:r>
            <a:r>
              <a:rPr lang="it" sz="1200"/>
              <a:t>)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l’intervallo è [-127, +128]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le due configurazioni estreme sono riservate </a:t>
            </a:r>
            <a:endParaRPr sz="1200"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it" sz="1200"/>
              <a:t>si usa l’intervallo: -126 ≤ e ≤ 127</a:t>
            </a:r>
            <a:endParaRPr sz="1200"/>
          </a:p>
          <a:p>
            <a:pPr indent="-3048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it" sz="1200"/>
              <a:t>Gli intervalli di numeri rappresentati sono pertanto: [-2</a:t>
            </a:r>
            <a:r>
              <a:rPr baseline="30000" lang="it" sz="1200"/>
              <a:t>127</a:t>
            </a:r>
            <a:r>
              <a:rPr lang="it" sz="1200"/>
              <a:t>,-2</a:t>
            </a:r>
            <a:r>
              <a:rPr baseline="30000" lang="it" sz="1200"/>
              <a:t>-126</a:t>
            </a:r>
            <a:r>
              <a:rPr lang="it" sz="1200"/>
              <a:t>] [2</a:t>
            </a:r>
            <a:r>
              <a:rPr baseline="30000" lang="it" sz="1200"/>
              <a:t>-126</a:t>
            </a:r>
            <a:r>
              <a:rPr lang="it" sz="1200"/>
              <a:t>,2</a:t>
            </a:r>
            <a:r>
              <a:rPr baseline="30000" lang="it" sz="1200"/>
              <a:t>127</a:t>
            </a:r>
            <a:r>
              <a:rPr lang="it" sz="1200"/>
              <a:t>]</a:t>
            </a:r>
            <a:endParaRPr sz="1200"/>
          </a:p>
        </p:txBody>
      </p:sp>
      <p:sp>
        <p:nvSpPr>
          <p:cNvPr id="1003" name="Google Shape;1003;p10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04" name="Google Shape;1004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58" y="0"/>
            <a:ext cx="1633067" cy="1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da decimale a binario</a:t>
            </a:r>
            <a:endParaRPr/>
          </a:p>
        </p:txBody>
      </p:sp>
      <p:sp>
        <p:nvSpPr>
          <p:cNvPr id="1010" name="Google Shape;1010;p105"/>
          <p:cNvSpPr txBox="1"/>
          <p:nvPr>
            <p:ph idx="1" type="body"/>
          </p:nvPr>
        </p:nvSpPr>
        <p:spPr>
          <a:xfrm>
            <a:off x="311700" y="1468825"/>
            <a:ext cx="8520600" cy="13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Si vuole </a:t>
            </a:r>
            <a:r>
              <a:rPr lang="it" sz="1200"/>
              <a:t>rappresentare il numero (4,375)</a:t>
            </a:r>
            <a:r>
              <a:rPr baseline="-25000" lang="it" sz="1200"/>
              <a:t>10</a:t>
            </a:r>
            <a:r>
              <a:rPr lang="it" sz="1200"/>
              <a:t> in binario 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Secondo le indicazioni delle standard a </a:t>
            </a:r>
            <a:r>
              <a:rPr b="1" lang="it" sz="1200"/>
              <a:t>singola precisione</a:t>
            </a:r>
            <a:r>
              <a:rPr lang="it" sz="1200"/>
              <a:t> bisognerà utilizzare: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1 bit di segno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8 bit di esponente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1000"/>
              </a:spcAft>
              <a:buSzPts val="1200"/>
              <a:buChar char="○"/>
            </a:pPr>
            <a:r>
              <a:rPr lang="it" sz="1200"/>
              <a:t>23 bit di mantissa</a:t>
            </a:r>
            <a:endParaRPr sz="1200"/>
          </a:p>
        </p:txBody>
      </p:sp>
      <p:sp>
        <p:nvSpPr>
          <p:cNvPr id="1011" name="Google Shape;1011;p10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012" name="Google Shape;1012;p105"/>
          <p:cNvGraphicFramePr/>
          <p:nvPr/>
        </p:nvGraphicFramePr>
        <p:xfrm>
          <a:off x="743500" y="333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  <a:gridCol w="239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S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 grid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Esponente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gridSpan="2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2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Mantissa</a:t>
                      </a:r>
                      <a:endParaRPr sz="12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FFF2CC"/>
                    </a:solidFill>
                  </a:tcPr>
                </a:tc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sp>
        <p:nvSpPr>
          <p:cNvPr id="1013" name="Google Shape;1013;p105"/>
          <p:cNvSpPr txBox="1"/>
          <p:nvPr/>
        </p:nvSpPr>
        <p:spPr>
          <a:xfrm>
            <a:off x="704075" y="3135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31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14" name="Google Shape;1014;p105"/>
          <p:cNvSpPr txBox="1"/>
          <p:nvPr/>
        </p:nvSpPr>
        <p:spPr>
          <a:xfrm>
            <a:off x="957575" y="3135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30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15" name="Google Shape;1015;p105"/>
          <p:cNvSpPr txBox="1"/>
          <p:nvPr/>
        </p:nvSpPr>
        <p:spPr>
          <a:xfrm>
            <a:off x="2594350" y="3135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23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16" name="Google Shape;1016;p105"/>
          <p:cNvSpPr txBox="1"/>
          <p:nvPr/>
        </p:nvSpPr>
        <p:spPr>
          <a:xfrm>
            <a:off x="2847850" y="3135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22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017" name="Google Shape;1017;p105"/>
          <p:cNvSpPr txBox="1"/>
          <p:nvPr/>
        </p:nvSpPr>
        <p:spPr>
          <a:xfrm>
            <a:off x="8142750" y="3135225"/>
            <a:ext cx="329700" cy="19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>
                <a:latin typeface="Source Code Pro"/>
                <a:ea typeface="Source Code Pro"/>
                <a:cs typeface="Source Code Pro"/>
                <a:sym typeface="Source Code Pro"/>
              </a:rPr>
              <a:t>0</a:t>
            </a:r>
            <a:endParaRPr sz="8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18" name="Google Shape;101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5515" y="82275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0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 decimale a binario</a:t>
            </a:r>
            <a:endParaRPr/>
          </a:p>
        </p:txBody>
      </p:sp>
      <p:sp>
        <p:nvSpPr>
          <p:cNvPr id="1024" name="Google Shape;1024;p10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ricerca del segno è semplice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0 per indicare un segno +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1 per indicare un segno -  </a:t>
            </a:r>
            <a:endParaRPr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es: (4,375)</a:t>
            </a:r>
            <a:r>
              <a:rPr baseline="-25000" lang="it" sz="1600"/>
              <a:t>10</a:t>
            </a:r>
            <a:r>
              <a:rPr lang="it" sz="1600"/>
              <a:t> è composto da 4 e 0,375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(4)</a:t>
            </a:r>
            <a:r>
              <a:rPr baseline="-25000" lang="it"/>
              <a:t>10</a:t>
            </a:r>
            <a:r>
              <a:rPr lang="it"/>
              <a:t> = (100)</a:t>
            </a:r>
            <a:r>
              <a:rPr baseline="-25000" lang="it"/>
              <a:t>2</a:t>
            </a:r>
            <a:r>
              <a:rPr lang="it"/>
              <a:t>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(0,375)</a:t>
            </a:r>
            <a:r>
              <a:rPr baseline="-25000" lang="it"/>
              <a:t>10</a:t>
            </a:r>
            <a:r>
              <a:rPr lang="it"/>
              <a:t> = (0,01100)</a:t>
            </a:r>
            <a:r>
              <a:rPr baseline="-25000" lang="it"/>
              <a:t>2</a:t>
            </a:r>
            <a:r>
              <a:rPr lang="it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(4,375)</a:t>
            </a:r>
            <a:r>
              <a:rPr baseline="-25000" lang="it"/>
              <a:t>10</a:t>
            </a:r>
            <a:r>
              <a:rPr lang="it"/>
              <a:t> = (100,01100)</a:t>
            </a:r>
            <a:r>
              <a:rPr baseline="-25000" lang="it"/>
              <a:t>2</a:t>
            </a:r>
            <a:endParaRPr/>
          </a:p>
        </p:txBody>
      </p:sp>
      <p:sp>
        <p:nvSpPr>
          <p:cNvPr id="1025" name="Google Shape;1025;p10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26" name="Google Shape;102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5515" y="82275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10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 decimale a binario</a:t>
            </a:r>
            <a:endParaRPr/>
          </a:p>
        </p:txBody>
      </p:sp>
      <p:sp>
        <p:nvSpPr>
          <p:cNvPr id="1032" name="Google Shape;1032;p10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La prima cifra della mantissa è sempre 1, quindi si deve normalizzare facendo scorrere la virgola e modificando in maniera opportuna l'esponente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(4,375)</a:t>
            </a:r>
            <a:r>
              <a:rPr baseline="-25000" lang="it"/>
              <a:t>10</a:t>
            </a:r>
            <a:r>
              <a:rPr lang="it"/>
              <a:t> = (100,01100)</a:t>
            </a:r>
            <a:r>
              <a:rPr baseline="-25000" lang="it"/>
              <a:t>2</a:t>
            </a:r>
            <a:r>
              <a:rPr lang="it"/>
              <a:t> = (100,011)</a:t>
            </a:r>
            <a:r>
              <a:rPr baseline="-25000" lang="it"/>
              <a:t>2</a:t>
            </a:r>
            <a:r>
              <a:rPr lang="it"/>
              <a:t> = (1,00011)</a:t>
            </a:r>
            <a:r>
              <a:rPr baseline="-25000" lang="it"/>
              <a:t>2</a:t>
            </a:r>
            <a:r>
              <a:rPr lang="it"/>
              <a:t> * 2</a:t>
            </a:r>
            <a:r>
              <a:rPr baseline="30000" lang="it"/>
              <a:t>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quindi la mantissa è 00011000000000000000000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l'esponente (eccesso 127) è 127+2 = (129)</a:t>
            </a:r>
            <a:r>
              <a:rPr baseline="-25000" lang="it"/>
              <a:t>10</a:t>
            </a:r>
            <a:r>
              <a:rPr lang="it"/>
              <a:t> ovvero 10000001</a:t>
            </a:r>
            <a:endParaRPr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Mettendo tutto insieme si ottiene: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1600"/>
              </a:spcAft>
              <a:buSzPts val="1400"/>
              <a:buChar char="○"/>
            </a:pPr>
            <a:r>
              <a:rPr b="1" lang="it">
                <a:solidFill>
                  <a:srgbClr val="6AA84F"/>
                </a:solidFill>
              </a:rPr>
              <a:t>0</a:t>
            </a:r>
            <a:r>
              <a:rPr lang="it"/>
              <a:t> </a:t>
            </a:r>
            <a:r>
              <a:rPr b="1" lang="it">
                <a:solidFill>
                  <a:srgbClr val="CC0000"/>
                </a:solidFill>
              </a:rPr>
              <a:t>10000001</a:t>
            </a:r>
            <a:r>
              <a:rPr lang="it"/>
              <a:t> </a:t>
            </a:r>
            <a:r>
              <a:rPr b="1" lang="it">
                <a:solidFill>
                  <a:srgbClr val="F1C232"/>
                </a:solidFill>
              </a:rPr>
              <a:t>00011000000000000000000</a:t>
            </a:r>
            <a:endParaRPr b="1">
              <a:solidFill>
                <a:srgbClr val="F1C232"/>
              </a:solidFill>
            </a:endParaRPr>
          </a:p>
        </p:txBody>
      </p:sp>
      <p:sp>
        <p:nvSpPr>
          <p:cNvPr id="1033" name="Google Shape;1033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34" name="Google Shape;1034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5515" y="82275"/>
            <a:ext cx="979210" cy="14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0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Conversione da binario a decimale</a:t>
            </a:r>
            <a:endParaRPr/>
          </a:p>
        </p:txBody>
      </p:sp>
      <p:sp>
        <p:nvSpPr>
          <p:cNvPr id="1040" name="Google Shape;1040;p10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it" sz="1100"/>
              <a:t>Dato il seguente numero in singola precisione: </a:t>
            </a:r>
            <a:endParaRPr sz="1100"/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6AA84F"/>
                </a:solidFill>
              </a:rPr>
              <a:t>1</a:t>
            </a:r>
            <a:r>
              <a:rPr b="1" lang="it" sz="1100"/>
              <a:t> </a:t>
            </a:r>
            <a:r>
              <a:rPr b="1" lang="it" sz="1100">
                <a:solidFill>
                  <a:srgbClr val="CC0000"/>
                </a:solidFill>
              </a:rPr>
              <a:t>10000001 </a:t>
            </a:r>
            <a:r>
              <a:rPr b="1" lang="it" sz="1100">
                <a:solidFill>
                  <a:srgbClr val="F1C232"/>
                </a:solidFill>
              </a:rPr>
              <a:t>01000000000000000000000</a:t>
            </a:r>
            <a:endParaRPr b="1" sz="1100">
              <a:solidFill>
                <a:srgbClr val="F1C232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6AA84F"/>
                </a:solidFill>
              </a:rPr>
              <a:t>1 </a:t>
            </a:r>
            <a:r>
              <a:rPr lang="it" sz="1100"/>
              <a:t>segno negativo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CC0000"/>
                </a:solidFill>
              </a:rPr>
              <a:t>10000001 </a:t>
            </a:r>
            <a:r>
              <a:rPr lang="it" sz="1100"/>
              <a:t>e = 129 - 127 (bias)= 2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F1C232"/>
                </a:solidFill>
              </a:rPr>
              <a:t>01000000000000000000000 </a:t>
            </a:r>
            <a:r>
              <a:rPr lang="it" sz="1100"/>
              <a:t>mantissa = 1 + 2</a:t>
            </a:r>
            <a:r>
              <a:rPr baseline="30000" lang="it" sz="1100"/>
              <a:t>-2</a:t>
            </a:r>
            <a:r>
              <a:rPr lang="it" sz="1100"/>
              <a:t> = 1.25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it" sz="1100"/>
              <a:t>quindi il numero rappresentato è -(1.25 ∗ 2</a:t>
            </a:r>
            <a:r>
              <a:rPr baseline="30000" lang="it" sz="1100"/>
              <a:t>2</a:t>
            </a:r>
            <a:r>
              <a:rPr lang="it" sz="1100"/>
              <a:t>) = -5.00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AutoNum type="arabicPeriod"/>
            </a:pPr>
            <a:r>
              <a:rPr lang="it" sz="1100"/>
              <a:t>Dato il seguente numero in singola precisione: </a:t>
            </a:r>
            <a:endParaRPr sz="1100"/>
          </a:p>
          <a:p>
            <a:pPr indent="0" lvl="0" marL="45720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it" sz="1100">
                <a:solidFill>
                  <a:srgbClr val="6AA84F"/>
                </a:solidFill>
              </a:rPr>
              <a:t>0</a:t>
            </a:r>
            <a:r>
              <a:rPr b="1" lang="it" sz="1100"/>
              <a:t> </a:t>
            </a:r>
            <a:r>
              <a:rPr b="1" lang="it" sz="1100">
                <a:solidFill>
                  <a:srgbClr val="CC0000"/>
                </a:solidFill>
              </a:rPr>
              <a:t>10000011 </a:t>
            </a:r>
            <a:r>
              <a:rPr b="1" lang="it" sz="1100">
                <a:solidFill>
                  <a:srgbClr val="F1C232"/>
                </a:solidFill>
              </a:rPr>
              <a:t>10011000000000000000000</a:t>
            </a:r>
            <a:endParaRPr b="1" sz="1100">
              <a:solidFill>
                <a:srgbClr val="F1C232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6AA84F"/>
                </a:solidFill>
              </a:rPr>
              <a:t>0 </a:t>
            </a:r>
            <a:r>
              <a:rPr lang="it" sz="1100"/>
              <a:t>segno positivo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CC0000"/>
                </a:solidFill>
              </a:rPr>
              <a:t>10000011 </a:t>
            </a:r>
            <a:r>
              <a:rPr lang="it" sz="1100"/>
              <a:t>e = 131 - 127 (bias)= 4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it" sz="1100">
                <a:solidFill>
                  <a:srgbClr val="F1C232"/>
                </a:solidFill>
              </a:rPr>
              <a:t>10011000000000000000000 </a:t>
            </a:r>
            <a:r>
              <a:rPr lang="it" sz="1100"/>
              <a:t>mantissa = 1 + 2</a:t>
            </a:r>
            <a:r>
              <a:rPr baseline="30000" lang="it" sz="1100"/>
              <a:t>-1</a:t>
            </a:r>
            <a:r>
              <a:rPr lang="it" sz="1100"/>
              <a:t> + 2</a:t>
            </a:r>
            <a:r>
              <a:rPr baseline="30000" lang="it" sz="1100"/>
              <a:t>-4</a:t>
            </a:r>
            <a:r>
              <a:rPr lang="it" sz="1100"/>
              <a:t> + 2</a:t>
            </a:r>
            <a:r>
              <a:rPr baseline="30000" lang="it" sz="1100"/>
              <a:t>-5</a:t>
            </a:r>
            <a:r>
              <a:rPr lang="it" sz="1100"/>
              <a:t> = 1.59375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1000"/>
              </a:spcAft>
              <a:buSzPts val="1100"/>
              <a:buAutoNum type="alphaLcPeriod"/>
            </a:pPr>
            <a:r>
              <a:rPr lang="it" sz="1100"/>
              <a:t>quindi il numero rappresentato è +(1.59375 ∗ 2</a:t>
            </a:r>
            <a:r>
              <a:rPr baseline="30000" lang="it" sz="1100"/>
              <a:t>4</a:t>
            </a:r>
            <a:r>
              <a:rPr lang="it" sz="1100"/>
              <a:t>) = 25.5</a:t>
            </a:r>
            <a:endParaRPr sz="1100"/>
          </a:p>
        </p:txBody>
      </p:sp>
      <p:sp>
        <p:nvSpPr>
          <p:cNvPr id="1041" name="Google Shape;1041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0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Numeri Reali Virgola Mobile IEEE 754</a:t>
            </a:r>
            <a:endParaRPr/>
          </a:p>
        </p:txBody>
      </p:sp>
      <p:sp>
        <p:nvSpPr>
          <p:cNvPr id="1047" name="Google Shape;1047;p109"/>
          <p:cNvSpPr txBox="1"/>
          <p:nvPr>
            <p:ph idx="1" type="body"/>
          </p:nvPr>
        </p:nvSpPr>
        <p:spPr>
          <a:xfrm>
            <a:off x="311700" y="1468825"/>
            <a:ext cx="8520600" cy="323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Lo Standard IEEE 754 attribuisce valori convenzionali a particolari configurazioni di </a:t>
            </a:r>
            <a:r>
              <a:rPr b="1" lang="it" sz="1600">
                <a:solidFill>
                  <a:srgbClr val="0000FF"/>
                </a:solidFill>
              </a:rPr>
              <a:t>e</a:t>
            </a:r>
            <a:r>
              <a:rPr lang="it" sz="1600"/>
              <a:t> ed </a:t>
            </a:r>
            <a:r>
              <a:rPr b="1" lang="it" sz="1600">
                <a:solidFill>
                  <a:srgbClr val="FF9900"/>
                </a:solidFill>
              </a:rPr>
              <a:t>m</a:t>
            </a:r>
            <a:r>
              <a:rPr lang="it" sz="1600"/>
              <a:t>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FF9900"/>
                </a:solidFill>
              </a:rPr>
              <a:t>m </a:t>
            </a:r>
            <a:r>
              <a:rPr lang="it"/>
              <a:t>ed </a:t>
            </a:r>
            <a:r>
              <a:rPr b="1" lang="it">
                <a:solidFill>
                  <a:srgbClr val="0000FF"/>
                </a:solidFill>
              </a:rPr>
              <a:t>e</a:t>
            </a:r>
            <a:r>
              <a:rPr lang="it"/>
              <a:t> tutti 0 rappresentano il valore 0 (altrimenti non rappresentabile)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FF9900"/>
                </a:solidFill>
              </a:rPr>
              <a:t>m</a:t>
            </a:r>
            <a:r>
              <a:rPr lang="it"/>
              <a:t> </a:t>
            </a:r>
            <a:r>
              <a:rPr lang="it" sz="1400"/>
              <a:t>tutti 0 ed </a:t>
            </a:r>
            <a:r>
              <a:rPr b="1" lang="it">
                <a:solidFill>
                  <a:srgbClr val="0000FF"/>
                </a:solidFill>
              </a:rPr>
              <a:t>e</a:t>
            </a:r>
            <a:r>
              <a:rPr lang="it" sz="1400"/>
              <a:t> tutti 1 rappresentano </a:t>
            </a:r>
            <a:r>
              <a:rPr lang="it"/>
              <a:t>l’</a:t>
            </a:r>
            <a:r>
              <a:rPr b="1" lang="it"/>
              <a:t>infinito</a:t>
            </a:r>
            <a:r>
              <a:rPr lang="it"/>
              <a:t> ∞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>
                <a:solidFill>
                  <a:srgbClr val="FF9900"/>
                </a:solidFill>
              </a:rPr>
              <a:t>m</a:t>
            </a:r>
            <a:r>
              <a:rPr lang="it"/>
              <a:t> ≠ 0 ed </a:t>
            </a:r>
            <a:r>
              <a:rPr b="1" lang="it">
                <a:solidFill>
                  <a:srgbClr val="0000FF"/>
                </a:solidFill>
              </a:rPr>
              <a:t>e </a:t>
            </a:r>
            <a:r>
              <a:rPr lang="it"/>
              <a:t>tutti 1 indicano la situazione </a:t>
            </a:r>
            <a:r>
              <a:rPr b="1" lang="it"/>
              <a:t>Not A Number</a:t>
            </a:r>
            <a:r>
              <a:rPr lang="it"/>
              <a:t> (NAN), cioè un valore indefinito (ad es. il risultato di una divisione per 0)</a:t>
            </a:r>
            <a:endParaRPr sz="1400"/>
          </a:p>
        </p:txBody>
      </p:sp>
      <p:sp>
        <p:nvSpPr>
          <p:cNvPr id="1048" name="Google Shape;1048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49" name="Google Shape;1049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58" y="0"/>
            <a:ext cx="1633067" cy="1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1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Estremi</a:t>
            </a:r>
            <a:r>
              <a:rPr lang="it"/>
              <a:t> degli intervalli</a:t>
            </a:r>
            <a:endParaRPr/>
          </a:p>
        </p:txBody>
      </p:sp>
      <p:sp>
        <p:nvSpPr>
          <p:cNvPr id="1055" name="Google Shape;1055;p110"/>
          <p:cNvSpPr txBox="1"/>
          <p:nvPr>
            <p:ph idx="1" type="body"/>
          </p:nvPr>
        </p:nvSpPr>
        <p:spPr>
          <a:xfrm>
            <a:off x="311700" y="1468825"/>
            <a:ext cx="8520600" cy="32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Più grande </a:t>
            </a:r>
            <a:r>
              <a:rPr b="1" lang="it" sz="1400"/>
              <a:t>normalizzato </a:t>
            </a:r>
            <a:r>
              <a:rPr lang="it" sz="1400"/>
              <a:t>~</a:t>
            </a:r>
            <a:r>
              <a:rPr b="1" lang="it" sz="1200"/>
              <a:t>±</a:t>
            </a:r>
            <a:r>
              <a:rPr b="1" lang="it" sz="1400"/>
              <a:t>2</a:t>
            </a:r>
            <a:r>
              <a:rPr b="1" baseline="30000" lang="it" sz="1400"/>
              <a:t>128</a:t>
            </a:r>
            <a:endParaRPr b="1"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>
                <a:solidFill>
                  <a:srgbClr val="6AA84F"/>
                </a:solidFill>
              </a:rPr>
              <a:t>S</a:t>
            </a:r>
            <a:r>
              <a:rPr b="1" lang="it" sz="1200"/>
              <a:t> </a:t>
            </a:r>
            <a:r>
              <a:rPr b="1" lang="it" sz="1200">
                <a:solidFill>
                  <a:srgbClr val="CC0000"/>
                </a:solidFill>
              </a:rPr>
              <a:t>11111110 </a:t>
            </a:r>
            <a:r>
              <a:rPr b="1" lang="it" sz="1200">
                <a:solidFill>
                  <a:srgbClr val="F1C232"/>
                </a:solidFill>
              </a:rPr>
              <a:t>11111111111111111111111</a:t>
            </a:r>
            <a:endParaRPr b="1" sz="1200">
              <a:solidFill>
                <a:srgbClr val="F1C23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± 	2</a:t>
            </a:r>
            <a:r>
              <a:rPr baseline="30000" lang="it" sz="1200"/>
              <a:t>127</a:t>
            </a:r>
            <a:r>
              <a:rPr lang="it" sz="1200"/>
              <a:t> 		~ 2</a:t>
            </a:r>
            <a:endParaRPr b="1" sz="1200">
              <a:solidFill>
                <a:srgbClr val="F1C232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Più piccolo </a:t>
            </a:r>
            <a:r>
              <a:rPr b="1" lang="it" sz="1400"/>
              <a:t>normalizzato </a:t>
            </a:r>
            <a:r>
              <a:rPr b="1" lang="it" sz="1200"/>
              <a:t>±</a:t>
            </a:r>
            <a:r>
              <a:rPr b="1" lang="it" sz="1400"/>
              <a:t>2</a:t>
            </a:r>
            <a:r>
              <a:rPr b="1" baseline="30000" lang="it" sz="1400"/>
              <a:t>-126</a:t>
            </a:r>
            <a:r>
              <a:rPr lang="it" sz="1400"/>
              <a:t> 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>
                <a:solidFill>
                  <a:srgbClr val="6AA84F"/>
                </a:solidFill>
              </a:rPr>
              <a:t>S</a:t>
            </a:r>
            <a:r>
              <a:rPr b="1" lang="it" sz="1200"/>
              <a:t> </a:t>
            </a:r>
            <a:r>
              <a:rPr b="1" lang="it" sz="1200">
                <a:solidFill>
                  <a:srgbClr val="CC0000"/>
                </a:solidFill>
              </a:rPr>
              <a:t>00000001</a:t>
            </a:r>
            <a:r>
              <a:rPr b="1" lang="it" sz="1200"/>
              <a:t> </a:t>
            </a:r>
            <a:r>
              <a:rPr b="1" lang="it" sz="1200">
                <a:solidFill>
                  <a:srgbClr val="F1C232"/>
                </a:solidFill>
              </a:rPr>
              <a:t>00000000000000000000000</a:t>
            </a:r>
            <a:endParaRPr b="1" sz="1200">
              <a:solidFill>
                <a:srgbClr val="F1C232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± 	2</a:t>
            </a:r>
            <a:r>
              <a:rPr baseline="30000" lang="it" sz="1200"/>
              <a:t>-126</a:t>
            </a:r>
            <a:r>
              <a:rPr lang="it" sz="1200"/>
              <a:t> 		~ 1</a:t>
            </a:r>
            <a:endParaRPr b="1" sz="1200">
              <a:solidFill>
                <a:srgbClr val="F1C232"/>
              </a:solidFill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Più grande </a:t>
            </a:r>
            <a:r>
              <a:rPr b="1" lang="it" sz="1400"/>
              <a:t>denormalizzato ~</a:t>
            </a:r>
            <a:r>
              <a:rPr b="1" lang="it" sz="1200"/>
              <a:t>±</a:t>
            </a:r>
            <a:r>
              <a:rPr b="1" lang="it" sz="1400"/>
              <a:t>2</a:t>
            </a:r>
            <a:r>
              <a:rPr b="1" baseline="30000" lang="it" sz="1400"/>
              <a:t>-126</a:t>
            </a:r>
            <a:r>
              <a:rPr lang="it" sz="1400"/>
              <a:t> </a:t>
            </a:r>
            <a:endParaRPr sz="14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>
                <a:solidFill>
                  <a:srgbClr val="6AA84F"/>
                </a:solidFill>
              </a:rPr>
              <a:t>S</a:t>
            </a:r>
            <a:r>
              <a:rPr lang="it" sz="1200"/>
              <a:t> </a:t>
            </a:r>
            <a:r>
              <a:rPr b="1" lang="it" sz="1200">
                <a:solidFill>
                  <a:srgbClr val="CC0000"/>
                </a:solidFill>
              </a:rPr>
              <a:t>00000000</a:t>
            </a:r>
            <a:r>
              <a:rPr lang="it" sz="1200"/>
              <a:t> </a:t>
            </a:r>
            <a:r>
              <a:rPr b="1" lang="it" sz="1200">
                <a:solidFill>
                  <a:srgbClr val="F1C232"/>
                </a:solidFill>
              </a:rPr>
              <a:t>11111111111111111111111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± 	2</a:t>
            </a:r>
            <a:r>
              <a:rPr baseline="30000" lang="it" sz="1200"/>
              <a:t>-126</a:t>
            </a:r>
            <a:r>
              <a:rPr lang="it" sz="1200"/>
              <a:t> 		(0.11... )</a:t>
            </a:r>
            <a:r>
              <a:rPr baseline="-25000" lang="it" sz="1200"/>
              <a:t>2</a:t>
            </a:r>
            <a:r>
              <a:rPr lang="it" sz="1200"/>
              <a:t> ~ 1</a:t>
            </a:r>
            <a:endParaRPr sz="1200"/>
          </a:p>
          <a:p>
            <a:pPr indent="-3175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Più piccolo </a:t>
            </a:r>
            <a:r>
              <a:rPr b="1" lang="it" sz="1400"/>
              <a:t>denormalizzato </a:t>
            </a:r>
            <a:r>
              <a:rPr b="1" lang="it" sz="1200"/>
              <a:t>±</a:t>
            </a:r>
            <a:r>
              <a:rPr b="1" lang="it" sz="1400"/>
              <a:t>2</a:t>
            </a:r>
            <a:r>
              <a:rPr b="1" baseline="30000" lang="it" sz="1400"/>
              <a:t>-149</a:t>
            </a:r>
            <a:r>
              <a:rPr lang="it" sz="1400"/>
              <a:t> </a:t>
            </a:r>
            <a:endParaRPr sz="14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it" sz="1200">
                <a:solidFill>
                  <a:srgbClr val="6AA84F"/>
                </a:solidFill>
              </a:rPr>
              <a:t>S</a:t>
            </a:r>
            <a:r>
              <a:rPr lang="it" sz="1200"/>
              <a:t> </a:t>
            </a:r>
            <a:r>
              <a:rPr b="1" lang="it" sz="1200">
                <a:solidFill>
                  <a:srgbClr val="CC0000"/>
                </a:solidFill>
              </a:rPr>
              <a:t>00000000</a:t>
            </a:r>
            <a:r>
              <a:rPr lang="it" sz="1200"/>
              <a:t> </a:t>
            </a:r>
            <a:r>
              <a:rPr b="1" lang="it" sz="1200">
                <a:solidFill>
                  <a:srgbClr val="F1C232"/>
                </a:solidFill>
              </a:rPr>
              <a:t>00000000000000000000001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± 	2</a:t>
            </a:r>
            <a:r>
              <a:rPr baseline="30000" lang="it" sz="1200"/>
              <a:t>-126</a:t>
            </a:r>
            <a:r>
              <a:rPr lang="it" sz="1200"/>
              <a:t> 		(0.00...1 )</a:t>
            </a:r>
            <a:r>
              <a:rPr baseline="-25000" lang="it" sz="1200"/>
              <a:t>2</a:t>
            </a:r>
            <a:r>
              <a:rPr lang="it" sz="1200"/>
              <a:t> = 2</a:t>
            </a:r>
            <a:r>
              <a:rPr baseline="30000" lang="it" sz="1200"/>
              <a:t>-23</a:t>
            </a:r>
            <a:endParaRPr baseline="30000" sz="1200"/>
          </a:p>
        </p:txBody>
      </p:sp>
      <p:sp>
        <p:nvSpPr>
          <p:cNvPr id="1056" name="Google Shape;1056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57" name="Google Shape;105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8358" y="0"/>
            <a:ext cx="1633067" cy="158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11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Intervallo di rappresentazione</a:t>
            </a:r>
            <a:endParaRPr/>
          </a:p>
        </p:txBody>
      </p:sp>
      <p:sp>
        <p:nvSpPr>
          <p:cNvPr id="1063" name="Google Shape;1063;p111"/>
          <p:cNvSpPr txBox="1"/>
          <p:nvPr>
            <p:ph idx="1" type="body"/>
          </p:nvPr>
        </p:nvSpPr>
        <p:spPr>
          <a:xfrm>
            <a:off x="311700" y="2681663"/>
            <a:ext cx="85206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L’overflow </a:t>
            </a:r>
            <a:r>
              <a:rPr lang="it" sz="1100"/>
              <a:t>può essere positivo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quando si devono </a:t>
            </a:r>
            <a:r>
              <a:rPr lang="it" sz="1100"/>
              <a:t>rappresentare</a:t>
            </a:r>
            <a:r>
              <a:rPr lang="it" sz="1100"/>
              <a:t> numero positivi maggiori di 2</a:t>
            </a:r>
            <a:r>
              <a:rPr baseline="30000" lang="it" sz="1100"/>
              <a:t>128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L’overflow </a:t>
            </a:r>
            <a:r>
              <a:rPr lang="it" sz="1100"/>
              <a:t>può essere negativo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quando si devono rappresentare numero negativi minori di -2</a:t>
            </a:r>
            <a:r>
              <a:rPr baseline="30000" lang="it" sz="1100"/>
              <a:t>128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L’underflow </a:t>
            </a:r>
            <a:r>
              <a:rPr lang="it" sz="1100"/>
              <a:t>può essere positivo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it" sz="1100"/>
              <a:t>quando si devono rappresentare numero positivi minori di 2</a:t>
            </a:r>
            <a:r>
              <a:rPr baseline="30000" lang="it" sz="1100"/>
              <a:t>-149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b="1" lang="it" sz="1100"/>
              <a:t>L’underflow </a:t>
            </a:r>
            <a:r>
              <a:rPr lang="it" sz="1100"/>
              <a:t>può essere negativo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1000"/>
              </a:spcAft>
              <a:buSzPts val="1100"/>
              <a:buChar char="○"/>
            </a:pPr>
            <a:r>
              <a:rPr lang="it" sz="1100"/>
              <a:t>quando si devono rappresentare numero negativi maggiori di -2</a:t>
            </a:r>
            <a:r>
              <a:rPr baseline="30000" lang="it" sz="1100"/>
              <a:t>-149</a:t>
            </a:r>
            <a:endParaRPr sz="1100"/>
          </a:p>
        </p:txBody>
      </p:sp>
      <p:sp>
        <p:nvSpPr>
          <p:cNvPr id="1064" name="Google Shape;1064;p1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065" name="Google Shape;1065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0975" y="1147350"/>
            <a:ext cx="4391174" cy="14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1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Errore assoluto e relativo</a:t>
            </a:r>
            <a:endParaRPr/>
          </a:p>
        </p:txBody>
      </p:sp>
      <p:sp>
        <p:nvSpPr>
          <p:cNvPr id="1071" name="Google Shape;1071;p112"/>
          <p:cNvSpPr txBox="1"/>
          <p:nvPr>
            <p:ph idx="1" type="body"/>
          </p:nvPr>
        </p:nvSpPr>
        <p:spPr>
          <a:xfrm>
            <a:off x="311700" y="1468825"/>
            <a:ext cx="8520600" cy="12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Rappresentando un numero reale </a:t>
            </a:r>
            <a:r>
              <a:rPr b="1" lang="it" sz="1400"/>
              <a:t>n</a:t>
            </a:r>
            <a:r>
              <a:rPr lang="it" sz="1400"/>
              <a:t> in una notazione floating point si commette un errore di approssimazione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In realtà viene rappresentato un numero razionale </a:t>
            </a:r>
            <a:r>
              <a:rPr b="1" lang="it" sz="1400"/>
              <a:t>n’</a:t>
            </a:r>
            <a:r>
              <a:rPr lang="it" sz="1400"/>
              <a:t> con un numero limitato di cifre significative</a:t>
            </a:r>
            <a:endParaRPr sz="1400"/>
          </a:p>
        </p:txBody>
      </p:sp>
      <p:sp>
        <p:nvSpPr>
          <p:cNvPr id="1072" name="Google Shape;1072;p1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73" name="Google Shape;1073;p112"/>
          <p:cNvSpPr/>
          <p:nvPr/>
        </p:nvSpPr>
        <p:spPr>
          <a:xfrm>
            <a:off x="2061000" y="3040950"/>
            <a:ext cx="5022000" cy="1135200"/>
          </a:xfrm>
          <a:prstGeom prst="roundRect">
            <a:avLst>
              <a:gd fmla="val 16667" name="adj"/>
            </a:avLst>
          </a:prstGeom>
          <a:solidFill>
            <a:srgbClr val="C9DAF8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Source Code Pro"/>
                <a:ea typeface="Source Code Pro"/>
                <a:cs typeface="Source Code Pro"/>
                <a:sym typeface="Source Code Pro"/>
              </a:rPr>
              <a:t>Errore assoluto</a:t>
            </a:r>
            <a:r>
              <a:rPr lang="it" sz="1600">
                <a:latin typeface="Source Code Pro"/>
                <a:ea typeface="Source Code Pro"/>
                <a:cs typeface="Source Code Pro"/>
                <a:sym typeface="Source Code Pro"/>
              </a:rPr>
              <a:t> : 	e</a:t>
            </a:r>
            <a:r>
              <a:rPr baseline="-25000" lang="it" sz="1600"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it" sz="1600">
                <a:latin typeface="Source Code Pro"/>
                <a:ea typeface="Source Code Pro"/>
                <a:cs typeface="Source Code Pro"/>
                <a:sym typeface="Source Code Pro"/>
              </a:rPr>
              <a:t>= n-n’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600">
                <a:latin typeface="Source Code Pro"/>
                <a:ea typeface="Source Code Pro"/>
                <a:cs typeface="Source Code Pro"/>
                <a:sym typeface="Source Code Pro"/>
              </a:rPr>
              <a:t>Errore relativo</a:t>
            </a:r>
            <a:r>
              <a:rPr lang="it" sz="1600">
                <a:latin typeface="Source Code Pro"/>
                <a:ea typeface="Source Code Pro"/>
                <a:cs typeface="Source Code Pro"/>
                <a:sym typeface="Source Code Pro"/>
              </a:rPr>
              <a:t>: 	e</a:t>
            </a:r>
            <a:r>
              <a:rPr baseline="-25000" lang="it" sz="1600">
                <a:latin typeface="Source Code Pro"/>
                <a:ea typeface="Source Code Pro"/>
                <a:cs typeface="Source Code Pro"/>
                <a:sym typeface="Source Code Pro"/>
              </a:rPr>
              <a:t>R</a:t>
            </a:r>
            <a:r>
              <a:rPr lang="it" sz="1600">
                <a:latin typeface="Source Code Pro"/>
                <a:ea typeface="Source Code Pro"/>
                <a:cs typeface="Source Code Pro"/>
                <a:sym typeface="Source Code Pro"/>
              </a:rPr>
              <a:t>= e</a:t>
            </a:r>
            <a:r>
              <a:rPr baseline="-25000" lang="it" sz="1600"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it" sz="1600">
                <a:latin typeface="Source Code Pro"/>
                <a:ea typeface="Source Code Pro"/>
                <a:cs typeface="Source Code Pro"/>
                <a:sym typeface="Source Code Pro"/>
              </a:rPr>
              <a:t>/n = (n-n’)/n </a:t>
            </a:r>
            <a:endParaRPr sz="16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74" name="Google Shape;107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600" y="68638"/>
            <a:ext cx="32575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L’errore relativo massimo</a:t>
            </a:r>
            <a:endParaRPr/>
          </a:p>
        </p:txBody>
      </p:sp>
      <p:sp>
        <p:nvSpPr>
          <p:cNvPr id="1080" name="Google Shape;1080;p113"/>
          <p:cNvSpPr txBox="1"/>
          <p:nvPr>
            <p:ph idx="1" type="body"/>
          </p:nvPr>
        </p:nvSpPr>
        <p:spPr>
          <a:xfrm>
            <a:off x="311700" y="1468825"/>
            <a:ext cx="8520600" cy="15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Se la mantissa è normalizzata l’</a:t>
            </a:r>
            <a:r>
              <a:rPr b="1" lang="it" sz="1600"/>
              <a:t>errore relativo</a:t>
            </a:r>
            <a:r>
              <a:rPr lang="it" sz="1600"/>
              <a:t> è sempre inferiore ad un’unità sull’ultima cifra rappresenta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Con </a:t>
            </a:r>
            <a:r>
              <a:rPr b="1" lang="it"/>
              <a:t>k</a:t>
            </a:r>
            <a:r>
              <a:rPr lang="it"/>
              <a:t> cifre frazionarie e mantissa normalizzata tra 1 e 2 si hanno sempre </a:t>
            </a:r>
            <a:r>
              <a:rPr b="1" lang="it"/>
              <a:t>k + 1</a:t>
            </a:r>
            <a:r>
              <a:rPr lang="it"/>
              <a:t> cifre significative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/>
              <a:t>L’errore relativo massimo è ordine 2</a:t>
            </a:r>
            <a:r>
              <a:rPr b="1" baseline="30000" lang="it"/>
              <a:t>-k</a:t>
            </a:r>
            <a:endParaRPr b="1" baseline="30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081" name="Google Shape;1081;p1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82" name="Google Shape;1082;p113"/>
          <p:cNvSpPr/>
          <p:nvPr/>
        </p:nvSpPr>
        <p:spPr>
          <a:xfrm>
            <a:off x="1637550" y="3051125"/>
            <a:ext cx="6540000" cy="1308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>
                <a:latin typeface="Source Code Pro"/>
                <a:ea typeface="Source Code Pro"/>
                <a:cs typeface="Source Code Pro"/>
                <a:sym typeface="Source Code Pro"/>
              </a:rPr>
              <a:t>ESEMPIO </a:t>
            </a:r>
            <a:endParaRPr b="1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Con 10 cifre frazionarie l’errore massimo è ordine 2</a:t>
            </a:r>
            <a:r>
              <a:rPr baseline="30000" lang="it">
                <a:latin typeface="Source Code Pro"/>
                <a:ea typeface="Source Code Pro"/>
                <a:cs typeface="Source Code Pro"/>
                <a:sym typeface="Source Code Pro"/>
              </a:rPr>
              <a:t>-10 </a:t>
            </a:r>
            <a:endParaRPr baseline="30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Su un numero di ordine 2</a:t>
            </a:r>
            <a:r>
              <a:rPr baseline="30000" lang="it">
                <a:latin typeface="Source Code Pro"/>
                <a:ea typeface="Source Code Pro"/>
                <a:cs typeface="Source Code Pro"/>
                <a:sym typeface="Source Code Pro"/>
              </a:rPr>
              <a:t>m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 l’errore assoluto è dato da 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e</a:t>
            </a:r>
            <a:r>
              <a:rPr baseline="-25000" lang="it">
                <a:latin typeface="Source Code Pro"/>
                <a:ea typeface="Source Code Pro"/>
                <a:cs typeface="Source Code Pro"/>
                <a:sym typeface="Source Code Pro"/>
              </a:rPr>
              <a:t>A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= e</a:t>
            </a:r>
            <a:r>
              <a:rPr baseline="-25000" lang="it">
                <a:latin typeface="Source Code Pro"/>
                <a:ea typeface="Source Code Pro"/>
                <a:cs typeface="Source Code Pro"/>
                <a:sym typeface="Source Code Pro"/>
              </a:rPr>
              <a:t>R</a:t>
            </a:r>
            <a:r>
              <a:rPr lang="it">
                <a:latin typeface="Source Code Pro"/>
                <a:ea typeface="Source Code Pro"/>
                <a:cs typeface="Source Code Pro"/>
                <a:sym typeface="Source Code Pro"/>
              </a:rPr>
              <a:t> · n e quindi è ordine 2</a:t>
            </a:r>
            <a:r>
              <a:rPr baseline="30000" lang="it">
                <a:latin typeface="Source Code Pro"/>
                <a:ea typeface="Source Code Pro"/>
                <a:cs typeface="Source Code Pro"/>
                <a:sym typeface="Source Code Pro"/>
              </a:rPr>
              <a:t>m-10</a:t>
            </a:r>
            <a:endParaRPr baseline="30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083" name="Google Shape;1083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3600" y="68638"/>
            <a:ext cx="325755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114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delle immagini</a:t>
            </a:r>
            <a:endParaRPr/>
          </a:p>
        </p:txBody>
      </p:sp>
      <p:sp>
        <p:nvSpPr>
          <p:cNvPr id="1089" name="Google Shape;1089;p1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immagini</a:t>
            </a:r>
            <a:endParaRPr/>
          </a:p>
        </p:txBody>
      </p:sp>
      <p:sp>
        <p:nvSpPr>
          <p:cNvPr id="1095" name="Google Shape;1095;p1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96" name="Google Shape;1096;p1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Abbiamo visto come la codifica di testi sia relativamente semplice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Un testo è una sequenza di simboli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Ogni simbolo è codificato con un numero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it" sz="1600"/>
              <a:t>Ne segue che il testo è trasformato in un numero, e quindi elaborabile da un calcolatore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Con le immagini la questione è più complessa</a:t>
            </a:r>
            <a:endParaRPr sz="1600"/>
          </a:p>
        </p:txBody>
      </p:sp>
      <p:pic>
        <p:nvPicPr>
          <p:cNvPr id="1097" name="Google Shape;1097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3050" y="143938"/>
            <a:ext cx="38481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1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 tipi di immagini</a:t>
            </a:r>
            <a:endParaRPr/>
          </a:p>
        </p:txBody>
      </p:sp>
      <p:sp>
        <p:nvSpPr>
          <p:cNvPr id="1103" name="Google Shape;1103;p116"/>
          <p:cNvSpPr txBox="1"/>
          <p:nvPr>
            <p:ph idx="1" type="body"/>
          </p:nvPr>
        </p:nvSpPr>
        <p:spPr>
          <a:xfrm>
            <a:off x="311700" y="1468825"/>
            <a:ext cx="8520600" cy="177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600"/>
              <a:t>Distinguiamo due tipi di immagini:</a:t>
            </a:r>
            <a:endParaRPr sz="16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Le immagini </a:t>
            </a:r>
            <a:r>
              <a:rPr b="1" lang="it" sz="1400"/>
              <a:t>raster </a:t>
            </a:r>
            <a:r>
              <a:rPr lang="it" sz="1400"/>
              <a:t>sono di tipo fotografico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 si rappresenta individualmente ogni singolo punto dell'immagine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Le immagini </a:t>
            </a:r>
            <a:r>
              <a:rPr b="1" lang="it" sz="1400"/>
              <a:t>vettoriali </a:t>
            </a:r>
            <a:r>
              <a:rPr lang="it" sz="1400"/>
              <a:t>sono essenzialmente disegni, si rappresentano i punti e le curve che formano il disegno</a:t>
            </a:r>
            <a:endParaRPr sz="1600"/>
          </a:p>
        </p:txBody>
      </p:sp>
      <p:sp>
        <p:nvSpPr>
          <p:cNvPr id="1104" name="Google Shape;1104;p1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05" name="Google Shape;1105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8925" y="3282550"/>
            <a:ext cx="2401479" cy="159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6" name="Google Shape;1106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2975" y="3019538"/>
            <a:ext cx="2152650" cy="212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1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immagini raster e vettoriali</a:t>
            </a:r>
            <a:endParaRPr/>
          </a:p>
        </p:txBody>
      </p:sp>
      <p:sp>
        <p:nvSpPr>
          <p:cNvPr id="1112" name="Google Shape;1112;p117"/>
          <p:cNvSpPr txBox="1"/>
          <p:nvPr>
            <p:ph idx="1" type="body"/>
          </p:nvPr>
        </p:nvSpPr>
        <p:spPr>
          <a:xfrm>
            <a:off x="311700" y="1468825"/>
            <a:ext cx="8520600" cy="8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 volte la stessa immagine può essere rappresentata come raster o vettoriale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14" name="Google Shape;1114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0" y="2438725"/>
            <a:ext cx="5715000" cy="233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1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Le immagini raster e vettoriali</a:t>
            </a:r>
            <a:endParaRPr/>
          </a:p>
        </p:txBody>
      </p:sp>
      <p:sp>
        <p:nvSpPr>
          <p:cNvPr id="1120" name="Google Shape;1120;p118"/>
          <p:cNvSpPr txBox="1"/>
          <p:nvPr>
            <p:ph idx="1" type="body"/>
          </p:nvPr>
        </p:nvSpPr>
        <p:spPr>
          <a:xfrm>
            <a:off x="311700" y="1468825"/>
            <a:ext cx="8520600" cy="16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/>
              <a:t>In linea di principio, i due tipi sono interscambiabili ma in pratica, le “</a:t>
            </a:r>
            <a:r>
              <a:rPr b="1" lang="it"/>
              <a:t>foto</a:t>
            </a:r>
            <a:r>
              <a:rPr lang="it"/>
              <a:t>” sono </a:t>
            </a:r>
            <a:r>
              <a:rPr b="1" lang="it"/>
              <a:t>raster</a:t>
            </a:r>
            <a:r>
              <a:rPr lang="it"/>
              <a:t>, i “</a:t>
            </a:r>
            <a:r>
              <a:rPr b="1" lang="it"/>
              <a:t>disegni</a:t>
            </a:r>
            <a:r>
              <a:rPr lang="it"/>
              <a:t>” sono </a:t>
            </a:r>
            <a:r>
              <a:rPr b="1" lang="it"/>
              <a:t>vettoriali</a:t>
            </a:r>
            <a:r>
              <a:rPr lang="it"/>
              <a:t>;</a:t>
            </a:r>
            <a:r>
              <a:rPr b="1" lang="it"/>
              <a:t> </a:t>
            </a:r>
            <a:r>
              <a:rPr lang="it"/>
              <a:t>nulla vieta comunque di avere dipinti iperrealistici che sembrano foto, o foto posterizzate che sembrano disegni</a:t>
            </a:r>
            <a:endParaRPr/>
          </a:p>
        </p:txBody>
      </p:sp>
      <p:sp>
        <p:nvSpPr>
          <p:cNvPr id="1121" name="Google Shape;1121;p1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22" name="Google Shape;1122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4125" y="3182000"/>
            <a:ext cx="3655745" cy="171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Immagini raster</a:t>
            </a:r>
            <a:endParaRPr/>
          </a:p>
        </p:txBody>
      </p:sp>
      <p:sp>
        <p:nvSpPr>
          <p:cNvPr id="1128" name="Google Shape;1128;p11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Un'immagine raster è definita per punti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L'immagine è scomposta in un numero elevato di “punti”, tipicamente quadrati o rettangoli quasi-quadrati 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SzPts val="1600"/>
              <a:buChar char="●"/>
            </a:pPr>
            <a:r>
              <a:rPr lang="it" sz="1600"/>
              <a:t>Ciascuno di questi punti è detto </a:t>
            </a:r>
            <a:r>
              <a:rPr b="1" lang="it" sz="1600"/>
              <a:t>pixel </a:t>
            </a:r>
            <a:r>
              <a:rPr lang="it" sz="1600"/>
              <a:t>(da picture element, elemento dell'immagine)</a:t>
            </a:r>
            <a:endParaRPr sz="1600"/>
          </a:p>
          <a:p>
            <a:pPr indent="-330200" lvl="0" marL="457200" rtl="0" algn="l">
              <a:spcBef>
                <a:spcPts val="1000"/>
              </a:spcBef>
              <a:spcAft>
                <a:spcPts val="1000"/>
              </a:spcAft>
              <a:buSzPts val="1600"/>
              <a:buChar char="●"/>
            </a:pPr>
            <a:r>
              <a:rPr lang="it" sz="1600"/>
              <a:t>La densità della griglia di scomposizione, più o meno fitta, è detta </a:t>
            </a:r>
            <a:r>
              <a:rPr b="1" lang="it" sz="1600"/>
              <a:t>risoluzione</a:t>
            </a:r>
            <a:endParaRPr b="1" sz="1600"/>
          </a:p>
        </p:txBody>
      </p:sp>
      <p:sp>
        <p:nvSpPr>
          <p:cNvPr id="1129" name="Google Shape;1129;p1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30" name="Google Shape;1130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7500" y="105625"/>
            <a:ext cx="253365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12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Immagine raster in bianco e nero</a:t>
            </a:r>
            <a:endParaRPr/>
          </a:p>
        </p:txBody>
      </p:sp>
      <p:sp>
        <p:nvSpPr>
          <p:cNvPr id="1136" name="Google Shape;1136;p120"/>
          <p:cNvSpPr txBox="1"/>
          <p:nvPr>
            <p:ph idx="1" type="body"/>
          </p:nvPr>
        </p:nvSpPr>
        <p:spPr>
          <a:xfrm>
            <a:off x="311700" y="1468825"/>
            <a:ext cx="8520600" cy="47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Esempio di immagine raster (in bianco e nero)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37" name="Google Shape;1137;p1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graphicFrame>
        <p:nvGraphicFramePr>
          <p:cNvPr id="1138" name="Google Shape;1138;p120"/>
          <p:cNvGraphicFramePr/>
          <p:nvPr/>
        </p:nvGraphicFramePr>
        <p:xfrm>
          <a:off x="772075" y="207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272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139" name="Google Shape;1139;p120"/>
          <p:cNvGraphicFramePr/>
          <p:nvPr/>
        </p:nvGraphicFramePr>
        <p:xfrm>
          <a:off x="4920725" y="207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{482D7FCA-CA57-4DA9-A025-1DB4B803B285}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  <a:tr h="3047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1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" sz="1000"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0</a:t>
                      </a:r>
                      <a:endParaRPr sz="1000"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12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Immagine raster in bianco e nero</a:t>
            </a:r>
            <a:endParaRPr/>
          </a:p>
        </p:txBody>
      </p:sp>
      <p:sp>
        <p:nvSpPr>
          <p:cNvPr id="1145" name="Google Shape;1145;p12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Ad ogni pixel viene fatto corrispondere un valore binario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Nella slide precedente la codifica avviene nel seguente modo: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0 viene utilizzato per per la codifica di un pixel corrispondente a un quadratino in cui il bianco è il colore predominante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1 viene utilizzato per la codifica di un pixel corrispondente a un quadratino in cui il nero è il colore predominante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Quella che si ottiene nella codifica è un’approssimazione dell’immagine originaria: </a:t>
            </a:r>
            <a:r>
              <a:rPr b="1" lang="it" sz="1400"/>
              <a:t>DIGITALIZZAZIONE ⇒ Perdita di qualità</a:t>
            </a:r>
            <a:endParaRPr b="1"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Aumentando la granularità dell’immagine, aumenta la qualità</a:t>
            </a:r>
            <a:endParaRPr sz="1400"/>
          </a:p>
        </p:txBody>
      </p:sp>
      <p:sp>
        <p:nvSpPr>
          <p:cNvPr id="1146" name="Google Shape;1146;p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47" name="Google Shape;1147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495" y="125170"/>
            <a:ext cx="3645275" cy="141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12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Immagine raster con gradazione di grigio</a:t>
            </a:r>
            <a:endParaRPr/>
          </a:p>
        </p:txBody>
      </p:sp>
      <p:sp>
        <p:nvSpPr>
          <p:cNvPr id="1153" name="Google Shape;1153;p122"/>
          <p:cNvSpPr txBox="1"/>
          <p:nvPr>
            <p:ph idx="1" type="body"/>
          </p:nvPr>
        </p:nvSpPr>
        <p:spPr>
          <a:xfrm>
            <a:off x="311700" y="1468825"/>
            <a:ext cx="8520600" cy="15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Per le immagini </a:t>
            </a:r>
            <a:r>
              <a:rPr lang="it" sz="1400"/>
              <a:t>a più colori la logica è la stessa: per codificare diversi livelli di grigio con una rappresentazione binaria si deve far corrispondere a ogni livello di grigio una certa sequenza di bit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utilizzando 4 bit si possono rappresentare 2</a:t>
            </a:r>
            <a:r>
              <a:rPr baseline="30000" lang="it" sz="1400"/>
              <a:t>4</a:t>
            </a:r>
            <a:r>
              <a:rPr lang="it" sz="1400"/>
              <a:t> = 16 livelli di grigio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utilizzando </a:t>
            </a:r>
            <a:r>
              <a:rPr lang="it" sz="1400"/>
              <a:t>8 bit </a:t>
            </a:r>
            <a:r>
              <a:rPr lang="it"/>
              <a:t>si possono rappresentare</a:t>
            </a:r>
            <a:r>
              <a:rPr lang="it" sz="1400"/>
              <a:t> 2</a:t>
            </a:r>
            <a:r>
              <a:rPr baseline="30000" lang="it" sz="1400"/>
              <a:t>8</a:t>
            </a:r>
            <a:r>
              <a:rPr lang="it" sz="1400"/>
              <a:t> = </a:t>
            </a:r>
            <a:r>
              <a:rPr b="1" lang="it" sz="1400"/>
              <a:t>256 </a:t>
            </a:r>
            <a:r>
              <a:rPr lang="it"/>
              <a:t>livelli di grigio</a:t>
            </a:r>
            <a:endParaRPr sz="1400"/>
          </a:p>
        </p:txBody>
      </p:sp>
      <p:sp>
        <p:nvSpPr>
          <p:cNvPr id="1154" name="Google Shape;1154;p1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55" name="Google Shape;1155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0825" y="3064525"/>
            <a:ext cx="356235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p1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Immagini raster</a:t>
            </a:r>
            <a:endParaRPr/>
          </a:p>
        </p:txBody>
      </p:sp>
      <p:sp>
        <p:nvSpPr>
          <p:cNvPr id="1161" name="Google Shape;1161;p123"/>
          <p:cNvSpPr txBox="1"/>
          <p:nvPr>
            <p:ph idx="1" type="body"/>
          </p:nvPr>
        </p:nvSpPr>
        <p:spPr>
          <a:xfrm>
            <a:off x="311700" y="1468825"/>
            <a:ext cx="8520600" cy="33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Di ciascuno dei pixel che compongono l'immagine vengono definite alcune proprietà: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il </a:t>
            </a:r>
            <a:r>
              <a:rPr b="1" lang="it" sz="1300"/>
              <a:t>colore </a:t>
            </a:r>
            <a:r>
              <a:rPr lang="it" sz="1300"/>
              <a:t>(sempre)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la </a:t>
            </a:r>
            <a:r>
              <a:rPr b="1" lang="it" sz="1300"/>
              <a:t>trasparenza </a:t>
            </a:r>
            <a:r>
              <a:rPr lang="it" sz="1300"/>
              <a:t>(in alcuni casi)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Applicazioni più specializzate definiscono altre proprietà (per esempio, nel trattamento di immagini astronomiche) che non considereremo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In generale, il colore è dato dalla combinazione di più componenti colore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Nel caso più comune viene utilizzato il il </a:t>
            </a:r>
            <a:r>
              <a:rPr b="1" lang="it" sz="1300"/>
              <a:t>modello RGB</a:t>
            </a:r>
            <a:r>
              <a:rPr lang="it" sz="1300"/>
              <a:t>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quantità di rosso (R, red)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quantità di verde (G, green)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quantità di blu (B, blue)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Combinando quantità variabili di R, G e B si possono ottenere “tutti” i colori </a:t>
            </a:r>
            <a:endParaRPr sz="1300"/>
          </a:p>
        </p:txBody>
      </p:sp>
      <p:sp>
        <p:nvSpPr>
          <p:cNvPr id="1162" name="Google Shape;1162;p1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63" name="Google Shape;1163;p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53770" y="55570"/>
            <a:ext cx="1367375" cy="136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12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RGB vs CMYK</a:t>
            </a:r>
            <a:endParaRPr/>
          </a:p>
        </p:txBody>
      </p:sp>
      <p:sp>
        <p:nvSpPr>
          <p:cNvPr id="1169" name="Google Shape;1169;p1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70" name="Google Shape;1170;p1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4775" y="1462600"/>
            <a:ext cx="4934450" cy="335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12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Definizione del colore</a:t>
            </a:r>
            <a:endParaRPr/>
          </a:p>
        </p:txBody>
      </p:sp>
      <p:sp>
        <p:nvSpPr>
          <p:cNvPr id="1176" name="Google Shape;1176;p125"/>
          <p:cNvSpPr txBox="1"/>
          <p:nvPr>
            <p:ph idx="1" type="body"/>
          </p:nvPr>
        </p:nvSpPr>
        <p:spPr>
          <a:xfrm>
            <a:off x="311700" y="1468825"/>
            <a:ext cx="5022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L'intensità di ciascun componente deve essere rappresentata (come al solito) da un numero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Concettualmente, si va da 0% (assenza totale del colore) a 100% (colore al massimo della saturazione)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In pratica, si discretizza il valore con un numero intero (una potenza di 2, per esempio 0-7 o 0-255)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L'assenza di R, G, B produce il nero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La presenza di R, G, B alla massima intensità produce il bianco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SzPts val="1100"/>
              <a:buChar char="●"/>
            </a:pPr>
            <a:r>
              <a:rPr lang="it" sz="1100"/>
              <a:t>Un colore è un punto nello spazio dei colori</a:t>
            </a:r>
            <a:endParaRPr sz="1100"/>
          </a:p>
          <a:p>
            <a:pPr indent="-298450" lvl="0" marL="457200" rtl="0" algn="l">
              <a:spcBef>
                <a:spcPts val="1000"/>
              </a:spcBef>
              <a:spcAft>
                <a:spcPts val="1000"/>
              </a:spcAft>
              <a:buSzPts val="1100"/>
              <a:buChar char="●"/>
            </a:pPr>
            <a:r>
              <a:rPr lang="it" sz="1100"/>
              <a:t>Poiché ogni colore ha tre coordinate in questo spazio (R, G, B) la rappresentazione piana è complicata...</a:t>
            </a:r>
            <a:endParaRPr sz="1100"/>
          </a:p>
        </p:txBody>
      </p:sp>
      <p:sp>
        <p:nvSpPr>
          <p:cNvPr id="1177" name="Google Shape;1177;p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78" name="Google Shape;1178;p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6825" y="1801613"/>
            <a:ext cx="3504600" cy="24343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12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Definizione del colore</a:t>
            </a:r>
            <a:endParaRPr/>
          </a:p>
        </p:txBody>
      </p:sp>
      <p:sp>
        <p:nvSpPr>
          <p:cNvPr id="1184" name="Google Shape;1184;p126"/>
          <p:cNvSpPr txBox="1"/>
          <p:nvPr>
            <p:ph idx="1" type="body"/>
          </p:nvPr>
        </p:nvSpPr>
        <p:spPr>
          <a:xfrm>
            <a:off x="311700" y="1437725"/>
            <a:ext cx="57639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</a:t>
            </a:r>
            <a:r>
              <a:rPr b="1" lang="it" sz="1400"/>
              <a:t>colore </a:t>
            </a:r>
            <a:r>
              <a:rPr lang="it" sz="1400"/>
              <a:t>può essere codificato con una sequenza di numeri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RGB è un modello popolare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Si usano da 1 a 16 bit per componente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Il valore più comune è 8 bit per componente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/>
              <a:t>Possiamo codificare 2</a:t>
            </a:r>
            <a:r>
              <a:rPr baseline="30000" lang="it"/>
              <a:t>3x8</a:t>
            </a:r>
            <a:r>
              <a:rPr lang="it"/>
              <a:t> = 16.777.216 colori distinti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numero di bit usati per codificare un colore dà la </a:t>
            </a:r>
            <a:r>
              <a:rPr b="1" lang="it" sz="1400"/>
              <a:t>risoluzione colore</a:t>
            </a:r>
            <a:r>
              <a:rPr lang="it" sz="1400"/>
              <a:t> o </a:t>
            </a:r>
            <a:r>
              <a:rPr b="1" lang="it" sz="1400"/>
              <a:t>profondità </a:t>
            </a:r>
            <a:r>
              <a:rPr lang="it" sz="1400"/>
              <a:t>dell'immagine</a:t>
            </a:r>
            <a:endParaRPr sz="1400"/>
          </a:p>
        </p:txBody>
      </p:sp>
      <p:sp>
        <p:nvSpPr>
          <p:cNvPr id="1185" name="Google Shape;1185;p1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86" name="Google Shape;1186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138" y="2082800"/>
            <a:ext cx="25241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12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 di risoluzione</a:t>
            </a:r>
            <a:endParaRPr/>
          </a:p>
        </p:txBody>
      </p:sp>
      <p:sp>
        <p:nvSpPr>
          <p:cNvPr id="1192" name="Google Shape;1192;p1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193" name="Google Shape;1193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417849"/>
            <a:ext cx="2150378" cy="19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912" y="1422503"/>
            <a:ext cx="2150379" cy="189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121" y="1422512"/>
            <a:ext cx="2150378" cy="1898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1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2325" y="1265450"/>
            <a:ext cx="2048825" cy="20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7" name="Google Shape;1197;p127"/>
          <p:cNvSpPr txBox="1"/>
          <p:nvPr/>
        </p:nvSpPr>
        <p:spPr>
          <a:xfrm>
            <a:off x="257500" y="3242075"/>
            <a:ext cx="2150400" cy="17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170x170 pixel, RGB a 8 bit per componente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spaziale non è molto elevata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colore è buona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Immagine “giusta” per una </a:t>
            </a:r>
            <a:r>
              <a:rPr b="1" lang="it" sz="1000">
                <a:latin typeface="Source Code Pro"/>
                <a:ea typeface="Source Code Pro"/>
                <a:cs typeface="Source Code Pro"/>
                <a:sym typeface="Source Code Pro"/>
              </a:rPr>
              <a:t>pagina web</a:t>
            </a:r>
            <a:endParaRPr b="1"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198" name="Google Shape;1198;p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260799"/>
            <a:ext cx="2150378" cy="19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1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912" y="1265453"/>
            <a:ext cx="2150379" cy="189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121" y="1265462"/>
            <a:ext cx="2150378" cy="189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01" name="Google Shape;1201;p127"/>
          <p:cNvSpPr txBox="1"/>
          <p:nvPr/>
        </p:nvSpPr>
        <p:spPr>
          <a:xfrm>
            <a:off x="2455688" y="3242075"/>
            <a:ext cx="2150400" cy="17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32x32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pixel, RGB a 8 bit per componente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spaziale è molto bassa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colore è buona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Usabile forse come </a:t>
            </a:r>
            <a:r>
              <a:rPr b="1" lang="it" sz="1000">
                <a:latin typeface="Source Code Pro"/>
                <a:ea typeface="Source Code Pro"/>
                <a:cs typeface="Source Code Pro"/>
                <a:sym typeface="Source Code Pro"/>
              </a:rPr>
              <a:t>miniatura</a:t>
            </a:r>
            <a:endParaRPr b="1"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02" name="Google Shape;1202;p127"/>
          <p:cNvSpPr txBox="1"/>
          <p:nvPr/>
        </p:nvSpPr>
        <p:spPr>
          <a:xfrm>
            <a:off x="4675900" y="3242075"/>
            <a:ext cx="2150400" cy="17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170x170 pixel, RGB a 3 bit per componente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spaziale non è molto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elevata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La risoluzione colore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è bassa (8 R, 8 G, 8 B; 512 colori totali)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Immagine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da “ef</a:t>
            </a:r>
            <a:r>
              <a:rPr b="1" lang="it" sz="1000">
                <a:latin typeface="Source Code Pro"/>
                <a:ea typeface="Source Code Pro"/>
                <a:cs typeface="Source Code Pro"/>
                <a:sym typeface="Source Code Pro"/>
              </a:rPr>
              <a:t>fetto speciale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”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03" name="Google Shape;1203;p127"/>
          <p:cNvSpPr txBox="1"/>
          <p:nvPr/>
        </p:nvSpPr>
        <p:spPr>
          <a:xfrm>
            <a:off x="6896125" y="3242075"/>
            <a:ext cx="2150400" cy="17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16x16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pixel, RGB a 2 bit per componente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Un disastro!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Non va bene neanche come icona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2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Ma quanto spazio occupa </a:t>
            </a:r>
            <a:r>
              <a:rPr lang="it"/>
              <a:t>un’immagine</a:t>
            </a:r>
            <a:r>
              <a:rPr lang="it"/>
              <a:t>?</a:t>
            </a:r>
            <a:endParaRPr/>
          </a:p>
        </p:txBody>
      </p:sp>
      <p:sp>
        <p:nvSpPr>
          <p:cNvPr id="1209" name="Google Shape;1209;p12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Prevedibilmente, l'occupazione di memoria di un'immagine è legata alla sua risoluzione spaziale e di colore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it" sz="1500"/>
              <a:t>Tanto maggiori le risoluzioni, tanto migliore la qualità  dell'immagine, e tanto maggiore l'occupazione di memoria</a:t>
            </a:r>
            <a:endParaRPr sz="1500"/>
          </a:p>
          <a:p>
            <a:pPr indent="0" lvl="0" marL="0" rtl="0" algn="ctr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it" sz="1600">
                <a:solidFill>
                  <a:srgbClr val="FF0000"/>
                </a:solidFill>
              </a:rPr>
              <a:t>Spazio</a:t>
            </a:r>
            <a:r>
              <a:rPr b="1" baseline="-25000" lang="it" sz="1600">
                <a:solidFill>
                  <a:srgbClr val="FF0000"/>
                </a:solidFill>
              </a:rPr>
              <a:t>bit</a:t>
            </a:r>
            <a:r>
              <a:rPr b="1" lang="it" sz="1600">
                <a:solidFill>
                  <a:srgbClr val="FF0000"/>
                </a:solidFill>
              </a:rPr>
              <a:t> = larghezza</a:t>
            </a:r>
            <a:r>
              <a:rPr b="1" baseline="-25000" lang="it" sz="1600">
                <a:solidFill>
                  <a:srgbClr val="FF0000"/>
                </a:solidFill>
              </a:rPr>
              <a:t>pixel </a:t>
            </a:r>
            <a:r>
              <a:rPr b="1" lang="it" sz="1600">
                <a:solidFill>
                  <a:srgbClr val="FF0000"/>
                </a:solidFill>
              </a:rPr>
              <a:t>× altezza</a:t>
            </a:r>
            <a:r>
              <a:rPr b="1" baseline="-25000" lang="it" sz="1600">
                <a:solidFill>
                  <a:srgbClr val="FF0000"/>
                </a:solidFill>
              </a:rPr>
              <a:t>pixel</a:t>
            </a:r>
            <a:r>
              <a:rPr b="1" lang="it" sz="1600">
                <a:solidFill>
                  <a:srgbClr val="FF0000"/>
                </a:solidFill>
              </a:rPr>
              <a:t> × profondità colore</a:t>
            </a:r>
            <a:r>
              <a:rPr b="1" baseline="-25000" lang="it" sz="1600">
                <a:solidFill>
                  <a:srgbClr val="FF0000"/>
                </a:solidFill>
              </a:rPr>
              <a:t>bit</a:t>
            </a:r>
            <a:endParaRPr b="1" baseline="-25000" sz="1600">
              <a:solidFill>
                <a:srgbClr val="FF0000"/>
              </a:solidFill>
            </a:endParaRPr>
          </a:p>
        </p:txBody>
      </p:sp>
      <p:sp>
        <p:nvSpPr>
          <p:cNvPr id="1210" name="Google Shape;1210;p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11" name="Google Shape;121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9450" y="83075"/>
            <a:ext cx="1910000" cy="198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5" name="Shape 1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Google Shape;1216;p12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 di risoluzione</a:t>
            </a:r>
            <a:endParaRPr/>
          </a:p>
        </p:txBody>
      </p:sp>
      <p:sp>
        <p:nvSpPr>
          <p:cNvPr id="1217" name="Google Shape;1217;p1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18" name="Google Shape;1218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417849"/>
            <a:ext cx="2150378" cy="19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9" name="Google Shape;1219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912" y="1422503"/>
            <a:ext cx="2150379" cy="189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121" y="1422512"/>
            <a:ext cx="2150378" cy="1898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1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72325" y="1265450"/>
            <a:ext cx="2048825" cy="204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29"/>
          <p:cNvSpPr txBox="1"/>
          <p:nvPr/>
        </p:nvSpPr>
        <p:spPr>
          <a:xfrm>
            <a:off x="257500" y="3699275"/>
            <a:ext cx="21504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170x170 pixel, RGB a 8 bit per componente 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Spazio</a:t>
            </a:r>
            <a:r>
              <a:rPr baseline="-25000" lang="it" sz="1000">
                <a:latin typeface="Source Code Pro"/>
                <a:ea typeface="Source Code Pro"/>
                <a:cs typeface="Source Code Pro"/>
                <a:sym typeface="Source Code Pro"/>
              </a:rPr>
              <a:t>bit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= 170*170*(8+8+8)= 693.600 bit = 84.7 Kb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id="1223" name="Google Shape;1223;p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99" y="1260799"/>
            <a:ext cx="2150378" cy="190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31912" y="1265453"/>
            <a:ext cx="2150379" cy="1898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5" name="Google Shape;1225;p1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121" y="1265462"/>
            <a:ext cx="2150378" cy="1898297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29"/>
          <p:cNvSpPr txBox="1"/>
          <p:nvPr/>
        </p:nvSpPr>
        <p:spPr>
          <a:xfrm>
            <a:off x="2469900" y="3699275"/>
            <a:ext cx="21504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32x32 pixel, RGB a 8 bit per componente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Spazio</a:t>
            </a:r>
            <a:r>
              <a:rPr baseline="-25000" lang="it" sz="1000">
                <a:latin typeface="Source Code Pro"/>
                <a:ea typeface="Source Code Pro"/>
                <a:cs typeface="Source Code Pro"/>
                <a:sym typeface="Source Code Pro"/>
              </a:rPr>
              <a:t>bit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= 32*32*(8+8+8)=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24.576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bit = 3 Kb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7" name="Google Shape;1227;p129"/>
          <p:cNvSpPr txBox="1"/>
          <p:nvPr/>
        </p:nvSpPr>
        <p:spPr>
          <a:xfrm>
            <a:off x="4682288" y="3699275"/>
            <a:ext cx="21504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170x170 pixel, RGB a 3 bit per componente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Spazio</a:t>
            </a:r>
            <a:r>
              <a:rPr baseline="-25000" lang="it" sz="1000">
                <a:latin typeface="Source Code Pro"/>
                <a:ea typeface="Source Code Pro"/>
                <a:cs typeface="Source Code Pro"/>
                <a:sym typeface="Source Code Pro"/>
              </a:rPr>
              <a:t>bit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= 170*170*(3+3+3)=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260.100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bit = 31.75 Kb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1228" name="Google Shape;1228;p129"/>
          <p:cNvSpPr txBox="1"/>
          <p:nvPr/>
        </p:nvSpPr>
        <p:spPr>
          <a:xfrm>
            <a:off x="6902500" y="3699275"/>
            <a:ext cx="21504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16x16 pixel, RGB a 2 bit per componente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Spazio</a:t>
            </a:r>
            <a:r>
              <a:rPr baseline="-25000" lang="it" sz="1000">
                <a:latin typeface="Source Code Pro"/>
                <a:ea typeface="Source Code Pro"/>
                <a:cs typeface="Source Code Pro"/>
                <a:sym typeface="Source Code Pro"/>
              </a:rPr>
              <a:t>bit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= 16*16*(2+2+2)= 1563 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bit</a:t>
            </a:r>
            <a:r>
              <a:rPr lang="it" sz="1000">
                <a:latin typeface="Source Code Pro"/>
                <a:ea typeface="Source Code Pro"/>
                <a:cs typeface="Source Code Pro"/>
                <a:sym typeface="Source Code Pro"/>
              </a:rPr>
              <a:t> = 192 byte</a:t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000"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13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compressione</a:t>
            </a:r>
            <a:endParaRPr/>
          </a:p>
        </p:txBody>
      </p:sp>
      <p:sp>
        <p:nvSpPr>
          <p:cNvPr id="1234" name="Google Shape;1234;p130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Maggiore è la qualità, maggiore sarà lo spazio occupato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Maggiore è la dimensione del file, maggiore sarà il tempo di trasmissione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L'ottimizzazione permette di ridurre le immagini alle dimensioni più piccole possibili mantenendo la qualità dell’immagine a livelli accettabili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Esistono delle tecniche di compressione delle informazioni che consentono di ridurre drasticamente lo spazio occupato da immagini e di ridurre il tempo di trasmissione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Nella compressione dei dati digitali in generale vengono eliminati gli elementi ripetitivi di un file </a:t>
            </a:r>
            <a:endParaRPr sz="1400"/>
          </a:p>
        </p:txBody>
      </p:sp>
      <p:sp>
        <p:nvSpPr>
          <p:cNvPr id="1235" name="Google Shape;1235;p1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36" name="Google Shape;1236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3300" y="130200"/>
            <a:ext cx="1747850" cy="17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p13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compressione</a:t>
            </a:r>
            <a:endParaRPr/>
          </a:p>
        </p:txBody>
      </p:sp>
      <p:sp>
        <p:nvSpPr>
          <p:cNvPr id="1242" name="Google Shape;1242;p13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Diversi software realizzano la compressione delle immagini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I formati .GIF e .JPEG (o .JPG) sono due tecniche di compressione con filosofie diverse 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Il formato .</a:t>
            </a:r>
            <a:r>
              <a:rPr b="1" lang="it" sz="1300"/>
              <a:t>GIF </a:t>
            </a:r>
            <a:r>
              <a:rPr lang="it" sz="1300"/>
              <a:t>riduce l’occupazione su disco di un’immagine limitando il </a:t>
            </a:r>
            <a:r>
              <a:rPr b="1" lang="it" sz="1300"/>
              <a:t>numero di colori</a:t>
            </a:r>
            <a:r>
              <a:rPr lang="it" sz="1300"/>
              <a:t> che compaiono in essa</a:t>
            </a:r>
            <a:endParaRPr sz="13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vengono scelti quelli più frequenti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alcune sfumature vengono perse e sostituite dalle sfumature più vicine tra quelle mantenute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naturalmente più si limita il numero di colori più l’immagine sarà piccola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il numero può andare da un minimo di 2 ad un massimo di 256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l’insieme dei colori utilizzati viene salvato insieme all’immagine come palette di colori</a:t>
            </a:r>
            <a:endParaRPr sz="1200"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urce Code Pro"/>
              <a:buChar char="○"/>
            </a:pPr>
            <a:r>
              <a:rPr lang="it" sz="1200"/>
              <a:t>il formato .GIF è adatto ad immagini geometriche, possibilmente con un numero di colori non elevato</a:t>
            </a:r>
            <a:endParaRPr sz="1200"/>
          </a:p>
        </p:txBody>
      </p:sp>
      <p:sp>
        <p:nvSpPr>
          <p:cNvPr id="1243" name="Google Shape;1243;p1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44" name="Google Shape;1244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9250" y="116600"/>
            <a:ext cx="2271525" cy="150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13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compressione</a:t>
            </a:r>
            <a:endParaRPr/>
          </a:p>
        </p:txBody>
      </p:sp>
      <p:sp>
        <p:nvSpPr>
          <p:cNvPr id="1250" name="Google Shape;1250;p13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52" name="Google Shape;1252;p13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Il formato </a:t>
            </a:r>
            <a:r>
              <a:rPr b="1" lang="it" sz="1300"/>
              <a:t>.JPEG</a:t>
            </a:r>
            <a:r>
              <a:rPr lang="it" sz="1300"/>
              <a:t> riduce l’occupazione su disco di un’immagine diminuendo la qualità di visualizzazione ma consentendo di usare tutta la gamma RGB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Mentre il formato </a:t>
            </a:r>
            <a:r>
              <a:rPr b="1" lang="it" sz="1300"/>
              <a:t>.GIF</a:t>
            </a:r>
            <a:r>
              <a:rPr lang="it" sz="1300"/>
              <a:t> è adatto ad </a:t>
            </a:r>
            <a:r>
              <a:rPr b="1" lang="it" sz="1300"/>
              <a:t>immagini geometriche</a:t>
            </a:r>
            <a:r>
              <a:rPr lang="it" sz="1300"/>
              <a:t>, possibilmente con un numero di colori non elevato, il formato </a:t>
            </a:r>
            <a:r>
              <a:rPr b="1" lang="it" sz="1300"/>
              <a:t>.JPEG</a:t>
            </a:r>
            <a:r>
              <a:rPr lang="it" sz="1300"/>
              <a:t> è adatto ad immagini di tipo </a:t>
            </a:r>
            <a:r>
              <a:rPr b="1" lang="it" sz="1300"/>
              <a:t>fotografico</a:t>
            </a:r>
            <a:r>
              <a:rPr lang="it" sz="1300"/>
              <a:t>, dove la perdita di qualità si nota di meno, o in generale ad immagini dove un limite sul numero di colori produrrebbe differenze troppo significative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Se la compressione .JPEG è alta si perde molto in termini di qualità dell'immagine, ma si riesce a diminuire di molto la dimensione del file</a:t>
            </a:r>
            <a:endParaRPr sz="1300"/>
          </a:p>
          <a:p>
            <a:pPr indent="-31115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it" sz="1300"/>
              <a:t>Se la compressione è bassa, le dimensioni aumentano</a:t>
            </a:r>
            <a:endParaRPr sz="1300"/>
          </a:p>
        </p:txBody>
      </p:sp>
      <p:pic>
        <p:nvPicPr>
          <p:cNvPr id="1253" name="Google Shape;1253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68745" y="121945"/>
            <a:ext cx="1252400" cy="125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13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compressione</a:t>
            </a:r>
            <a:endParaRPr/>
          </a:p>
        </p:txBody>
      </p:sp>
      <p:sp>
        <p:nvSpPr>
          <p:cNvPr id="1259" name="Google Shape;1259;p13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In generale si possono classificare i formati di compressione di dati (immagini grafiche, suoni, video) usando come parametro la loro reversibilità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/>
              <a:t>Lossless</a:t>
            </a:r>
            <a:r>
              <a:rPr lang="it" sz="1400"/>
              <a:t>: una tecnica di compressione che permette di ricostruire esattamente i dati originari, ovvero per cui esiste un algoritmo di decompressione che mi consente di riottenere l’informazione di partenza (es. un’immagine esattamente uguale – pixel per pixel – all'originale com'era prima che venisse compresso), viene normalmente definita lossless: senza perdita di informazione </a:t>
            </a:r>
            <a:r>
              <a:rPr lang="it"/>
              <a:t>(</a:t>
            </a:r>
            <a:r>
              <a:rPr lang="it" sz="1400"/>
              <a:t>es. </a:t>
            </a:r>
            <a:r>
              <a:rPr b="1" lang="it" sz="1400"/>
              <a:t>.GIF)</a:t>
            </a:r>
            <a:endParaRPr b="1"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it" sz="1400"/>
              <a:t>Lossy</a:t>
            </a:r>
            <a:r>
              <a:rPr lang="it" sz="1400"/>
              <a:t>: una tecnica di compressione che non può assicurare una reversibilità assoluta, viene definito lossy, con perdita di informazione </a:t>
            </a:r>
            <a:r>
              <a:rPr lang="it"/>
              <a:t>(</a:t>
            </a:r>
            <a:r>
              <a:rPr lang="it" sz="1400"/>
              <a:t>es. </a:t>
            </a:r>
            <a:r>
              <a:rPr b="1" lang="it" sz="1400"/>
              <a:t>.JPEG)</a:t>
            </a:r>
            <a:endParaRPr sz="1400"/>
          </a:p>
        </p:txBody>
      </p:sp>
      <p:sp>
        <p:nvSpPr>
          <p:cNvPr id="1260" name="Google Shape;1260;p1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61" name="Google Shape;1261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9905" y="104175"/>
            <a:ext cx="2911245" cy="136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13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Link</a:t>
            </a:r>
            <a:endParaRPr/>
          </a:p>
        </p:txBody>
      </p:sp>
      <p:sp>
        <p:nvSpPr>
          <p:cNvPr id="1267" name="Google Shape;1267;p13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it" u="sng">
                <a:solidFill>
                  <a:schemeClr val="hlink"/>
                </a:solidFill>
                <a:hlinkClick r:id="rId3"/>
              </a:rPr>
              <a:t>https://aladdin.di.unimi.it/sw/grigliata_di_immagini/index.html</a:t>
            </a:r>
            <a:r>
              <a:rPr lang="it"/>
              <a:t> </a:t>
            </a:r>
            <a:endParaRPr/>
          </a:p>
        </p:txBody>
      </p:sp>
      <p:sp>
        <p:nvSpPr>
          <p:cNvPr id="1268" name="Google Shape;1268;p1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3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grafica vettoriale</a:t>
            </a:r>
            <a:endParaRPr/>
          </a:p>
        </p:txBody>
      </p:sp>
      <p:sp>
        <p:nvSpPr>
          <p:cNvPr id="1274" name="Google Shape;1274;p13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oggetto grafico bitmap è memorizzato semplicemente come una griglia di pixel a ciascuno dei quali è associato un colore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Una volta disegnata una linea, essa non è più una “linea” ma solo un insieme di pixel sullo schermo, pertanto non è più possibile modificarne le coordinate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Le manipolazioni che si possono fare su un oggetto bitmap si basano sul concetto di pixel, ovvero colorare differentemente i pixel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Esiste un altro tipo di approccio alla rappresentazione delle immagini: la </a:t>
            </a:r>
            <a:r>
              <a:rPr b="1" lang="it" sz="1400"/>
              <a:t>grafica vettoriale</a:t>
            </a:r>
            <a:endParaRPr b="1" sz="1400"/>
          </a:p>
        </p:txBody>
      </p:sp>
      <p:sp>
        <p:nvSpPr>
          <p:cNvPr id="1275" name="Google Shape;1275;p1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76" name="Google Shape;1276;p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2924" y="69575"/>
            <a:ext cx="1883425" cy="159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3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grafica vettoriale</a:t>
            </a:r>
            <a:endParaRPr/>
          </a:p>
        </p:txBody>
      </p:sp>
      <p:sp>
        <p:nvSpPr>
          <p:cNvPr id="1282" name="Google Shape;1282;p13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Un oggetto vettoriale è costituito da una sequenza di segmenti, che vengono memorizzati registrando le coordinate delle estremità di ciascun segmento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Tali segmenti possono essere dritti o curvi, e possono essere uniti a formare una linea spezzata, aperta o chiusa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Un oggetto vettoriale ha inoltre degli attributi, come ad esempio il colore e lo spessore della linea, il riempimento se si tratta di una figura chiusa (ad es. un rettangolo), etc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Gli attributi sono memorizzati separatamente dalle coordinate, per cui una volta creato l’oggetto è possibile modificare le coordinate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1000"/>
              </a:spcAft>
              <a:buSzPts val="1300"/>
              <a:buChar char="●"/>
            </a:pPr>
            <a:r>
              <a:rPr lang="it" sz="1300"/>
              <a:t>La grafica vettoriale è molto usata dai grafici professionisti, e esistono molti altri prodotti che la utilizzano (ad es. CorelDraw, Macromedia Fireworks).</a:t>
            </a:r>
            <a:endParaRPr sz="1300"/>
          </a:p>
        </p:txBody>
      </p:sp>
      <p:sp>
        <p:nvSpPr>
          <p:cNvPr id="1283" name="Google Shape;1283;p1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84" name="Google Shape;1284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4828" y="77673"/>
            <a:ext cx="2256320" cy="143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13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grafica vettoriale</a:t>
            </a:r>
            <a:endParaRPr/>
          </a:p>
        </p:txBody>
      </p:sp>
      <p:sp>
        <p:nvSpPr>
          <p:cNvPr id="1290" name="Google Shape;1290;p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91" name="Google Shape;1291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729" y="1260175"/>
            <a:ext cx="5014549" cy="362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13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grafica vettoriale</a:t>
            </a:r>
            <a:endParaRPr/>
          </a:p>
        </p:txBody>
      </p:sp>
      <p:sp>
        <p:nvSpPr>
          <p:cNvPr id="1297" name="Google Shape;1297;p138"/>
          <p:cNvSpPr txBox="1"/>
          <p:nvPr>
            <p:ph idx="1" type="body"/>
          </p:nvPr>
        </p:nvSpPr>
        <p:spPr>
          <a:xfrm>
            <a:off x="311700" y="1468825"/>
            <a:ext cx="48318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programma che gestisce grafica vettoriale dovrà prima leggere le coordinate e le informazioni sugli attributi, poi riprodurre pixel per pixel le curve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Meno occupazione di memoria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Zoom senza perdita di qualità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Più elaborazione per la riproduzione</a:t>
            </a:r>
            <a:endParaRPr sz="1400"/>
          </a:p>
        </p:txBody>
      </p:sp>
      <p:sp>
        <p:nvSpPr>
          <p:cNvPr id="1298" name="Google Shape;1298;p1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299" name="Google Shape;1299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650" y="2285350"/>
            <a:ext cx="3124200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3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Formati immagini</a:t>
            </a:r>
            <a:endParaRPr/>
          </a:p>
        </p:txBody>
      </p:sp>
      <p:sp>
        <p:nvSpPr>
          <p:cNvPr id="1305" name="Google Shape;1305;p139"/>
          <p:cNvSpPr txBox="1"/>
          <p:nvPr>
            <p:ph idx="1" type="body"/>
          </p:nvPr>
        </p:nvSpPr>
        <p:spPr>
          <a:xfrm>
            <a:off x="311700" y="1468825"/>
            <a:ext cx="4101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/>
              <a:t>Immagini Raster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200"/>
              <a:t>.bmp — </a:t>
            </a:r>
            <a:r>
              <a:rPr b="1" lang="it" sz="1200"/>
              <a:t>Windows bitmap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.cdp — Lossless photo CPD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.eps — Encapsulated PostScript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.gif — </a:t>
            </a:r>
            <a:r>
              <a:rPr b="1" lang="it" sz="1200"/>
              <a:t>Graphics Interchange Format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.gpd — Lossless graphic GPD, GPD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.jpd — Lossy photo JPD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.jpg, jpeg — </a:t>
            </a:r>
            <a:r>
              <a:rPr b="1" lang="it" sz="1200"/>
              <a:t>JPEG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.png — </a:t>
            </a:r>
            <a:r>
              <a:rPr b="1" lang="it" sz="1200"/>
              <a:t>Portable Network Graphics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.tiff — Tagged Image File Format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.psd — PSD (formato proprietario)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…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06" name="Google Shape;1306;p1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307" name="Google Shape;1307;p139"/>
          <p:cNvSpPr txBox="1"/>
          <p:nvPr>
            <p:ph idx="1" type="body"/>
          </p:nvPr>
        </p:nvSpPr>
        <p:spPr>
          <a:xfrm>
            <a:off x="3970825" y="1479100"/>
            <a:ext cx="474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1400"/>
              <a:t>Immagini Vettoriali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200"/>
              <a:t>.ai — Adobe Illustrator (formato proprietario)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.cdr — </a:t>
            </a:r>
            <a:r>
              <a:rPr b="1" lang="it" sz="1200"/>
              <a:t>CorelDRAW </a:t>
            </a:r>
            <a:r>
              <a:rPr lang="it" sz="1200"/>
              <a:t>(formato proprietario)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.dwg — </a:t>
            </a:r>
            <a:r>
              <a:rPr b="1" lang="it" sz="1200"/>
              <a:t>AutoCAD DWG</a:t>
            </a:r>
            <a:r>
              <a:rPr lang="it" sz="1200"/>
              <a:t> (AutoCAD ecc. - Grafica vettoriale) (formato proprietario)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.dxf — AutoCAD DXF (Drawing Interchange (eXchange))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.fla — </a:t>
            </a:r>
            <a:r>
              <a:rPr b="1" lang="it" sz="1200"/>
              <a:t>Adobe Flash</a:t>
            </a:r>
            <a:r>
              <a:rPr lang="it" sz="1200"/>
              <a:t> (formato proprietario)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.prt — Vari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.svg — </a:t>
            </a:r>
            <a:r>
              <a:rPr b="1" lang="it" sz="1200"/>
              <a:t>Scalable Vector</a:t>
            </a:r>
            <a:r>
              <a:rPr lang="it" sz="1200"/>
              <a:t> </a:t>
            </a:r>
            <a:r>
              <a:rPr b="1" lang="it" sz="1200"/>
              <a:t>Graphics</a:t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.pln — Archicad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.pla — Archicad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…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1308" name="Google Shape;1308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7724" y="219849"/>
            <a:ext cx="966975" cy="10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0124" y="219849"/>
            <a:ext cx="966975" cy="10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5324" y="219849"/>
            <a:ext cx="966975" cy="103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140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Dall’analogico al digitale</a:t>
            </a:r>
            <a:endParaRPr/>
          </a:p>
        </p:txBody>
      </p:sp>
      <p:sp>
        <p:nvSpPr>
          <p:cNvPr id="1316" name="Google Shape;1316;p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4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Segnale analogico</a:t>
            </a:r>
            <a:endParaRPr/>
          </a:p>
        </p:txBody>
      </p:sp>
      <p:sp>
        <p:nvSpPr>
          <p:cNvPr id="1322" name="Google Shape;1322;p141"/>
          <p:cNvSpPr txBox="1"/>
          <p:nvPr>
            <p:ph idx="1" type="body"/>
          </p:nvPr>
        </p:nvSpPr>
        <p:spPr>
          <a:xfrm>
            <a:off x="311700" y="1468825"/>
            <a:ext cx="8520600" cy="17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segnale è definito </a:t>
            </a:r>
            <a:r>
              <a:rPr b="1" lang="it" sz="1400"/>
              <a:t>analogico </a:t>
            </a:r>
            <a:r>
              <a:rPr lang="it" sz="1400"/>
              <a:t>quando può essere rappresentato mediante una funzione del tempo che: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è definita per ogni valore del tempo (è cioè continua nel dominio)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è </a:t>
            </a:r>
            <a:r>
              <a:rPr b="1" lang="it" sz="1400"/>
              <a:t>continua</a:t>
            </a:r>
            <a:endParaRPr b="1"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In altre parole: "è possibile disegnare l'andamento temporale di un segnale analogico senza mai staccare la penna dal foglio..." </a:t>
            </a:r>
            <a:endParaRPr sz="1400"/>
          </a:p>
        </p:txBody>
      </p:sp>
      <p:sp>
        <p:nvSpPr>
          <p:cNvPr id="1323" name="Google Shape;1323;p1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24" name="Google Shape;1324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725" y="3230050"/>
            <a:ext cx="2694956" cy="1656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5" name="Google Shape;1325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0650" y="3677188"/>
            <a:ext cx="237172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4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Segnale digitale</a:t>
            </a:r>
            <a:endParaRPr/>
          </a:p>
        </p:txBody>
      </p:sp>
      <p:sp>
        <p:nvSpPr>
          <p:cNvPr id="1331" name="Google Shape;1331;p142"/>
          <p:cNvSpPr txBox="1"/>
          <p:nvPr>
            <p:ph idx="1" type="body"/>
          </p:nvPr>
        </p:nvSpPr>
        <p:spPr>
          <a:xfrm>
            <a:off x="311700" y="1468825"/>
            <a:ext cx="8520600" cy="19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Un segnale è definito </a:t>
            </a:r>
            <a:r>
              <a:rPr b="1" lang="it" sz="1300"/>
              <a:t>digitale </a:t>
            </a:r>
            <a:r>
              <a:rPr lang="it" sz="1300"/>
              <a:t>quando è costituito da una funzione del tempo che: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è discreta 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it" sz="1300"/>
              <a:t>è quantizzata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In altre parole la funzione è definita solamente in un insieme numerabile di istanti equispaziati ed è costituita un insieme </a:t>
            </a:r>
            <a:r>
              <a:rPr b="1" lang="it" sz="1300"/>
              <a:t>discreto </a:t>
            </a:r>
            <a:r>
              <a:rPr lang="it" sz="1300"/>
              <a:t>di valori.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t" sz="1300"/>
              <a:t>Un caso particolare si ha quando i valori possibili sono due; si parla allora di </a:t>
            </a:r>
            <a:r>
              <a:rPr b="1" lang="it" sz="1300"/>
              <a:t>segnale digitale binario</a:t>
            </a:r>
            <a:endParaRPr b="1" sz="1300"/>
          </a:p>
        </p:txBody>
      </p:sp>
      <p:sp>
        <p:nvSpPr>
          <p:cNvPr id="1332" name="Google Shape;1332;p1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33" name="Google Shape;1333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075" y="3584800"/>
            <a:ext cx="2371725" cy="81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4" name="Google Shape;1334;p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1100" y="3418113"/>
            <a:ext cx="246697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14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La conversione analogico-digitale</a:t>
            </a:r>
            <a:endParaRPr/>
          </a:p>
        </p:txBody>
      </p:sp>
      <p:sp>
        <p:nvSpPr>
          <p:cNvPr id="1340" name="Google Shape;1340;p143"/>
          <p:cNvSpPr txBox="1"/>
          <p:nvPr>
            <p:ph idx="1" type="body"/>
          </p:nvPr>
        </p:nvSpPr>
        <p:spPr>
          <a:xfrm>
            <a:off x="311700" y="1468825"/>
            <a:ext cx="6030900" cy="33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/>
              <a:t>La </a:t>
            </a:r>
            <a:r>
              <a:rPr b="1" lang="it" sz="1200"/>
              <a:t>conversione A/D</a:t>
            </a:r>
            <a:r>
              <a:rPr lang="it" sz="1200"/>
              <a:t> richiede: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il </a:t>
            </a:r>
            <a:r>
              <a:rPr b="1" lang="it" sz="1200"/>
              <a:t>campionamento </a:t>
            </a:r>
            <a:r>
              <a:rPr lang="it" sz="1200"/>
              <a:t>- ovvero il passaggio da un un numero infinito ad uno finito di punti relativamente all’asse del tempo. Verrà considerata la successione dei valori istantanei assunti dal segnale in corrispondenza degli </a:t>
            </a:r>
            <a:r>
              <a:rPr b="1" lang="it" sz="1200"/>
              <a:t>istanti di campionamento</a:t>
            </a:r>
            <a:r>
              <a:rPr lang="it" sz="1200"/>
              <a:t>. L'intervallo che separa due successivi istanti di campionamento viene definito </a:t>
            </a:r>
            <a:r>
              <a:rPr b="1" lang="it" sz="1200"/>
              <a:t>periodo di campionamento</a:t>
            </a:r>
            <a:r>
              <a:rPr lang="it" sz="1200"/>
              <a:t>, il suo reciproco viene definita </a:t>
            </a:r>
            <a:r>
              <a:rPr b="1" lang="it" sz="1200"/>
              <a:t>frequenza di campionamento</a:t>
            </a:r>
            <a:r>
              <a:rPr lang="it" sz="1200"/>
              <a:t> 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</a:t>
            </a:r>
            <a:r>
              <a:rPr b="1" lang="it" sz="1200"/>
              <a:t>quantizzazione </a:t>
            </a:r>
            <a:r>
              <a:rPr lang="it" sz="1200"/>
              <a:t>- ovvero il prelevamento dei valori di ampiezza relativi ai punti fissati nel passaggio precedente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it" sz="1200"/>
              <a:t>la </a:t>
            </a:r>
            <a:r>
              <a:rPr b="1" lang="it" sz="1200"/>
              <a:t>codifica </a:t>
            </a:r>
            <a:r>
              <a:rPr lang="it" sz="1200"/>
              <a:t>- ovvero uso di “word” binarie per esprimere il valore del segnale</a:t>
            </a:r>
            <a:endParaRPr sz="1200"/>
          </a:p>
        </p:txBody>
      </p:sp>
      <p:sp>
        <p:nvSpPr>
          <p:cNvPr id="1341" name="Google Shape;1341;p1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42" name="Google Shape;1342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988" y="2257438"/>
            <a:ext cx="2371725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Google Shape;1347;p14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</a:t>
            </a:r>
            <a:endParaRPr/>
          </a:p>
        </p:txBody>
      </p:sp>
      <p:sp>
        <p:nvSpPr>
          <p:cNvPr id="1348" name="Google Shape;1348;p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49" name="Google Shape;1349;p1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000" y="2239475"/>
            <a:ext cx="53340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4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del suono</a:t>
            </a:r>
            <a:endParaRPr/>
          </a:p>
        </p:txBody>
      </p:sp>
      <p:sp>
        <p:nvSpPr>
          <p:cNvPr id="1355" name="Google Shape;1355;p1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p14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L’onda sonora</a:t>
            </a:r>
            <a:endParaRPr/>
          </a:p>
        </p:txBody>
      </p:sp>
      <p:sp>
        <p:nvSpPr>
          <p:cNvPr id="1361" name="Google Shape;1361;p14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Anche i suoni possono essere rappresentati in forma digitale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Dal punto di vista fisico un suono è </a:t>
            </a:r>
            <a:r>
              <a:rPr b="1" lang="it" sz="1400"/>
              <a:t>un'alterazione della pressione</a:t>
            </a:r>
            <a:r>
              <a:rPr lang="it" sz="1400"/>
              <a:t> dell'aria che, quando rilevata dall'orecchio umano, viene trasformata in un particolare stimolo al cervello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La </a:t>
            </a:r>
            <a:r>
              <a:rPr b="1" lang="it" sz="1400"/>
              <a:t>durata</a:t>
            </a:r>
            <a:r>
              <a:rPr lang="it" sz="1400"/>
              <a:t>, </a:t>
            </a:r>
            <a:r>
              <a:rPr b="1" lang="it" sz="1400"/>
              <a:t>l'intensità </a:t>
            </a:r>
            <a:r>
              <a:rPr lang="it" sz="1400"/>
              <a:t>e la </a:t>
            </a:r>
            <a:r>
              <a:rPr b="1" lang="it" sz="1400"/>
              <a:t>variazione nel tempo</a:t>
            </a:r>
            <a:r>
              <a:rPr lang="it" sz="1400"/>
              <a:t> della pressione dell'aria sono le quantità fisiche che rendono un suono diverso da ogni altro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Un suono può essere rappresentato mediante un’onda che descrive la variazione della pressione dell'aria nel tempo (ovvero un’</a:t>
            </a:r>
            <a:r>
              <a:rPr b="1" lang="it" sz="1400"/>
              <a:t>onda sonora</a:t>
            </a:r>
            <a:r>
              <a:rPr lang="it" sz="1400"/>
              <a:t>)</a:t>
            </a:r>
            <a:endParaRPr sz="1400"/>
          </a:p>
        </p:txBody>
      </p:sp>
      <p:sp>
        <p:nvSpPr>
          <p:cNvPr id="1362" name="Google Shape;1362;p1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63" name="Google Shape;1363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5400" y="87223"/>
            <a:ext cx="2335750" cy="145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14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suoni</a:t>
            </a:r>
            <a:endParaRPr/>
          </a:p>
        </p:txBody>
      </p:sp>
      <p:sp>
        <p:nvSpPr>
          <p:cNvPr id="1369" name="Google Shape;1369;p14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Quanto più frequentemente il valore di intensità dell'onda viene campionato, tanto più precisa sarà la rappresentazione dell'onda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segnale può essere riprodotto perfettamente sulla base dei valori campione a certe condizioni sulla frequenza di campionamento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Un </a:t>
            </a:r>
            <a:r>
              <a:rPr b="1" lang="it" sz="1400"/>
              <a:t>errore </a:t>
            </a:r>
            <a:r>
              <a:rPr lang="it" sz="1400"/>
              <a:t>viene comunque introdotto quando si converte il valore analogico di un campione in un numero con un numero limitato di cifre; la codifica digitale introduce sempre una perdita di qualità</a:t>
            </a:r>
            <a:endParaRPr sz="1400"/>
          </a:p>
        </p:txBody>
      </p:sp>
      <p:sp>
        <p:nvSpPr>
          <p:cNvPr id="1370" name="Google Shape;1370;p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71" name="Google Shape;1371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1213" y="114675"/>
            <a:ext cx="3209925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4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Esempio</a:t>
            </a:r>
            <a:endParaRPr/>
          </a:p>
        </p:txBody>
      </p:sp>
      <p:sp>
        <p:nvSpPr>
          <p:cNvPr id="1377" name="Google Shape;1377;p148"/>
          <p:cNvSpPr txBox="1"/>
          <p:nvPr>
            <p:ph idx="1" type="body"/>
          </p:nvPr>
        </p:nvSpPr>
        <p:spPr>
          <a:xfrm>
            <a:off x="311700" y="1468825"/>
            <a:ext cx="6807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La </a:t>
            </a:r>
            <a:r>
              <a:rPr b="1" lang="it" sz="1400"/>
              <a:t>stereofonia</a:t>
            </a:r>
            <a:r>
              <a:rPr lang="it" sz="1400"/>
              <a:t> è una tecnica di riproduzione/registrazione del suono che prevede molteplici flussi informativi sonori ognuno dei quali destinato ad essere riprodotto da un diverso diffusore.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In un CD musicale si mescolano </a:t>
            </a:r>
            <a:r>
              <a:rPr lang="it" sz="1400">
                <a:highlight>
                  <a:srgbClr val="FFF2CC"/>
                </a:highlight>
              </a:rPr>
              <a:t>due registrazioni</a:t>
            </a:r>
            <a:r>
              <a:rPr lang="it" sz="1400"/>
              <a:t>; in ognuna di queste vi sono registrati </a:t>
            </a:r>
            <a:r>
              <a:rPr lang="it" sz="1400">
                <a:highlight>
                  <a:srgbClr val="FFF2CC"/>
                </a:highlight>
              </a:rPr>
              <a:t>44.100 campioni al secondo</a:t>
            </a:r>
            <a:r>
              <a:rPr lang="it" sz="1400"/>
              <a:t>; per ogni campione vengono utilizzati </a:t>
            </a:r>
            <a:r>
              <a:rPr lang="it" sz="1400">
                <a:highlight>
                  <a:srgbClr val="FFF2CC"/>
                </a:highlight>
              </a:rPr>
              <a:t>16 bit</a:t>
            </a:r>
            <a:r>
              <a:rPr lang="it" sz="1400"/>
              <a:t> per la memorizzare. Quanti byte occupa la registrazione?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it"/>
              <a:t>Spazio</a:t>
            </a:r>
            <a:r>
              <a:rPr baseline="-25000" lang="it"/>
              <a:t>bit</a:t>
            </a:r>
            <a:r>
              <a:rPr lang="it"/>
              <a:t> = 44.100 * 16 * 2 </a:t>
            </a:r>
            <a:r>
              <a:rPr lang="it" sz="1400"/>
              <a:t>= 1.411.200 bit (</a:t>
            </a:r>
            <a:r>
              <a:rPr lang="it"/>
              <a:t>∼</a:t>
            </a:r>
            <a:r>
              <a:rPr lang="it" sz="1400"/>
              <a:t> 172 K</a:t>
            </a:r>
            <a:r>
              <a:rPr lang="it"/>
              <a:t>B)</a:t>
            </a:r>
            <a:endParaRPr sz="1400"/>
          </a:p>
        </p:txBody>
      </p:sp>
      <p:sp>
        <p:nvSpPr>
          <p:cNvPr id="1378" name="Google Shape;1378;p1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79" name="Google Shape;1379;p1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87763" y="210113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4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Formati audio</a:t>
            </a:r>
            <a:endParaRPr/>
          </a:p>
        </p:txBody>
      </p:sp>
      <p:sp>
        <p:nvSpPr>
          <p:cNvPr id="1385" name="Google Shape;1385;p149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Formato </a:t>
            </a:r>
            <a:r>
              <a:rPr b="1" lang="it" sz="1400"/>
              <a:t>NON compresso</a:t>
            </a:r>
            <a:r>
              <a:rPr lang="it" sz="1400"/>
              <a:t> WAVE </a:t>
            </a:r>
            <a:r>
              <a:rPr b="1" lang="it" sz="1400"/>
              <a:t>.wav</a:t>
            </a:r>
            <a:endParaRPr b="1"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Formato </a:t>
            </a:r>
            <a:r>
              <a:rPr b="1" lang="it" sz="1400"/>
              <a:t>compresso </a:t>
            </a:r>
            <a:r>
              <a:rPr lang="it" sz="1400"/>
              <a:t>con perdita di informazioni </a:t>
            </a:r>
            <a:r>
              <a:rPr b="1" lang="it" sz="1400"/>
              <a:t>.mp3</a:t>
            </a:r>
            <a:endParaRPr b="1"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formato specializzato per la compressione e la trasmissione di file audio digitali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garantisce una fedeltà molto alta (praticamente</a:t>
            </a:r>
            <a:r>
              <a:rPr lang="it"/>
              <a:t> </a:t>
            </a:r>
            <a:r>
              <a:rPr lang="it" sz="1400"/>
              <a:t>indistinguibile dal suono non compresso)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SzPts val="1400"/>
              <a:buChar char="○"/>
            </a:pPr>
            <a:r>
              <a:rPr lang="it"/>
              <a:t>e</a:t>
            </a:r>
            <a:r>
              <a:rPr lang="it" sz="1400"/>
              <a:t>fficienza e grande diffusione: la dimensione del file ottenuto è molto inferiore di quella originale (anche un un decimo o meno)</a:t>
            </a:r>
            <a:endParaRPr sz="1400"/>
          </a:p>
        </p:txBody>
      </p:sp>
      <p:sp>
        <p:nvSpPr>
          <p:cNvPr id="1386" name="Google Shape;1386;p1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87" name="Google Shape;1387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10363" y="97338"/>
            <a:ext cx="2409825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150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Esistono altri formati?</a:t>
            </a:r>
            <a:endParaRPr/>
          </a:p>
        </p:txBody>
      </p:sp>
      <p:sp>
        <p:nvSpPr>
          <p:cNvPr id="1393" name="Google Shape;1393;p1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394" name="Google Shape;1394;p1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6593" y="1516325"/>
            <a:ext cx="2930825" cy="31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151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video</a:t>
            </a:r>
            <a:endParaRPr/>
          </a:p>
        </p:txBody>
      </p:sp>
      <p:sp>
        <p:nvSpPr>
          <p:cNvPr id="1400" name="Google Shape;1400;p1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152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Codifica dei filmati</a:t>
            </a:r>
            <a:endParaRPr/>
          </a:p>
        </p:txBody>
      </p:sp>
      <p:sp>
        <p:nvSpPr>
          <p:cNvPr id="1406" name="Google Shape;1406;p152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</a:t>
            </a:r>
            <a:r>
              <a:rPr b="1" lang="it" sz="1400"/>
              <a:t>filmato </a:t>
            </a:r>
            <a:r>
              <a:rPr lang="it" sz="1400"/>
              <a:t>è una sequenza di immagini statiche (detti </a:t>
            </a:r>
            <a:r>
              <a:rPr b="1" lang="it" sz="1400"/>
              <a:t>fotogrammi </a:t>
            </a:r>
            <a:r>
              <a:rPr lang="it" sz="1400"/>
              <a:t>o </a:t>
            </a:r>
            <a:r>
              <a:rPr b="1" lang="it" sz="1400"/>
              <a:t>frame</a:t>
            </a:r>
            <a:r>
              <a:rPr lang="it" sz="1400"/>
              <a:t>) che, in sequenza veloce, danno la sensazione del movimento.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La velocità di riproduzione dei fotogrammi è detta </a:t>
            </a:r>
            <a:r>
              <a:rPr b="1" lang="it" sz="1400"/>
              <a:t>frame rate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Per rendere la sensazione del movimento, occorrono almeno 24 fotogrammi per ogni secondo, ovvero 24 fps.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La codifica in digitale comprende la codifica dei dati audio e la codifica dei dati video (sincronizzazione)</a:t>
            </a:r>
            <a:endParaRPr sz="1400"/>
          </a:p>
        </p:txBody>
      </p:sp>
      <p:sp>
        <p:nvSpPr>
          <p:cNvPr id="1407" name="Google Shape;1407;p1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08" name="Google Shape;1408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1788" y="0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5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.MPEG (Movie Picture Experts Group)</a:t>
            </a:r>
            <a:endParaRPr/>
          </a:p>
        </p:txBody>
      </p:sp>
      <p:sp>
        <p:nvSpPr>
          <p:cNvPr id="1414" name="Google Shape;1414;p15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L’estensione che indica questo tipo di file è </a:t>
            </a:r>
            <a:r>
              <a:rPr b="1" lang="it" sz="1400"/>
              <a:t>.mpg</a:t>
            </a:r>
            <a:endParaRPr b="1"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Opera una compressione sia spaziale (all’interno del singolo fotogramma) sia temporale (sfrutta componenti comuni fra fotogrammi successivi per effettuare compressioni su un’intera scena)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Esistono 3 diversi standard appartenenti a questo gruppo:</a:t>
            </a:r>
            <a:endParaRPr sz="1400"/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SzPts val="1400"/>
              <a:buChar char="○"/>
            </a:pPr>
            <a:r>
              <a:rPr lang="it" sz="1400"/>
              <a:t>MPEG-1, MPEG-2, M-PEG4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Esempio: i DVD usano una variazione dello standard MPEG-2 per comprimere dati audio-video</a:t>
            </a:r>
            <a:endParaRPr sz="1400"/>
          </a:p>
        </p:txBody>
      </p:sp>
      <p:sp>
        <p:nvSpPr>
          <p:cNvPr id="1415" name="Google Shape;1415;p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16" name="Google Shape;1416;p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923" y="107248"/>
            <a:ext cx="1820225" cy="18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5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Formati video</a:t>
            </a:r>
            <a:endParaRPr/>
          </a:p>
        </p:txBody>
      </p:sp>
      <p:sp>
        <p:nvSpPr>
          <p:cNvPr id="1422" name="Google Shape;1422;p15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/>
              <a:t>.avi — </a:t>
            </a:r>
            <a:r>
              <a:rPr b="1" lang="it" sz="1400"/>
              <a:t>Audio Video Interleave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400"/>
              <a:t>.divx — DivX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400"/>
              <a:t>.flv — Flash Video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400"/>
              <a:t>.mpeg — </a:t>
            </a:r>
            <a:r>
              <a:rPr b="1" lang="it" sz="1400"/>
              <a:t>MPEG</a:t>
            </a:r>
            <a:endParaRPr b="1"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400"/>
              <a:t>.wmv — </a:t>
            </a:r>
            <a:r>
              <a:rPr b="1" lang="it" sz="1400"/>
              <a:t>Windows Media Video</a:t>
            </a:r>
            <a:r>
              <a:rPr lang="it" sz="1400"/>
              <a:t> (formato proprietario)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" sz="1400"/>
              <a:t>.mov — QuickTime (QuickTime File Format)</a:t>
            </a:r>
            <a:endParaRPr sz="14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it" sz="1400"/>
              <a:t>.rm — RealMedia</a:t>
            </a:r>
            <a:endParaRPr sz="1400"/>
          </a:p>
        </p:txBody>
      </p:sp>
      <p:sp>
        <p:nvSpPr>
          <p:cNvPr id="1423" name="Google Shape;1423;p1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24" name="Google Shape;1424;p1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3363" y="157685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55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Approfondimento</a:t>
            </a:r>
            <a:endParaRPr/>
          </a:p>
        </p:txBody>
      </p:sp>
      <p:sp>
        <p:nvSpPr>
          <p:cNvPr id="1430" name="Google Shape;1430;p1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15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QR Code</a:t>
            </a:r>
            <a:endParaRPr/>
          </a:p>
        </p:txBody>
      </p:sp>
      <p:sp>
        <p:nvSpPr>
          <p:cNvPr id="1436" name="Google Shape;1436;p156"/>
          <p:cNvSpPr txBox="1"/>
          <p:nvPr>
            <p:ph idx="1" type="body"/>
          </p:nvPr>
        </p:nvSpPr>
        <p:spPr>
          <a:xfrm>
            <a:off x="311700" y="1468825"/>
            <a:ext cx="64863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Un codice </a:t>
            </a:r>
            <a:r>
              <a:rPr b="1" lang="it" sz="1400"/>
              <a:t>QR </a:t>
            </a:r>
            <a:r>
              <a:rPr lang="it" sz="1400"/>
              <a:t>è un codice a barre </a:t>
            </a:r>
            <a:r>
              <a:rPr b="1" lang="it" sz="1400"/>
              <a:t>bidimensionale </a:t>
            </a:r>
            <a:r>
              <a:rPr lang="it" sz="1400"/>
              <a:t>(ovvero una matrice) composto da moduli neri disposti all'interno di uno schema di forma quadrata.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Viene impiegato per memorizzare informazioni generalmente destinate a essere lette tramite un telefono cellulare o uno smartphone. 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it" sz="1200"/>
              <a:t>Genericamente il formato matriciale è di 29x29 quadratini 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Il nome "QR" è l'abbreviazione dell'inglese "</a:t>
            </a:r>
            <a:r>
              <a:rPr b="1" lang="it" sz="1400"/>
              <a:t>Quick Response</a:t>
            </a:r>
            <a:r>
              <a:rPr lang="it" sz="1400"/>
              <a:t>" (il codice fu sviluppato per permettere una rapida decodifica del suo contenuto)</a:t>
            </a:r>
            <a:endParaRPr sz="1400"/>
          </a:p>
        </p:txBody>
      </p:sp>
      <p:sp>
        <p:nvSpPr>
          <p:cNvPr id="1437" name="Google Shape;1437;p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38" name="Google Shape;1438;p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21788" y="1696225"/>
            <a:ext cx="2143125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2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15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Barcode</a:t>
            </a:r>
            <a:endParaRPr/>
          </a:p>
        </p:txBody>
      </p:sp>
      <p:sp>
        <p:nvSpPr>
          <p:cNvPr id="1444" name="Google Shape;1444;p15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</a:t>
            </a:r>
            <a:r>
              <a:rPr b="1" lang="it" sz="1400"/>
              <a:t>codice a barre</a:t>
            </a:r>
            <a:r>
              <a:rPr lang="it" sz="1400"/>
              <a:t> è un codice di identificazione costituito da un insieme di elementi grafici a contrasto elevato destinati alla lettura per mezzo di un sensore a scansione e decodificati per restituire l'informazione in essi contenuta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Il barcode lineare è composto da un susseguirsi di barre e spazi. La barra è l'elemento scuro, lo spazio è l'elemento chiaro.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it" sz="1400"/>
              <a:t>Per modulo si intende la larghezza dell'elemento (barra o spazio) più stretto. Gli altri spessori sono un multiplo del modulo.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it" sz="1400"/>
              <a:t>Ciascuna sequenza di barre e linee deve essere preceduta e seguita da un'area di riposo (Quiet Zone) ovvero un'area chiara.</a:t>
            </a:r>
            <a:endParaRPr sz="1400"/>
          </a:p>
        </p:txBody>
      </p:sp>
      <p:sp>
        <p:nvSpPr>
          <p:cNvPr id="1445" name="Google Shape;1445;p1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1446" name="Google Shape;1446;p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1363" y="64000"/>
            <a:ext cx="200977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15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Link utili</a:t>
            </a:r>
            <a:endParaRPr/>
          </a:p>
        </p:txBody>
      </p:sp>
      <p:sp>
        <p:nvSpPr>
          <p:cNvPr id="1452" name="Google Shape;1452;p15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 u="sng">
                <a:solidFill>
                  <a:schemeClr val="hlink"/>
                </a:solidFill>
                <a:hlinkClick r:id="rId3"/>
              </a:rPr>
              <a:t>http://aladdin.unimi.it/sw/grigliata_di_immagini/index.html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400" u="sng">
                <a:solidFill>
                  <a:schemeClr val="hlink"/>
                </a:solidFill>
                <a:hlinkClick r:id="rId4"/>
              </a:rPr>
              <a:t>http://lonati.di.unimi.it/TFA1415/grigliata.pdf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53" name="Google Shape;1453;p1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